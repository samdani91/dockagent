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5"/>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Calibri (MS) Bold" charset="1" panose="020F0702030404030204"/>
      <p:regular r:id="rId18"/>
    </p:embeddedFont>
    <p:embeddedFont>
      <p:font typeface="Calibri (MS)" charset="1" panose="020F0502020204030204"/>
      <p:regular r:id="rId19"/>
    </p:embeddedFont>
    <p:embeddedFont>
      <p:font typeface="Calibri (MS) Italics" charset="1" panose="020F05020202040A02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notesMasters/notesMaster1.xml" Type="http://schemas.openxmlformats.org/officeDocument/2006/relationships/notesMaster"/><Relationship Id="rId16" Target="theme/theme2.xml" Type="http://schemas.openxmlformats.org/officeDocument/2006/relationships/theme"/><Relationship Id="rId17" Target="notesSlides/notesSlide1.xml" Type="http://schemas.openxmlformats.org/officeDocument/2006/relationships/note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notesSlides/notesSlide2.xml" Type="http://schemas.openxmlformats.org/officeDocument/2006/relationships/notesSlide"/><Relationship Id="rId21" Target="notesSlides/notesSlide3.xml" Type="http://schemas.openxmlformats.org/officeDocument/2006/relationships/notesSlide"/><Relationship Id="rId22" Target="notesSlides/notesSlide4.xml" Type="http://schemas.openxmlformats.org/officeDocument/2006/relationships/notesSlide"/><Relationship Id="rId23" Target="notesSlides/notesSlide5.xml" Type="http://schemas.openxmlformats.org/officeDocument/2006/relationships/notesSlide"/><Relationship Id="rId24" Target="notesSlides/notesSlide6.xml" Type="http://schemas.openxmlformats.org/officeDocument/2006/relationships/notesSlide"/><Relationship Id="rId25" Target="notesSlides/notesSlide7.xml" Type="http://schemas.openxmlformats.org/officeDocument/2006/relationships/notesSlide"/><Relationship Id="rId26" Target="notesSlides/notesSlide8.xml" Type="http://schemas.openxmlformats.org/officeDocument/2006/relationships/notesSlide"/><Relationship Id="rId27" Target="fonts/font27.fntdata" Type="http://schemas.openxmlformats.org/officeDocument/2006/relationships/font"/><Relationship Id="rId28" Target="notesSlides/notesSlide9.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jpeg" Type="http://schemas.openxmlformats.org/officeDocument/2006/relationships/image"/><Relationship Id="rId4"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jpeg" Type="http://schemas.openxmlformats.org/officeDocument/2006/relationships/image"/><Relationship Id="rId4"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53419" cy="10312403"/>
            <a:chOff x="0" y="0"/>
            <a:chExt cx="204559" cy="13749871"/>
          </a:xfrm>
        </p:grpSpPr>
        <p:sp>
          <p:nvSpPr>
            <p:cNvPr name="Freeform 3" id="3"/>
            <p:cNvSpPr/>
            <p:nvPr/>
          </p:nvSpPr>
          <p:spPr>
            <a:xfrm flipH="false" flipV="false" rot="0">
              <a:off x="0" y="0"/>
              <a:ext cx="204597" cy="13749910"/>
            </a:xfrm>
            <a:custGeom>
              <a:avLst/>
              <a:gdLst/>
              <a:ahLst/>
              <a:cxnLst/>
              <a:rect r="r" b="b" t="t" l="l"/>
              <a:pathLst>
                <a:path h="13749910" w="204597">
                  <a:moveTo>
                    <a:pt x="0" y="0"/>
                  </a:moveTo>
                  <a:lnTo>
                    <a:pt x="204597" y="0"/>
                  </a:lnTo>
                  <a:lnTo>
                    <a:pt x="204597" y="13749910"/>
                  </a:lnTo>
                  <a:lnTo>
                    <a:pt x="0" y="13749910"/>
                  </a:lnTo>
                  <a:close/>
                </a:path>
              </a:pathLst>
            </a:custGeom>
            <a:solidFill>
              <a:srgbClr val="1F48FF"/>
            </a:solidFill>
            <a:ln w="25400" cap="sq">
              <a:solidFill>
                <a:srgbClr val="0464E0"/>
              </a:solidFill>
              <a:prstDash val="solid"/>
              <a:miter/>
            </a:ln>
          </p:spPr>
        </p:sp>
      </p:grpSp>
      <p:grpSp>
        <p:nvGrpSpPr>
          <p:cNvPr name="Group 4" id="4"/>
          <p:cNvGrpSpPr/>
          <p:nvPr/>
        </p:nvGrpSpPr>
        <p:grpSpPr>
          <a:xfrm rot="0">
            <a:off x="12423143" y="-12697"/>
            <a:ext cx="5877563" cy="10312403"/>
            <a:chOff x="0" y="0"/>
            <a:chExt cx="7836751" cy="13749871"/>
          </a:xfrm>
        </p:grpSpPr>
        <p:sp>
          <p:nvSpPr>
            <p:cNvPr name="Freeform 5" id="5"/>
            <p:cNvSpPr/>
            <p:nvPr/>
          </p:nvSpPr>
          <p:spPr>
            <a:xfrm flipH="false" flipV="false" rot="0">
              <a:off x="0" y="0"/>
              <a:ext cx="7836789" cy="13749910"/>
            </a:xfrm>
            <a:custGeom>
              <a:avLst/>
              <a:gdLst/>
              <a:ahLst/>
              <a:cxnLst/>
              <a:rect r="r" b="b" t="t" l="l"/>
              <a:pathLst>
                <a:path h="13749910" w="7836789">
                  <a:moveTo>
                    <a:pt x="0" y="0"/>
                  </a:moveTo>
                  <a:lnTo>
                    <a:pt x="7836789" y="0"/>
                  </a:lnTo>
                  <a:lnTo>
                    <a:pt x="7836789" y="13749910"/>
                  </a:lnTo>
                  <a:lnTo>
                    <a:pt x="0" y="13749910"/>
                  </a:lnTo>
                  <a:close/>
                </a:path>
              </a:pathLst>
            </a:custGeom>
            <a:solidFill>
              <a:srgbClr val="0A1520"/>
            </a:solidFill>
            <a:ln w="25400" cap="sq">
              <a:solidFill>
                <a:srgbClr val="0A1520"/>
              </a:solidFill>
              <a:prstDash val="solid"/>
              <a:miter/>
            </a:ln>
          </p:spPr>
        </p:sp>
      </p:grpSp>
      <p:grpSp>
        <p:nvGrpSpPr>
          <p:cNvPr name="Group 6" id="6"/>
          <p:cNvGrpSpPr/>
          <p:nvPr/>
        </p:nvGrpSpPr>
        <p:grpSpPr>
          <a:xfrm rot="0">
            <a:off x="12476252" y="2005927"/>
            <a:ext cx="5811748" cy="5811748"/>
            <a:chOff x="0" y="0"/>
            <a:chExt cx="4389120" cy="4389120"/>
          </a:xfrm>
        </p:grpSpPr>
        <p:sp>
          <p:nvSpPr>
            <p:cNvPr name="Freeform 7" id="7"/>
            <p:cNvSpPr/>
            <p:nvPr/>
          </p:nvSpPr>
          <p:spPr>
            <a:xfrm flipH="false" flipV="false" rot="0">
              <a:off x="0" y="0"/>
              <a:ext cx="4389120" cy="4389120"/>
            </a:xfrm>
            <a:custGeom>
              <a:avLst/>
              <a:gdLst/>
              <a:ahLst/>
              <a:cxnLst/>
              <a:rect r="r" b="b" t="t" l="l"/>
              <a:pathLst>
                <a:path h="4389120" w="4389120">
                  <a:moveTo>
                    <a:pt x="0" y="0"/>
                  </a:moveTo>
                  <a:lnTo>
                    <a:pt x="4389120" y="0"/>
                  </a:lnTo>
                  <a:lnTo>
                    <a:pt x="4389120" y="4389120"/>
                  </a:lnTo>
                  <a:lnTo>
                    <a:pt x="0" y="4389120"/>
                  </a:lnTo>
                  <a:lnTo>
                    <a:pt x="0" y="0"/>
                  </a:lnTo>
                  <a:close/>
                </a:path>
              </a:pathLst>
            </a:custGeom>
            <a:blipFill>
              <a:blip r:embed="rId3"/>
              <a:stretch>
                <a:fillRect l="0" t="0" r="0" b="0"/>
              </a:stretch>
            </a:blipFill>
          </p:spPr>
        </p:sp>
      </p:grpSp>
      <p:grpSp>
        <p:nvGrpSpPr>
          <p:cNvPr name="Group 8" id="8"/>
          <p:cNvGrpSpPr/>
          <p:nvPr/>
        </p:nvGrpSpPr>
        <p:grpSpPr>
          <a:xfrm rot="0">
            <a:off x="1005840" y="1280160"/>
            <a:ext cx="10972800" cy="1645920"/>
            <a:chOff x="0" y="0"/>
            <a:chExt cx="14630400" cy="2194560"/>
          </a:xfrm>
        </p:grpSpPr>
        <p:sp>
          <p:nvSpPr>
            <p:cNvPr name="Freeform 9" id="9"/>
            <p:cNvSpPr/>
            <p:nvPr/>
          </p:nvSpPr>
          <p:spPr>
            <a:xfrm flipH="false" flipV="false" rot="0">
              <a:off x="0" y="0"/>
              <a:ext cx="14630400" cy="2194560"/>
            </a:xfrm>
            <a:custGeom>
              <a:avLst/>
              <a:gdLst/>
              <a:ahLst/>
              <a:cxnLst/>
              <a:rect r="r" b="b" t="t" l="l"/>
              <a:pathLst>
                <a:path h="2194560" w="14630400">
                  <a:moveTo>
                    <a:pt x="0" y="0"/>
                  </a:moveTo>
                  <a:lnTo>
                    <a:pt x="14630400" y="0"/>
                  </a:lnTo>
                  <a:lnTo>
                    <a:pt x="14630400" y="2194560"/>
                  </a:lnTo>
                  <a:lnTo>
                    <a:pt x="0" y="2194560"/>
                  </a:lnTo>
                  <a:close/>
                </a:path>
              </a:pathLst>
            </a:custGeom>
            <a:blipFill>
              <a:blip r:embed="rId4">
                <a:alphaModFix amt="0"/>
              </a:blip>
              <a:stretch>
                <a:fillRect l="0" t="-79900" r="0" b="-79900"/>
              </a:stretch>
            </a:blipFill>
          </p:spPr>
        </p:sp>
        <p:sp>
          <p:nvSpPr>
            <p:cNvPr name="TextBox 10" id="10"/>
            <p:cNvSpPr txBox="true"/>
            <p:nvPr/>
          </p:nvSpPr>
          <p:spPr>
            <a:xfrm>
              <a:off x="0" y="-190500"/>
              <a:ext cx="14630400" cy="2385060"/>
            </a:xfrm>
            <a:prstGeom prst="rect">
              <a:avLst/>
            </a:prstGeom>
          </p:spPr>
          <p:txBody>
            <a:bodyPr anchor="ctr" rtlCol="false" tIns="0" lIns="0" bIns="0" rIns="0"/>
            <a:lstStyle/>
            <a:p>
              <a:pPr algn="l">
                <a:lnSpc>
                  <a:spcPts val="11519"/>
                </a:lnSpc>
              </a:pPr>
              <a:r>
                <a:rPr lang="en-US" sz="9600" b="true">
                  <a:solidFill>
                    <a:srgbClr val="FFFFFF"/>
                  </a:solidFill>
                  <a:latin typeface="Calibri (MS) Bold"/>
                  <a:ea typeface="Calibri (MS) Bold"/>
                  <a:cs typeface="Calibri (MS) Bold"/>
                  <a:sym typeface="Calibri (MS) Bold"/>
                </a:rPr>
                <a:t>DockAgent</a:t>
              </a:r>
            </a:p>
          </p:txBody>
        </p:sp>
      </p:grpSp>
      <p:grpSp>
        <p:nvGrpSpPr>
          <p:cNvPr name="Group 11" id="11"/>
          <p:cNvGrpSpPr/>
          <p:nvPr/>
        </p:nvGrpSpPr>
        <p:grpSpPr>
          <a:xfrm rot="0">
            <a:off x="993143" y="3004823"/>
            <a:ext cx="9900923" cy="98555"/>
            <a:chOff x="0" y="0"/>
            <a:chExt cx="13201231" cy="131407"/>
          </a:xfrm>
        </p:grpSpPr>
        <p:sp>
          <p:nvSpPr>
            <p:cNvPr name="Freeform 12" id="12"/>
            <p:cNvSpPr/>
            <p:nvPr/>
          </p:nvSpPr>
          <p:spPr>
            <a:xfrm flipH="false" flipV="false" rot="0">
              <a:off x="0" y="0"/>
              <a:ext cx="13201269" cy="131445"/>
            </a:xfrm>
            <a:custGeom>
              <a:avLst/>
              <a:gdLst/>
              <a:ahLst/>
              <a:cxnLst/>
              <a:rect r="r" b="b" t="t" l="l"/>
              <a:pathLst>
                <a:path h="131445" w="13201269">
                  <a:moveTo>
                    <a:pt x="0" y="0"/>
                  </a:moveTo>
                  <a:lnTo>
                    <a:pt x="13201269" y="0"/>
                  </a:lnTo>
                  <a:lnTo>
                    <a:pt x="13201269" y="131445"/>
                  </a:lnTo>
                  <a:lnTo>
                    <a:pt x="0" y="131445"/>
                  </a:lnTo>
                  <a:close/>
                </a:path>
              </a:pathLst>
            </a:custGeom>
            <a:solidFill>
              <a:srgbClr val="1F48FF"/>
            </a:solidFill>
            <a:ln w="25400" cap="sq">
              <a:solidFill>
                <a:srgbClr val="0464E0"/>
              </a:solidFill>
              <a:prstDash val="solid"/>
              <a:miter/>
            </a:ln>
          </p:spPr>
        </p:sp>
      </p:grpSp>
      <p:grpSp>
        <p:nvGrpSpPr>
          <p:cNvPr name="Group 13" id="13"/>
          <p:cNvGrpSpPr/>
          <p:nvPr/>
        </p:nvGrpSpPr>
        <p:grpSpPr>
          <a:xfrm rot="0">
            <a:off x="1005840" y="3291840"/>
            <a:ext cx="10972800" cy="1129308"/>
            <a:chOff x="0" y="0"/>
            <a:chExt cx="14630400" cy="1505744"/>
          </a:xfrm>
        </p:grpSpPr>
        <p:sp>
          <p:nvSpPr>
            <p:cNvPr name="Freeform 14" id="14"/>
            <p:cNvSpPr/>
            <p:nvPr/>
          </p:nvSpPr>
          <p:spPr>
            <a:xfrm flipH="false" flipV="false" rot="0">
              <a:off x="0" y="0"/>
              <a:ext cx="14630400" cy="1505744"/>
            </a:xfrm>
            <a:custGeom>
              <a:avLst/>
              <a:gdLst/>
              <a:ahLst/>
              <a:cxnLst/>
              <a:rect r="r" b="b" t="t" l="l"/>
              <a:pathLst>
                <a:path h="1505744" w="14630400">
                  <a:moveTo>
                    <a:pt x="0" y="0"/>
                  </a:moveTo>
                  <a:lnTo>
                    <a:pt x="14630400" y="0"/>
                  </a:lnTo>
                  <a:lnTo>
                    <a:pt x="14630400" y="1505744"/>
                  </a:lnTo>
                  <a:lnTo>
                    <a:pt x="0" y="1505744"/>
                  </a:lnTo>
                  <a:close/>
                </a:path>
              </a:pathLst>
            </a:custGeom>
            <a:blipFill>
              <a:blip r:embed="rId4">
                <a:alphaModFix amt="0"/>
              </a:blip>
              <a:stretch>
                <a:fillRect l="0" t="-156936" r="0" b="-121712"/>
              </a:stretch>
            </a:blipFill>
          </p:spPr>
        </p:sp>
        <p:sp>
          <p:nvSpPr>
            <p:cNvPr name="TextBox 15" id="15"/>
            <p:cNvSpPr txBox="true"/>
            <p:nvPr/>
          </p:nvSpPr>
          <p:spPr>
            <a:xfrm>
              <a:off x="0" y="-57150"/>
              <a:ext cx="14630400" cy="1562894"/>
            </a:xfrm>
            <a:prstGeom prst="rect">
              <a:avLst/>
            </a:prstGeom>
          </p:spPr>
          <p:txBody>
            <a:bodyPr anchor="ctr" rtlCol="false" tIns="0" lIns="0" bIns="0" rIns="0"/>
            <a:lstStyle/>
            <a:p>
              <a:pPr algn="l">
                <a:lnSpc>
                  <a:spcPts val="3840"/>
                </a:lnSpc>
              </a:pPr>
              <a:r>
                <a:rPr lang="en-US" sz="3200">
                  <a:solidFill>
                    <a:srgbClr val="B0BDD0"/>
                  </a:solidFill>
                  <a:latin typeface="Calibri (MS)"/>
                  <a:ea typeface="Calibri (MS)"/>
                  <a:cs typeface="Calibri (MS)"/>
                  <a:sym typeface="Calibri (MS)"/>
                </a:rPr>
                <a:t>An LLM-Driven System for Automated Dockerfile Generation, Testing and Flakiness Repair</a:t>
              </a:r>
            </a:p>
          </p:txBody>
        </p:sp>
      </p:grpSp>
      <p:grpSp>
        <p:nvGrpSpPr>
          <p:cNvPr name="Group 16" id="16"/>
          <p:cNvGrpSpPr/>
          <p:nvPr/>
        </p:nvGrpSpPr>
        <p:grpSpPr>
          <a:xfrm rot="0">
            <a:off x="993143" y="6022343"/>
            <a:ext cx="10998203" cy="976379"/>
            <a:chOff x="0" y="0"/>
            <a:chExt cx="14664271" cy="1301839"/>
          </a:xfrm>
        </p:grpSpPr>
        <p:sp>
          <p:nvSpPr>
            <p:cNvPr name="Freeform 17" id="17"/>
            <p:cNvSpPr/>
            <p:nvPr/>
          </p:nvSpPr>
          <p:spPr>
            <a:xfrm flipH="false" flipV="false" rot="0">
              <a:off x="0" y="0"/>
              <a:ext cx="14664310" cy="1301877"/>
            </a:xfrm>
            <a:custGeom>
              <a:avLst/>
              <a:gdLst/>
              <a:ahLst/>
              <a:cxnLst/>
              <a:rect r="r" b="b" t="t" l="l"/>
              <a:pathLst>
                <a:path h="1301877" w="14664310">
                  <a:moveTo>
                    <a:pt x="0" y="0"/>
                  </a:moveTo>
                  <a:lnTo>
                    <a:pt x="14664310" y="0"/>
                  </a:lnTo>
                  <a:lnTo>
                    <a:pt x="14664310" y="1301877"/>
                  </a:lnTo>
                  <a:lnTo>
                    <a:pt x="0" y="1301877"/>
                  </a:lnTo>
                  <a:close/>
                </a:path>
              </a:pathLst>
            </a:custGeom>
            <a:solidFill>
              <a:srgbClr val="132034"/>
            </a:solidFill>
            <a:ln w="25400" cap="sq">
              <a:solidFill>
                <a:srgbClr val="1E3050"/>
              </a:solidFill>
              <a:prstDash val="solid"/>
              <a:miter/>
            </a:ln>
          </p:spPr>
        </p:sp>
      </p:grpSp>
      <p:grpSp>
        <p:nvGrpSpPr>
          <p:cNvPr name="Group 18" id="18"/>
          <p:cNvGrpSpPr/>
          <p:nvPr/>
        </p:nvGrpSpPr>
        <p:grpSpPr>
          <a:xfrm rot="0">
            <a:off x="1371600" y="6108192"/>
            <a:ext cx="10241280" cy="365760"/>
            <a:chOff x="0" y="0"/>
            <a:chExt cx="13655040" cy="487680"/>
          </a:xfrm>
        </p:grpSpPr>
        <p:sp>
          <p:nvSpPr>
            <p:cNvPr name="Freeform 19" id="19"/>
            <p:cNvSpPr/>
            <p:nvPr/>
          </p:nvSpPr>
          <p:spPr>
            <a:xfrm flipH="false" flipV="false" rot="0">
              <a:off x="0" y="0"/>
              <a:ext cx="13655039" cy="487680"/>
            </a:xfrm>
            <a:custGeom>
              <a:avLst/>
              <a:gdLst/>
              <a:ahLst/>
              <a:cxnLst/>
              <a:rect r="r" b="b" t="t" l="l"/>
              <a:pathLst>
                <a:path h="487680" w="13655039">
                  <a:moveTo>
                    <a:pt x="0" y="0"/>
                  </a:moveTo>
                  <a:lnTo>
                    <a:pt x="13655039" y="0"/>
                  </a:lnTo>
                  <a:lnTo>
                    <a:pt x="13655039" y="487680"/>
                  </a:lnTo>
                  <a:lnTo>
                    <a:pt x="0" y="487680"/>
                  </a:lnTo>
                  <a:close/>
                </a:path>
              </a:pathLst>
            </a:custGeom>
            <a:blipFill>
              <a:blip r:embed="rId4">
                <a:alphaModFix amt="0"/>
              </a:blip>
              <a:stretch>
                <a:fillRect l="0" t="-495581" r="0" b="-495581"/>
              </a:stretch>
            </a:blipFill>
          </p:spPr>
        </p:sp>
        <p:sp>
          <p:nvSpPr>
            <p:cNvPr name="TextBox 20" id="20"/>
            <p:cNvSpPr txBox="true"/>
            <p:nvPr/>
          </p:nvSpPr>
          <p:spPr>
            <a:xfrm>
              <a:off x="0" y="-28575"/>
              <a:ext cx="13655040" cy="516255"/>
            </a:xfrm>
            <a:prstGeom prst="rect">
              <a:avLst/>
            </a:prstGeom>
          </p:spPr>
          <p:txBody>
            <a:bodyPr anchor="ctr" rtlCol="false" tIns="0" lIns="0" bIns="0" rIns="0"/>
            <a:lstStyle/>
            <a:p>
              <a:pPr algn="l">
                <a:lnSpc>
                  <a:spcPts val="1920"/>
                </a:lnSpc>
              </a:pPr>
              <a:r>
                <a:rPr lang="en-US" sz="1600" spc="400">
                  <a:solidFill>
                    <a:srgbClr val="8A96A8"/>
                  </a:solidFill>
                  <a:latin typeface="Calibri (MS)"/>
                  <a:ea typeface="Calibri (MS)"/>
                  <a:cs typeface="Calibri (MS)"/>
                  <a:sym typeface="Calibri (MS)"/>
                </a:rPr>
                <a:t>PRESENTED BY</a:t>
              </a:r>
            </a:p>
          </p:txBody>
        </p:sp>
      </p:grpSp>
      <p:grpSp>
        <p:nvGrpSpPr>
          <p:cNvPr name="Group 21" id="21"/>
          <p:cNvGrpSpPr/>
          <p:nvPr/>
        </p:nvGrpSpPr>
        <p:grpSpPr>
          <a:xfrm rot="0">
            <a:off x="1371600" y="6473952"/>
            <a:ext cx="10241280" cy="518703"/>
            <a:chOff x="0" y="0"/>
            <a:chExt cx="13655040" cy="691604"/>
          </a:xfrm>
        </p:grpSpPr>
        <p:sp>
          <p:nvSpPr>
            <p:cNvPr name="Freeform 22" id="22"/>
            <p:cNvSpPr/>
            <p:nvPr/>
          </p:nvSpPr>
          <p:spPr>
            <a:xfrm flipH="false" flipV="false" rot="0">
              <a:off x="0" y="0"/>
              <a:ext cx="13655039" cy="691604"/>
            </a:xfrm>
            <a:custGeom>
              <a:avLst/>
              <a:gdLst/>
              <a:ahLst/>
              <a:cxnLst/>
              <a:rect r="r" b="b" t="t" l="l"/>
              <a:pathLst>
                <a:path h="691604" w="13655039">
                  <a:moveTo>
                    <a:pt x="0" y="0"/>
                  </a:moveTo>
                  <a:lnTo>
                    <a:pt x="13655039" y="0"/>
                  </a:lnTo>
                  <a:lnTo>
                    <a:pt x="13655039" y="691604"/>
                  </a:lnTo>
                  <a:lnTo>
                    <a:pt x="0" y="691604"/>
                  </a:lnTo>
                  <a:close/>
                </a:path>
              </a:pathLst>
            </a:custGeom>
            <a:blipFill>
              <a:blip r:embed="rId4">
                <a:alphaModFix amt="0"/>
              </a:blip>
              <a:stretch>
                <a:fillRect l="0" t="-345929" r="0" b="-323495"/>
              </a:stretch>
            </a:blipFill>
          </p:spPr>
        </p:sp>
        <p:sp>
          <p:nvSpPr>
            <p:cNvPr name="TextBox 23" id="23"/>
            <p:cNvSpPr txBox="true"/>
            <p:nvPr/>
          </p:nvSpPr>
          <p:spPr>
            <a:xfrm>
              <a:off x="0" y="-57150"/>
              <a:ext cx="13655040" cy="748754"/>
            </a:xfrm>
            <a:prstGeom prst="rect">
              <a:avLst/>
            </a:prstGeom>
          </p:spPr>
          <p:txBody>
            <a:bodyPr anchor="ctr" rtlCol="false" tIns="0" lIns="0" bIns="0" rIns="0"/>
            <a:lstStyle/>
            <a:p>
              <a:pPr algn="l">
                <a:lnSpc>
                  <a:spcPts val="3120"/>
                </a:lnSpc>
              </a:pPr>
              <a:r>
                <a:rPr lang="en-US" sz="2600" b="true">
                  <a:solidFill>
                    <a:srgbClr val="FFFFFF"/>
                  </a:solidFill>
                  <a:latin typeface="Calibri (MS) Bold"/>
                  <a:ea typeface="Calibri (MS) Bold"/>
                  <a:cs typeface="Calibri (MS) Bold"/>
                  <a:sym typeface="Calibri (MS) Bold"/>
                </a:rPr>
                <a:t>A. M Samdani Mozumder  |  Roll: 1412</a:t>
              </a:r>
            </a:p>
          </p:txBody>
        </p:sp>
      </p:grpSp>
      <p:grpSp>
        <p:nvGrpSpPr>
          <p:cNvPr name="Group 24" id="24"/>
          <p:cNvGrpSpPr/>
          <p:nvPr/>
        </p:nvGrpSpPr>
        <p:grpSpPr>
          <a:xfrm rot="0">
            <a:off x="993143" y="7192775"/>
            <a:ext cx="10998203" cy="976379"/>
            <a:chOff x="0" y="0"/>
            <a:chExt cx="14664271" cy="1301839"/>
          </a:xfrm>
        </p:grpSpPr>
        <p:sp>
          <p:nvSpPr>
            <p:cNvPr name="Freeform 25" id="25"/>
            <p:cNvSpPr/>
            <p:nvPr/>
          </p:nvSpPr>
          <p:spPr>
            <a:xfrm flipH="false" flipV="false" rot="0">
              <a:off x="0" y="0"/>
              <a:ext cx="14664310" cy="1301877"/>
            </a:xfrm>
            <a:custGeom>
              <a:avLst/>
              <a:gdLst/>
              <a:ahLst/>
              <a:cxnLst/>
              <a:rect r="r" b="b" t="t" l="l"/>
              <a:pathLst>
                <a:path h="1301877" w="14664310">
                  <a:moveTo>
                    <a:pt x="0" y="0"/>
                  </a:moveTo>
                  <a:lnTo>
                    <a:pt x="14664310" y="0"/>
                  </a:lnTo>
                  <a:lnTo>
                    <a:pt x="14664310" y="1301877"/>
                  </a:lnTo>
                  <a:lnTo>
                    <a:pt x="0" y="1301877"/>
                  </a:lnTo>
                  <a:close/>
                </a:path>
              </a:pathLst>
            </a:custGeom>
            <a:solidFill>
              <a:srgbClr val="132034"/>
            </a:solidFill>
            <a:ln w="25400" cap="sq">
              <a:solidFill>
                <a:srgbClr val="1E3050"/>
              </a:solidFill>
              <a:prstDash val="solid"/>
              <a:miter/>
            </a:ln>
          </p:spPr>
        </p:sp>
      </p:grpSp>
      <p:grpSp>
        <p:nvGrpSpPr>
          <p:cNvPr name="Group 26" id="26"/>
          <p:cNvGrpSpPr/>
          <p:nvPr/>
        </p:nvGrpSpPr>
        <p:grpSpPr>
          <a:xfrm rot="0">
            <a:off x="1371600" y="7278624"/>
            <a:ext cx="10241280" cy="365760"/>
            <a:chOff x="0" y="0"/>
            <a:chExt cx="13655040" cy="487680"/>
          </a:xfrm>
        </p:grpSpPr>
        <p:sp>
          <p:nvSpPr>
            <p:cNvPr name="Freeform 27" id="27"/>
            <p:cNvSpPr/>
            <p:nvPr/>
          </p:nvSpPr>
          <p:spPr>
            <a:xfrm flipH="false" flipV="false" rot="0">
              <a:off x="0" y="0"/>
              <a:ext cx="13655039" cy="487680"/>
            </a:xfrm>
            <a:custGeom>
              <a:avLst/>
              <a:gdLst/>
              <a:ahLst/>
              <a:cxnLst/>
              <a:rect r="r" b="b" t="t" l="l"/>
              <a:pathLst>
                <a:path h="487680" w="13655039">
                  <a:moveTo>
                    <a:pt x="0" y="0"/>
                  </a:moveTo>
                  <a:lnTo>
                    <a:pt x="13655039" y="0"/>
                  </a:lnTo>
                  <a:lnTo>
                    <a:pt x="13655039" y="487680"/>
                  </a:lnTo>
                  <a:lnTo>
                    <a:pt x="0" y="487680"/>
                  </a:lnTo>
                  <a:close/>
                </a:path>
              </a:pathLst>
            </a:custGeom>
            <a:blipFill>
              <a:blip r:embed="rId4">
                <a:alphaModFix amt="0"/>
              </a:blip>
              <a:stretch>
                <a:fillRect l="0" t="-495581" r="0" b="-495581"/>
              </a:stretch>
            </a:blipFill>
          </p:spPr>
        </p:sp>
        <p:sp>
          <p:nvSpPr>
            <p:cNvPr name="TextBox 28" id="28"/>
            <p:cNvSpPr txBox="true"/>
            <p:nvPr/>
          </p:nvSpPr>
          <p:spPr>
            <a:xfrm>
              <a:off x="0" y="-28575"/>
              <a:ext cx="13655040" cy="516255"/>
            </a:xfrm>
            <a:prstGeom prst="rect">
              <a:avLst/>
            </a:prstGeom>
          </p:spPr>
          <p:txBody>
            <a:bodyPr anchor="ctr" rtlCol="false" tIns="0" lIns="0" bIns="0" rIns="0"/>
            <a:lstStyle/>
            <a:p>
              <a:pPr algn="l">
                <a:lnSpc>
                  <a:spcPts val="1920"/>
                </a:lnSpc>
              </a:pPr>
              <a:r>
                <a:rPr lang="en-US" sz="1600" spc="400">
                  <a:solidFill>
                    <a:srgbClr val="8A96A8"/>
                  </a:solidFill>
                  <a:latin typeface="Calibri (MS)"/>
                  <a:ea typeface="Calibri (MS)"/>
                  <a:cs typeface="Calibri (MS)"/>
                  <a:sym typeface="Calibri (MS)"/>
                </a:rPr>
                <a:t>SUPERVISED BY</a:t>
              </a:r>
            </a:p>
          </p:txBody>
        </p:sp>
      </p:grpSp>
      <p:grpSp>
        <p:nvGrpSpPr>
          <p:cNvPr name="Group 29" id="29"/>
          <p:cNvGrpSpPr/>
          <p:nvPr/>
        </p:nvGrpSpPr>
        <p:grpSpPr>
          <a:xfrm rot="0">
            <a:off x="1371600" y="7644384"/>
            <a:ext cx="10241280" cy="518703"/>
            <a:chOff x="0" y="0"/>
            <a:chExt cx="13655040" cy="691604"/>
          </a:xfrm>
        </p:grpSpPr>
        <p:sp>
          <p:nvSpPr>
            <p:cNvPr name="Freeform 30" id="30"/>
            <p:cNvSpPr/>
            <p:nvPr/>
          </p:nvSpPr>
          <p:spPr>
            <a:xfrm flipH="false" flipV="false" rot="0">
              <a:off x="0" y="0"/>
              <a:ext cx="13655039" cy="691604"/>
            </a:xfrm>
            <a:custGeom>
              <a:avLst/>
              <a:gdLst/>
              <a:ahLst/>
              <a:cxnLst/>
              <a:rect r="r" b="b" t="t" l="l"/>
              <a:pathLst>
                <a:path h="691604" w="13655039">
                  <a:moveTo>
                    <a:pt x="0" y="0"/>
                  </a:moveTo>
                  <a:lnTo>
                    <a:pt x="13655039" y="0"/>
                  </a:lnTo>
                  <a:lnTo>
                    <a:pt x="13655039" y="691604"/>
                  </a:lnTo>
                  <a:lnTo>
                    <a:pt x="0" y="691604"/>
                  </a:lnTo>
                  <a:close/>
                </a:path>
              </a:pathLst>
            </a:custGeom>
            <a:blipFill>
              <a:blip r:embed="rId4">
                <a:alphaModFix amt="0"/>
              </a:blip>
              <a:stretch>
                <a:fillRect l="0" t="-345929" r="0" b="-323495"/>
              </a:stretch>
            </a:blipFill>
          </p:spPr>
        </p:sp>
        <p:sp>
          <p:nvSpPr>
            <p:cNvPr name="TextBox 31" id="31"/>
            <p:cNvSpPr txBox="true"/>
            <p:nvPr/>
          </p:nvSpPr>
          <p:spPr>
            <a:xfrm>
              <a:off x="0" y="-57150"/>
              <a:ext cx="13655040" cy="748754"/>
            </a:xfrm>
            <a:prstGeom prst="rect">
              <a:avLst/>
            </a:prstGeom>
          </p:spPr>
          <p:txBody>
            <a:bodyPr anchor="ctr" rtlCol="false" tIns="0" lIns="0" bIns="0" rIns="0"/>
            <a:lstStyle/>
            <a:p>
              <a:pPr algn="l">
                <a:lnSpc>
                  <a:spcPts val="3120"/>
                </a:lnSpc>
              </a:pPr>
              <a:r>
                <a:rPr lang="en-US" sz="2600" b="true">
                  <a:solidFill>
                    <a:srgbClr val="FFFFFF"/>
                  </a:solidFill>
                  <a:latin typeface="Calibri (MS) Bold"/>
                  <a:ea typeface="Calibri (MS) Bold"/>
                  <a:cs typeface="Calibri (MS) Bold"/>
                  <a:sym typeface="Calibri (MS) Bold"/>
                </a:rPr>
                <a:t>Mridha Md. Nafis Fuad   |  Lecturer</a:t>
              </a:r>
            </a:p>
          </p:txBody>
        </p:sp>
      </p:grpSp>
      <p:grpSp>
        <p:nvGrpSpPr>
          <p:cNvPr name="Group 32" id="32"/>
          <p:cNvGrpSpPr/>
          <p:nvPr/>
        </p:nvGrpSpPr>
        <p:grpSpPr>
          <a:xfrm rot="0">
            <a:off x="993143" y="8363207"/>
            <a:ext cx="10998203" cy="976379"/>
            <a:chOff x="0" y="0"/>
            <a:chExt cx="14664271" cy="1301839"/>
          </a:xfrm>
        </p:grpSpPr>
        <p:sp>
          <p:nvSpPr>
            <p:cNvPr name="Freeform 33" id="33"/>
            <p:cNvSpPr/>
            <p:nvPr/>
          </p:nvSpPr>
          <p:spPr>
            <a:xfrm flipH="false" flipV="false" rot="0">
              <a:off x="0" y="0"/>
              <a:ext cx="14664310" cy="1301877"/>
            </a:xfrm>
            <a:custGeom>
              <a:avLst/>
              <a:gdLst/>
              <a:ahLst/>
              <a:cxnLst/>
              <a:rect r="r" b="b" t="t" l="l"/>
              <a:pathLst>
                <a:path h="1301877" w="14664310">
                  <a:moveTo>
                    <a:pt x="0" y="0"/>
                  </a:moveTo>
                  <a:lnTo>
                    <a:pt x="14664310" y="0"/>
                  </a:lnTo>
                  <a:lnTo>
                    <a:pt x="14664310" y="1301877"/>
                  </a:lnTo>
                  <a:lnTo>
                    <a:pt x="0" y="1301877"/>
                  </a:lnTo>
                  <a:close/>
                </a:path>
              </a:pathLst>
            </a:custGeom>
            <a:solidFill>
              <a:srgbClr val="132034"/>
            </a:solidFill>
            <a:ln w="25400" cap="sq">
              <a:solidFill>
                <a:srgbClr val="1E3050"/>
              </a:solidFill>
              <a:prstDash val="solid"/>
              <a:miter/>
            </a:ln>
          </p:spPr>
        </p:sp>
      </p:grpSp>
      <p:grpSp>
        <p:nvGrpSpPr>
          <p:cNvPr name="Group 34" id="34"/>
          <p:cNvGrpSpPr/>
          <p:nvPr/>
        </p:nvGrpSpPr>
        <p:grpSpPr>
          <a:xfrm rot="0">
            <a:off x="1371600" y="8449056"/>
            <a:ext cx="10241280" cy="365760"/>
            <a:chOff x="0" y="0"/>
            <a:chExt cx="13655040" cy="487680"/>
          </a:xfrm>
        </p:grpSpPr>
        <p:sp>
          <p:nvSpPr>
            <p:cNvPr name="Freeform 35" id="35"/>
            <p:cNvSpPr/>
            <p:nvPr/>
          </p:nvSpPr>
          <p:spPr>
            <a:xfrm flipH="false" flipV="false" rot="0">
              <a:off x="0" y="0"/>
              <a:ext cx="13655039" cy="487680"/>
            </a:xfrm>
            <a:custGeom>
              <a:avLst/>
              <a:gdLst/>
              <a:ahLst/>
              <a:cxnLst/>
              <a:rect r="r" b="b" t="t" l="l"/>
              <a:pathLst>
                <a:path h="487680" w="13655039">
                  <a:moveTo>
                    <a:pt x="0" y="0"/>
                  </a:moveTo>
                  <a:lnTo>
                    <a:pt x="13655039" y="0"/>
                  </a:lnTo>
                  <a:lnTo>
                    <a:pt x="13655039" y="487680"/>
                  </a:lnTo>
                  <a:lnTo>
                    <a:pt x="0" y="487680"/>
                  </a:lnTo>
                  <a:close/>
                </a:path>
              </a:pathLst>
            </a:custGeom>
            <a:blipFill>
              <a:blip r:embed="rId4">
                <a:alphaModFix amt="0"/>
              </a:blip>
              <a:stretch>
                <a:fillRect l="0" t="-495581" r="0" b="-495581"/>
              </a:stretch>
            </a:blipFill>
          </p:spPr>
        </p:sp>
        <p:sp>
          <p:nvSpPr>
            <p:cNvPr name="TextBox 36" id="36"/>
            <p:cNvSpPr txBox="true"/>
            <p:nvPr/>
          </p:nvSpPr>
          <p:spPr>
            <a:xfrm>
              <a:off x="0" y="-28575"/>
              <a:ext cx="13655040" cy="516255"/>
            </a:xfrm>
            <a:prstGeom prst="rect">
              <a:avLst/>
            </a:prstGeom>
          </p:spPr>
          <p:txBody>
            <a:bodyPr anchor="ctr" rtlCol="false" tIns="0" lIns="0" bIns="0" rIns="0"/>
            <a:lstStyle/>
            <a:p>
              <a:pPr algn="l">
                <a:lnSpc>
                  <a:spcPts val="1920"/>
                </a:lnSpc>
              </a:pPr>
              <a:r>
                <a:rPr lang="en-US" sz="1600" spc="400">
                  <a:solidFill>
                    <a:srgbClr val="8A96A8"/>
                  </a:solidFill>
                  <a:latin typeface="Calibri (MS)"/>
                  <a:ea typeface="Calibri (MS)"/>
                  <a:cs typeface="Calibri (MS)"/>
                  <a:sym typeface="Calibri (MS)"/>
                </a:rPr>
                <a:t>COURSE</a:t>
              </a:r>
            </a:p>
          </p:txBody>
        </p:sp>
      </p:grpSp>
      <p:grpSp>
        <p:nvGrpSpPr>
          <p:cNvPr name="Group 37" id="37"/>
          <p:cNvGrpSpPr/>
          <p:nvPr/>
        </p:nvGrpSpPr>
        <p:grpSpPr>
          <a:xfrm rot="0">
            <a:off x="1371600" y="8814816"/>
            <a:ext cx="10241280" cy="518703"/>
            <a:chOff x="0" y="0"/>
            <a:chExt cx="13655040" cy="691604"/>
          </a:xfrm>
        </p:grpSpPr>
        <p:sp>
          <p:nvSpPr>
            <p:cNvPr name="Freeform 38" id="38"/>
            <p:cNvSpPr/>
            <p:nvPr/>
          </p:nvSpPr>
          <p:spPr>
            <a:xfrm flipH="false" flipV="false" rot="0">
              <a:off x="0" y="0"/>
              <a:ext cx="13655039" cy="691604"/>
            </a:xfrm>
            <a:custGeom>
              <a:avLst/>
              <a:gdLst/>
              <a:ahLst/>
              <a:cxnLst/>
              <a:rect r="r" b="b" t="t" l="l"/>
              <a:pathLst>
                <a:path h="691604" w="13655039">
                  <a:moveTo>
                    <a:pt x="0" y="0"/>
                  </a:moveTo>
                  <a:lnTo>
                    <a:pt x="13655039" y="0"/>
                  </a:lnTo>
                  <a:lnTo>
                    <a:pt x="13655039" y="691604"/>
                  </a:lnTo>
                  <a:lnTo>
                    <a:pt x="0" y="691604"/>
                  </a:lnTo>
                  <a:close/>
                </a:path>
              </a:pathLst>
            </a:custGeom>
            <a:blipFill>
              <a:blip r:embed="rId4">
                <a:alphaModFix amt="0"/>
              </a:blip>
              <a:stretch>
                <a:fillRect l="0" t="-345929" r="0" b="-323495"/>
              </a:stretch>
            </a:blipFill>
          </p:spPr>
        </p:sp>
        <p:sp>
          <p:nvSpPr>
            <p:cNvPr name="TextBox 39" id="39"/>
            <p:cNvSpPr txBox="true"/>
            <p:nvPr/>
          </p:nvSpPr>
          <p:spPr>
            <a:xfrm>
              <a:off x="0" y="-57150"/>
              <a:ext cx="13655040" cy="748754"/>
            </a:xfrm>
            <a:prstGeom prst="rect">
              <a:avLst/>
            </a:prstGeom>
          </p:spPr>
          <p:txBody>
            <a:bodyPr anchor="ctr" rtlCol="false" tIns="0" lIns="0" bIns="0" rIns="0"/>
            <a:lstStyle/>
            <a:p>
              <a:pPr algn="l">
                <a:lnSpc>
                  <a:spcPts val="3120"/>
                </a:lnSpc>
              </a:pPr>
              <a:r>
                <a:rPr lang="en-US" sz="2600" b="true">
                  <a:solidFill>
                    <a:srgbClr val="FFFFFF"/>
                  </a:solidFill>
                  <a:latin typeface="Calibri (MS) Bold"/>
                  <a:ea typeface="Calibri (MS) Bold"/>
                  <a:cs typeface="Calibri (MS) Bold"/>
                  <a:sym typeface="Calibri (MS) Bold"/>
                </a:rPr>
                <a:t>SE 801 (SPL-3)</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4F6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342139"/>
            <a:chOff x="0" y="0"/>
            <a:chExt cx="24417871" cy="1789519"/>
          </a:xfrm>
        </p:grpSpPr>
        <p:sp>
          <p:nvSpPr>
            <p:cNvPr name="Freeform 3" id="3"/>
            <p:cNvSpPr/>
            <p:nvPr/>
          </p:nvSpPr>
          <p:spPr>
            <a:xfrm flipH="false" flipV="false" rot="0">
              <a:off x="0" y="0"/>
              <a:ext cx="24417910" cy="1789557"/>
            </a:xfrm>
            <a:custGeom>
              <a:avLst/>
              <a:gdLst/>
              <a:ahLst/>
              <a:cxnLst/>
              <a:rect r="r" b="b" t="t" l="l"/>
              <a:pathLst>
                <a:path h="1789557" w="24417910">
                  <a:moveTo>
                    <a:pt x="0" y="0"/>
                  </a:moveTo>
                  <a:lnTo>
                    <a:pt x="24417910" y="0"/>
                  </a:lnTo>
                  <a:lnTo>
                    <a:pt x="24417910" y="1789557"/>
                  </a:lnTo>
                  <a:lnTo>
                    <a:pt x="0" y="1789557"/>
                  </a:lnTo>
                  <a:close/>
                </a:path>
              </a:pathLst>
            </a:custGeom>
            <a:solidFill>
              <a:srgbClr val="0D1B2A"/>
            </a:solidFill>
            <a:ln w="25400" cap="sq">
              <a:solidFill>
                <a:srgbClr val="0D1B2A"/>
              </a:solidFill>
              <a:prstDash val="solid"/>
              <a:miter/>
            </a:ln>
          </p:spPr>
        </p:sp>
      </p:grpSp>
      <p:grpSp>
        <p:nvGrpSpPr>
          <p:cNvPr name="Group 4" id="4"/>
          <p:cNvGrpSpPr/>
          <p:nvPr/>
        </p:nvGrpSpPr>
        <p:grpSpPr>
          <a:xfrm rot="0">
            <a:off x="914400" y="0"/>
            <a:ext cx="14630400" cy="1316736"/>
            <a:chOff x="0" y="0"/>
            <a:chExt cx="19507200" cy="1755648"/>
          </a:xfrm>
        </p:grpSpPr>
        <p:sp>
          <p:nvSpPr>
            <p:cNvPr name="Freeform 5" id="5"/>
            <p:cNvSpPr/>
            <p:nvPr/>
          </p:nvSpPr>
          <p:spPr>
            <a:xfrm flipH="false" flipV="false" rot="0">
              <a:off x="0" y="0"/>
              <a:ext cx="19507200" cy="1755648"/>
            </a:xfrm>
            <a:custGeom>
              <a:avLst/>
              <a:gdLst/>
              <a:ahLst/>
              <a:cxnLst/>
              <a:rect r="r" b="b" t="t" l="l"/>
              <a:pathLst>
                <a:path h="1755648" w="19507200">
                  <a:moveTo>
                    <a:pt x="0" y="0"/>
                  </a:moveTo>
                  <a:lnTo>
                    <a:pt x="19507200" y="0"/>
                  </a:lnTo>
                  <a:lnTo>
                    <a:pt x="19507200" y="1755648"/>
                  </a:lnTo>
                  <a:lnTo>
                    <a:pt x="0" y="1755648"/>
                  </a:lnTo>
                  <a:close/>
                </a:path>
              </a:pathLst>
            </a:custGeom>
            <a:blipFill>
              <a:blip r:embed="rId3">
                <a:alphaModFix amt="0"/>
              </a:blip>
              <a:stretch>
                <a:fillRect l="0" t="-166500" r="0" b="-166500"/>
              </a:stretch>
            </a:blipFill>
          </p:spPr>
        </p:sp>
        <p:sp>
          <p:nvSpPr>
            <p:cNvPr name="TextBox 6" id="6"/>
            <p:cNvSpPr txBox="true"/>
            <p:nvPr/>
          </p:nvSpPr>
          <p:spPr>
            <a:xfrm>
              <a:off x="0" y="-104775"/>
              <a:ext cx="19507200" cy="1860423"/>
            </a:xfrm>
            <a:prstGeom prst="rect">
              <a:avLst/>
            </a:prstGeom>
          </p:spPr>
          <p:txBody>
            <a:bodyPr anchor="ctr" rtlCol="false" tIns="0" lIns="0" bIns="0" rIns="0"/>
            <a:lstStyle/>
            <a:p>
              <a:pPr algn="l">
                <a:lnSpc>
                  <a:spcPts val="6240"/>
                </a:lnSpc>
              </a:pPr>
              <a:r>
                <a:rPr lang="en-US" sz="5200" b="true">
                  <a:solidFill>
                    <a:srgbClr val="FFFFFF"/>
                  </a:solidFill>
                  <a:latin typeface="Calibri (MS) Bold"/>
                  <a:ea typeface="Calibri (MS) Bold"/>
                  <a:cs typeface="Calibri (MS) Bold"/>
                  <a:sym typeface="Calibri (MS) Bold"/>
                </a:rPr>
                <a:t>Motivation</a:t>
              </a:r>
            </a:p>
          </p:txBody>
        </p:sp>
      </p:grpSp>
      <p:grpSp>
        <p:nvGrpSpPr>
          <p:cNvPr name="Group 7" id="7"/>
          <p:cNvGrpSpPr/>
          <p:nvPr/>
        </p:nvGrpSpPr>
        <p:grpSpPr>
          <a:xfrm rot="0">
            <a:off x="16093440" y="0"/>
            <a:ext cx="2011680" cy="1316736"/>
            <a:chOff x="0" y="0"/>
            <a:chExt cx="2682240" cy="1755648"/>
          </a:xfrm>
        </p:grpSpPr>
        <p:sp>
          <p:nvSpPr>
            <p:cNvPr name="Freeform 8" id="8"/>
            <p:cNvSpPr/>
            <p:nvPr/>
          </p:nvSpPr>
          <p:spPr>
            <a:xfrm flipH="false" flipV="false" rot="0">
              <a:off x="0" y="0"/>
              <a:ext cx="2682240" cy="1755648"/>
            </a:xfrm>
            <a:custGeom>
              <a:avLst/>
              <a:gdLst/>
              <a:ahLst/>
              <a:cxnLst/>
              <a:rect r="r" b="b" t="t" l="l"/>
              <a:pathLst>
                <a:path h="1755648" w="2682240">
                  <a:moveTo>
                    <a:pt x="0" y="0"/>
                  </a:moveTo>
                  <a:lnTo>
                    <a:pt x="2682240" y="0"/>
                  </a:lnTo>
                  <a:lnTo>
                    <a:pt x="2682240" y="1755648"/>
                  </a:lnTo>
                  <a:lnTo>
                    <a:pt x="0" y="1755648"/>
                  </a:lnTo>
                  <a:close/>
                </a:path>
              </a:pathLst>
            </a:custGeom>
            <a:blipFill>
              <a:blip r:embed="rId3">
                <a:alphaModFix amt="0"/>
              </a:blip>
              <a:stretch>
                <a:fillRect l="-33980" t="0" r="-33980" b="0"/>
              </a:stretch>
            </a:blipFill>
          </p:spPr>
        </p:sp>
        <p:sp>
          <p:nvSpPr>
            <p:cNvPr name="TextBox 9" id="9"/>
            <p:cNvSpPr txBox="true"/>
            <p:nvPr/>
          </p:nvSpPr>
          <p:spPr>
            <a:xfrm>
              <a:off x="0" y="-38100"/>
              <a:ext cx="2682240" cy="1793748"/>
            </a:xfrm>
            <a:prstGeom prst="rect">
              <a:avLst/>
            </a:prstGeom>
          </p:spPr>
          <p:txBody>
            <a:bodyPr anchor="ctr" rtlCol="false" tIns="0" lIns="0" bIns="0" rIns="0"/>
            <a:lstStyle/>
            <a:p>
              <a:pPr algn="r">
                <a:lnSpc>
                  <a:spcPts val="2400"/>
                </a:lnSpc>
              </a:pPr>
              <a:r>
                <a:rPr lang="en-US" sz="2000">
                  <a:solidFill>
                    <a:srgbClr val="8A96A8"/>
                  </a:solidFill>
                  <a:latin typeface="Calibri (MS)"/>
                  <a:ea typeface="Calibri (MS)"/>
                  <a:cs typeface="Calibri (MS)"/>
                  <a:sym typeface="Calibri (MS)"/>
                </a:rPr>
                <a:t>2 / 8</a:t>
              </a:r>
            </a:p>
          </p:txBody>
        </p:sp>
      </p:grpSp>
      <p:grpSp>
        <p:nvGrpSpPr>
          <p:cNvPr name="Group 10" id="10"/>
          <p:cNvGrpSpPr/>
          <p:nvPr/>
        </p:nvGrpSpPr>
        <p:grpSpPr>
          <a:xfrm rot="0">
            <a:off x="535943" y="1633223"/>
            <a:ext cx="5511803" cy="2585723"/>
            <a:chOff x="0" y="0"/>
            <a:chExt cx="7349071" cy="3447631"/>
          </a:xfrm>
        </p:grpSpPr>
        <p:sp>
          <p:nvSpPr>
            <p:cNvPr name="Freeform 11" id="11"/>
            <p:cNvSpPr/>
            <p:nvPr/>
          </p:nvSpPr>
          <p:spPr>
            <a:xfrm flipH="false" flipV="false" rot="0">
              <a:off x="0" y="0"/>
              <a:ext cx="7349109" cy="3447669"/>
            </a:xfrm>
            <a:custGeom>
              <a:avLst/>
              <a:gdLst/>
              <a:ahLst/>
              <a:cxnLst/>
              <a:rect r="r" b="b" t="t" l="l"/>
              <a:pathLst>
                <a:path h="3447669" w="7349109">
                  <a:moveTo>
                    <a:pt x="0" y="0"/>
                  </a:moveTo>
                  <a:lnTo>
                    <a:pt x="7349109" y="0"/>
                  </a:lnTo>
                  <a:lnTo>
                    <a:pt x="7349109" y="3447669"/>
                  </a:lnTo>
                  <a:lnTo>
                    <a:pt x="0" y="3447669"/>
                  </a:lnTo>
                  <a:close/>
                </a:path>
              </a:pathLst>
            </a:custGeom>
            <a:solidFill>
              <a:srgbClr val="FFFFFF"/>
            </a:solidFill>
            <a:ln w="25400" cap="sq">
              <a:solidFill>
                <a:srgbClr val="E0E6EF"/>
              </a:solidFill>
              <a:prstDash val="solid"/>
              <a:miter/>
            </a:ln>
          </p:spPr>
        </p:sp>
      </p:grpSp>
      <p:grpSp>
        <p:nvGrpSpPr>
          <p:cNvPr name="Group 12" id="12"/>
          <p:cNvGrpSpPr/>
          <p:nvPr/>
        </p:nvGrpSpPr>
        <p:grpSpPr>
          <a:xfrm rot="0">
            <a:off x="535943" y="1633223"/>
            <a:ext cx="5511803" cy="153419"/>
            <a:chOff x="0" y="0"/>
            <a:chExt cx="7349071" cy="204559"/>
          </a:xfrm>
        </p:grpSpPr>
        <p:sp>
          <p:nvSpPr>
            <p:cNvPr name="Freeform 13" id="13"/>
            <p:cNvSpPr/>
            <p:nvPr/>
          </p:nvSpPr>
          <p:spPr>
            <a:xfrm flipH="false" flipV="false" rot="0">
              <a:off x="0" y="0"/>
              <a:ext cx="7349109" cy="204597"/>
            </a:xfrm>
            <a:custGeom>
              <a:avLst/>
              <a:gdLst/>
              <a:ahLst/>
              <a:cxnLst/>
              <a:rect r="r" b="b" t="t" l="l"/>
              <a:pathLst>
                <a:path h="204597" w="7349109">
                  <a:moveTo>
                    <a:pt x="0" y="0"/>
                  </a:moveTo>
                  <a:lnTo>
                    <a:pt x="7349109" y="0"/>
                  </a:lnTo>
                  <a:lnTo>
                    <a:pt x="7349109" y="204597"/>
                  </a:lnTo>
                  <a:lnTo>
                    <a:pt x="0" y="204597"/>
                  </a:lnTo>
                  <a:close/>
                </a:path>
              </a:pathLst>
            </a:custGeom>
            <a:solidFill>
              <a:srgbClr val="C0392B"/>
            </a:solidFill>
            <a:ln w="25400" cap="sq">
              <a:solidFill>
                <a:srgbClr val="C0392B"/>
              </a:solidFill>
              <a:prstDash val="solid"/>
              <a:miter/>
            </a:ln>
          </p:spPr>
        </p:sp>
      </p:grpSp>
      <p:grpSp>
        <p:nvGrpSpPr>
          <p:cNvPr name="Group 14" id="14"/>
          <p:cNvGrpSpPr/>
          <p:nvPr/>
        </p:nvGrpSpPr>
        <p:grpSpPr>
          <a:xfrm rot="0">
            <a:off x="548640" y="1828800"/>
            <a:ext cx="5486400" cy="1188720"/>
            <a:chOff x="0" y="0"/>
            <a:chExt cx="7315200" cy="1584960"/>
          </a:xfrm>
        </p:grpSpPr>
        <p:sp>
          <p:nvSpPr>
            <p:cNvPr name="Freeform 15" id="15"/>
            <p:cNvSpPr/>
            <p:nvPr/>
          </p:nvSpPr>
          <p:spPr>
            <a:xfrm flipH="false" flipV="false" rot="0">
              <a:off x="0" y="0"/>
              <a:ext cx="7315200" cy="1584960"/>
            </a:xfrm>
            <a:custGeom>
              <a:avLst/>
              <a:gdLst/>
              <a:ahLst/>
              <a:cxnLst/>
              <a:rect r="r" b="b" t="t" l="l"/>
              <a:pathLst>
                <a:path h="1584960" w="7315200">
                  <a:moveTo>
                    <a:pt x="0" y="0"/>
                  </a:moveTo>
                  <a:lnTo>
                    <a:pt x="7315200" y="0"/>
                  </a:lnTo>
                  <a:lnTo>
                    <a:pt x="7315200" y="1584960"/>
                  </a:lnTo>
                  <a:lnTo>
                    <a:pt x="0" y="1584960"/>
                  </a:lnTo>
                  <a:close/>
                </a:path>
              </a:pathLst>
            </a:custGeom>
            <a:blipFill>
              <a:blip r:embed="rId3">
                <a:alphaModFix amt="0"/>
              </a:blip>
              <a:stretch>
                <a:fillRect l="0" t="-39930" r="0" b="-39930"/>
              </a:stretch>
            </a:blipFill>
          </p:spPr>
        </p:sp>
        <p:sp>
          <p:nvSpPr>
            <p:cNvPr name="TextBox 16" id="16"/>
            <p:cNvSpPr txBox="true"/>
            <p:nvPr/>
          </p:nvSpPr>
          <p:spPr>
            <a:xfrm>
              <a:off x="0" y="-142875"/>
              <a:ext cx="7315200" cy="1727835"/>
            </a:xfrm>
            <a:prstGeom prst="rect">
              <a:avLst/>
            </a:prstGeom>
          </p:spPr>
          <p:txBody>
            <a:bodyPr anchor="ctr" rtlCol="false" tIns="0" lIns="0" bIns="0" rIns="0"/>
            <a:lstStyle/>
            <a:p>
              <a:pPr algn="ctr">
                <a:lnSpc>
                  <a:spcPts val="8640"/>
                </a:lnSpc>
              </a:pPr>
              <a:r>
                <a:rPr lang="en-US" sz="7200" b="true">
                  <a:solidFill>
                    <a:srgbClr val="C0392B"/>
                  </a:solidFill>
                  <a:latin typeface="Calibri (MS) Bold"/>
                  <a:ea typeface="Calibri (MS) Bold"/>
                  <a:cs typeface="Calibri (MS) Bold"/>
                  <a:sym typeface="Calibri (MS) Bold"/>
                </a:rPr>
                <a:t>26%</a:t>
              </a:r>
            </a:p>
          </p:txBody>
        </p:sp>
      </p:grpSp>
      <p:grpSp>
        <p:nvGrpSpPr>
          <p:cNvPr name="Group 17" id="17"/>
          <p:cNvGrpSpPr/>
          <p:nvPr/>
        </p:nvGrpSpPr>
        <p:grpSpPr>
          <a:xfrm rot="0">
            <a:off x="768096" y="3017520"/>
            <a:ext cx="5047488" cy="1005840"/>
            <a:chOff x="0" y="0"/>
            <a:chExt cx="6729984" cy="1341120"/>
          </a:xfrm>
        </p:grpSpPr>
        <p:sp>
          <p:nvSpPr>
            <p:cNvPr name="Freeform 18" id="18"/>
            <p:cNvSpPr/>
            <p:nvPr/>
          </p:nvSpPr>
          <p:spPr>
            <a:xfrm flipH="false" flipV="false" rot="0">
              <a:off x="0" y="0"/>
              <a:ext cx="6729984" cy="1341120"/>
            </a:xfrm>
            <a:custGeom>
              <a:avLst/>
              <a:gdLst/>
              <a:ahLst/>
              <a:cxnLst/>
              <a:rect r="r" b="b" t="t" l="l"/>
              <a:pathLst>
                <a:path h="1341120" w="6729984">
                  <a:moveTo>
                    <a:pt x="0" y="0"/>
                  </a:moveTo>
                  <a:lnTo>
                    <a:pt x="6729984" y="0"/>
                  </a:lnTo>
                  <a:lnTo>
                    <a:pt x="6729984" y="1341120"/>
                  </a:lnTo>
                  <a:lnTo>
                    <a:pt x="0" y="1341120"/>
                  </a:lnTo>
                  <a:close/>
                </a:path>
              </a:pathLst>
            </a:custGeom>
            <a:blipFill>
              <a:blip r:embed="rId3">
                <a:alphaModFix amt="0"/>
              </a:blip>
              <a:stretch>
                <a:fillRect l="0" t="-47779" r="0" b="-47779"/>
              </a:stretch>
            </a:blipFill>
          </p:spPr>
        </p:sp>
        <p:sp>
          <p:nvSpPr>
            <p:cNvPr name="TextBox 19" id="19"/>
            <p:cNvSpPr txBox="true"/>
            <p:nvPr/>
          </p:nvSpPr>
          <p:spPr>
            <a:xfrm>
              <a:off x="0" y="-47625"/>
              <a:ext cx="6729984" cy="1388745"/>
            </a:xfrm>
            <a:prstGeom prst="rect">
              <a:avLst/>
            </a:prstGeom>
          </p:spPr>
          <p:txBody>
            <a:bodyPr anchor="ctr" rtlCol="false" tIns="0" lIns="0" bIns="0" rIns="0"/>
            <a:lstStyle/>
            <a:p>
              <a:pPr algn="ctr">
                <a:lnSpc>
                  <a:spcPts val="2640"/>
                </a:lnSpc>
              </a:pPr>
              <a:r>
                <a:rPr lang="en-US" sz="2200">
                  <a:solidFill>
                    <a:srgbClr val="444444"/>
                  </a:solidFill>
                  <a:latin typeface="Calibri (MS)"/>
                  <a:ea typeface="Calibri (MS)"/>
                  <a:cs typeface="Calibri (MS)"/>
                  <a:sym typeface="Calibri (MS)"/>
                </a:rPr>
                <a:t>of GitHub Dockerfiles fail to build</a:t>
              </a:r>
            </a:p>
          </p:txBody>
        </p:sp>
      </p:grpSp>
      <p:grpSp>
        <p:nvGrpSpPr>
          <p:cNvPr name="Group 20" id="20"/>
          <p:cNvGrpSpPr/>
          <p:nvPr/>
        </p:nvGrpSpPr>
        <p:grpSpPr>
          <a:xfrm rot="0">
            <a:off x="6424679" y="1633223"/>
            <a:ext cx="5511803" cy="2585723"/>
            <a:chOff x="0" y="0"/>
            <a:chExt cx="7349071" cy="3447631"/>
          </a:xfrm>
        </p:grpSpPr>
        <p:sp>
          <p:nvSpPr>
            <p:cNvPr name="Freeform 21" id="21"/>
            <p:cNvSpPr/>
            <p:nvPr/>
          </p:nvSpPr>
          <p:spPr>
            <a:xfrm flipH="false" flipV="false" rot="0">
              <a:off x="0" y="0"/>
              <a:ext cx="7349109" cy="3447669"/>
            </a:xfrm>
            <a:custGeom>
              <a:avLst/>
              <a:gdLst/>
              <a:ahLst/>
              <a:cxnLst/>
              <a:rect r="r" b="b" t="t" l="l"/>
              <a:pathLst>
                <a:path h="3447669" w="7349109">
                  <a:moveTo>
                    <a:pt x="0" y="0"/>
                  </a:moveTo>
                  <a:lnTo>
                    <a:pt x="7349109" y="0"/>
                  </a:lnTo>
                  <a:lnTo>
                    <a:pt x="7349109" y="3447669"/>
                  </a:lnTo>
                  <a:lnTo>
                    <a:pt x="0" y="3447669"/>
                  </a:lnTo>
                  <a:close/>
                </a:path>
              </a:pathLst>
            </a:custGeom>
            <a:solidFill>
              <a:srgbClr val="FFFFFF"/>
            </a:solidFill>
            <a:ln w="25400" cap="sq">
              <a:solidFill>
                <a:srgbClr val="E0E6EF"/>
              </a:solidFill>
              <a:prstDash val="solid"/>
              <a:miter/>
            </a:ln>
          </p:spPr>
        </p:sp>
      </p:grpSp>
      <p:grpSp>
        <p:nvGrpSpPr>
          <p:cNvPr name="Group 22" id="22"/>
          <p:cNvGrpSpPr/>
          <p:nvPr/>
        </p:nvGrpSpPr>
        <p:grpSpPr>
          <a:xfrm rot="0">
            <a:off x="6424679" y="1633223"/>
            <a:ext cx="5511803" cy="153419"/>
            <a:chOff x="0" y="0"/>
            <a:chExt cx="7349071" cy="204559"/>
          </a:xfrm>
        </p:grpSpPr>
        <p:sp>
          <p:nvSpPr>
            <p:cNvPr name="Freeform 23" id="23"/>
            <p:cNvSpPr/>
            <p:nvPr/>
          </p:nvSpPr>
          <p:spPr>
            <a:xfrm flipH="false" flipV="false" rot="0">
              <a:off x="0" y="0"/>
              <a:ext cx="7349109" cy="204597"/>
            </a:xfrm>
            <a:custGeom>
              <a:avLst/>
              <a:gdLst/>
              <a:ahLst/>
              <a:cxnLst/>
              <a:rect r="r" b="b" t="t" l="l"/>
              <a:pathLst>
                <a:path h="204597" w="7349109">
                  <a:moveTo>
                    <a:pt x="0" y="0"/>
                  </a:moveTo>
                  <a:lnTo>
                    <a:pt x="7349109" y="0"/>
                  </a:lnTo>
                  <a:lnTo>
                    <a:pt x="7349109" y="204597"/>
                  </a:lnTo>
                  <a:lnTo>
                    <a:pt x="0" y="204597"/>
                  </a:lnTo>
                  <a:close/>
                </a:path>
              </a:pathLst>
            </a:custGeom>
            <a:solidFill>
              <a:srgbClr val="6B4EAF"/>
            </a:solidFill>
            <a:ln w="25400" cap="sq">
              <a:solidFill>
                <a:srgbClr val="6B4EAF"/>
              </a:solidFill>
              <a:prstDash val="solid"/>
              <a:miter/>
            </a:ln>
          </p:spPr>
        </p:sp>
      </p:grpSp>
      <p:grpSp>
        <p:nvGrpSpPr>
          <p:cNvPr name="Group 24" id="24"/>
          <p:cNvGrpSpPr/>
          <p:nvPr/>
        </p:nvGrpSpPr>
        <p:grpSpPr>
          <a:xfrm rot="0">
            <a:off x="6437376" y="1828800"/>
            <a:ext cx="5486400" cy="1188720"/>
            <a:chOff x="0" y="0"/>
            <a:chExt cx="7315200" cy="1584960"/>
          </a:xfrm>
        </p:grpSpPr>
        <p:sp>
          <p:nvSpPr>
            <p:cNvPr name="Freeform 25" id="25"/>
            <p:cNvSpPr/>
            <p:nvPr/>
          </p:nvSpPr>
          <p:spPr>
            <a:xfrm flipH="false" flipV="false" rot="0">
              <a:off x="0" y="0"/>
              <a:ext cx="7315200" cy="1584960"/>
            </a:xfrm>
            <a:custGeom>
              <a:avLst/>
              <a:gdLst/>
              <a:ahLst/>
              <a:cxnLst/>
              <a:rect r="r" b="b" t="t" l="l"/>
              <a:pathLst>
                <a:path h="1584960" w="7315200">
                  <a:moveTo>
                    <a:pt x="0" y="0"/>
                  </a:moveTo>
                  <a:lnTo>
                    <a:pt x="7315200" y="0"/>
                  </a:lnTo>
                  <a:lnTo>
                    <a:pt x="7315200" y="1584960"/>
                  </a:lnTo>
                  <a:lnTo>
                    <a:pt x="0" y="1584960"/>
                  </a:lnTo>
                  <a:close/>
                </a:path>
              </a:pathLst>
            </a:custGeom>
            <a:blipFill>
              <a:blip r:embed="rId3">
                <a:alphaModFix amt="0"/>
              </a:blip>
              <a:stretch>
                <a:fillRect l="0" t="-39930" r="0" b="-39930"/>
              </a:stretch>
            </a:blipFill>
          </p:spPr>
        </p:sp>
        <p:sp>
          <p:nvSpPr>
            <p:cNvPr name="TextBox 26" id="26"/>
            <p:cNvSpPr txBox="true"/>
            <p:nvPr/>
          </p:nvSpPr>
          <p:spPr>
            <a:xfrm>
              <a:off x="0" y="-142875"/>
              <a:ext cx="7315200" cy="1727835"/>
            </a:xfrm>
            <a:prstGeom prst="rect">
              <a:avLst/>
            </a:prstGeom>
          </p:spPr>
          <p:txBody>
            <a:bodyPr anchor="ctr" rtlCol="false" tIns="0" lIns="0" bIns="0" rIns="0"/>
            <a:lstStyle/>
            <a:p>
              <a:pPr algn="ctr">
                <a:lnSpc>
                  <a:spcPts val="8640"/>
                </a:lnSpc>
              </a:pPr>
              <a:r>
                <a:rPr lang="en-US" sz="7200" b="true">
                  <a:solidFill>
                    <a:srgbClr val="6B4EAF"/>
                  </a:solidFill>
                  <a:latin typeface="Calibri (MS) Bold"/>
                  <a:ea typeface="Calibri (MS) Bold"/>
                  <a:cs typeface="Calibri (MS) Bold"/>
                  <a:sym typeface="Calibri (MS) Bold"/>
                </a:rPr>
                <a:t>9.81%</a:t>
              </a:r>
            </a:p>
          </p:txBody>
        </p:sp>
      </p:grpSp>
      <p:grpSp>
        <p:nvGrpSpPr>
          <p:cNvPr name="Group 27" id="27"/>
          <p:cNvGrpSpPr/>
          <p:nvPr/>
        </p:nvGrpSpPr>
        <p:grpSpPr>
          <a:xfrm rot="0">
            <a:off x="6656832" y="3017520"/>
            <a:ext cx="5047488" cy="1005840"/>
            <a:chOff x="0" y="0"/>
            <a:chExt cx="6729984" cy="1341120"/>
          </a:xfrm>
        </p:grpSpPr>
        <p:sp>
          <p:nvSpPr>
            <p:cNvPr name="Freeform 28" id="28"/>
            <p:cNvSpPr/>
            <p:nvPr/>
          </p:nvSpPr>
          <p:spPr>
            <a:xfrm flipH="false" flipV="false" rot="0">
              <a:off x="0" y="0"/>
              <a:ext cx="6729984" cy="1341120"/>
            </a:xfrm>
            <a:custGeom>
              <a:avLst/>
              <a:gdLst/>
              <a:ahLst/>
              <a:cxnLst/>
              <a:rect r="r" b="b" t="t" l="l"/>
              <a:pathLst>
                <a:path h="1341120" w="6729984">
                  <a:moveTo>
                    <a:pt x="0" y="0"/>
                  </a:moveTo>
                  <a:lnTo>
                    <a:pt x="6729984" y="0"/>
                  </a:lnTo>
                  <a:lnTo>
                    <a:pt x="6729984" y="1341120"/>
                  </a:lnTo>
                  <a:lnTo>
                    <a:pt x="0" y="1341120"/>
                  </a:lnTo>
                  <a:close/>
                </a:path>
              </a:pathLst>
            </a:custGeom>
            <a:blipFill>
              <a:blip r:embed="rId3">
                <a:alphaModFix amt="0"/>
              </a:blip>
              <a:stretch>
                <a:fillRect l="0" t="-47779" r="0" b="-47779"/>
              </a:stretch>
            </a:blipFill>
          </p:spPr>
        </p:sp>
        <p:sp>
          <p:nvSpPr>
            <p:cNvPr name="TextBox 29" id="29"/>
            <p:cNvSpPr txBox="true"/>
            <p:nvPr/>
          </p:nvSpPr>
          <p:spPr>
            <a:xfrm>
              <a:off x="0" y="-47625"/>
              <a:ext cx="6729984" cy="1388745"/>
            </a:xfrm>
            <a:prstGeom prst="rect">
              <a:avLst/>
            </a:prstGeom>
          </p:spPr>
          <p:txBody>
            <a:bodyPr anchor="ctr" rtlCol="false" tIns="0" lIns="0" bIns="0" rIns="0"/>
            <a:lstStyle/>
            <a:p>
              <a:pPr algn="ctr">
                <a:lnSpc>
                  <a:spcPts val="2640"/>
                </a:lnSpc>
              </a:pPr>
              <a:r>
                <a:rPr lang="en-US" sz="2200">
                  <a:solidFill>
                    <a:srgbClr val="444444"/>
                  </a:solidFill>
                  <a:latin typeface="Calibri (MS)"/>
                  <a:ea typeface="Calibri (MS)"/>
                  <a:cs typeface="Calibri (MS)"/>
                  <a:sym typeface="Calibri (MS)"/>
                </a:rPr>
                <a:t>of Dockerfiles exhibit build flakiness</a:t>
              </a:r>
            </a:p>
          </p:txBody>
        </p:sp>
      </p:grpSp>
      <p:grpSp>
        <p:nvGrpSpPr>
          <p:cNvPr name="Group 30" id="30"/>
          <p:cNvGrpSpPr/>
          <p:nvPr/>
        </p:nvGrpSpPr>
        <p:grpSpPr>
          <a:xfrm rot="0">
            <a:off x="12313415" y="1633223"/>
            <a:ext cx="5511803" cy="2585723"/>
            <a:chOff x="0" y="0"/>
            <a:chExt cx="7349071" cy="3447631"/>
          </a:xfrm>
        </p:grpSpPr>
        <p:sp>
          <p:nvSpPr>
            <p:cNvPr name="Freeform 31" id="31"/>
            <p:cNvSpPr/>
            <p:nvPr/>
          </p:nvSpPr>
          <p:spPr>
            <a:xfrm flipH="false" flipV="false" rot="0">
              <a:off x="0" y="0"/>
              <a:ext cx="7349109" cy="3447669"/>
            </a:xfrm>
            <a:custGeom>
              <a:avLst/>
              <a:gdLst/>
              <a:ahLst/>
              <a:cxnLst/>
              <a:rect r="r" b="b" t="t" l="l"/>
              <a:pathLst>
                <a:path h="3447669" w="7349109">
                  <a:moveTo>
                    <a:pt x="0" y="0"/>
                  </a:moveTo>
                  <a:lnTo>
                    <a:pt x="7349109" y="0"/>
                  </a:lnTo>
                  <a:lnTo>
                    <a:pt x="7349109" y="3447669"/>
                  </a:lnTo>
                  <a:lnTo>
                    <a:pt x="0" y="3447669"/>
                  </a:lnTo>
                  <a:close/>
                </a:path>
              </a:pathLst>
            </a:custGeom>
            <a:solidFill>
              <a:srgbClr val="FFFFFF"/>
            </a:solidFill>
            <a:ln w="25400" cap="sq">
              <a:solidFill>
                <a:srgbClr val="E0E6EF"/>
              </a:solidFill>
              <a:prstDash val="solid"/>
              <a:miter/>
            </a:ln>
          </p:spPr>
        </p:sp>
      </p:grpSp>
      <p:grpSp>
        <p:nvGrpSpPr>
          <p:cNvPr name="Group 32" id="32"/>
          <p:cNvGrpSpPr/>
          <p:nvPr/>
        </p:nvGrpSpPr>
        <p:grpSpPr>
          <a:xfrm rot="0">
            <a:off x="12313415" y="1633223"/>
            <a:ext cx="5511803" cy="153419"/>
            <a:chOff x="0" y="0"/>
            <a:chExt cx="7349071" cy="204559"/>
          </a:xfrm>
        </p:grpSpPr>
        <p:sp>
          <p:nvSpPr>
            <p:cNvPr name="Freeform 33" id="33"/>
            <p:cNvSpPr/>
            <p:nvPr/>
          </p:nvSpPr>
          <p:spPr>
            <a:xfrm flipH="false" flipV="false" rot="0">
              <a:off x="0" y="0"/>
              <a:ext cx="7349109" cy="204597"/>
            </a:xfrm>
            <a:custGeom>
              <a:avLst/>
              <a:gdLst/>
              <a:ahLst/>
              <a:cxnLst/>
              <a:rect r="r" b="b" t="t" l="l"/>
              <a:pathLst>
                <a:path h="204597" w="7349109">
                  <a:moveTo>
                    <a:pt x="0" y="0"/>
                  </a:moveTo>
                  <a:lnTo>
                    <a:pt x="7349109" y="0"/>
                  </a:lnTo>
                  <a:lnTo>
                    <a:pt x="7349109" y="204597"/>
                  </a:lnTo>
                  <a:lnTo>
                    <a:pt x="0" y="204597"/>
                  </a:lnTo>
                  <a:close/>
                </a:path>
              </a:pathLst>
            </a:custGeom>
            <a:solidFill>
              <a:srgbClr val="2E75B6"/>
            </a:solidFill>
            <a:ln w="25400" cap="sq">
              <a:solidFill>
                <a:srgbClr val="2E75B6"/>
              </a:solidFill>
              <a:prstDash val="solid"/>
              <a:miter/>
            </a:ln>
          </p:spPr>
        </p:sp>
      </p:grpSp>
      <p:grpSp>
        <p:nvGrpSpPr>
          <p:cNvPr name="Group 34" id="34"/>
          <p:cNvGrpSpPr/>
          <p:nvPr/>
        </p:nvGrpSpPr>
        <p:grpSpPr>
          <a:xfrm rot="0">
            <a:off x="12326112" y="1828800"/>
            <a:ext cx="5486400" cy="1188720"/>
            <a:chOff x="0" y="0"/>
            <a:chExt cx="7315200" cy="1584960"/>
          </a:xfrm>
        </p:grpSpPr>
        <p:sp>
          <p:nvSpPr>
            <p:cNvPr name="Freeform 35" id="35"/>
            <p:cNvSpPr/>
            <p:nvPr/>
          </p:nvSpPr>
          <p:spPr>
            <a:xfrm flipH="false" flipV="false" rot="0">
              <a:off x="0" y="0"/>
              <a:ext cx="7315200" cy="1584960"/>
            </a:xfrm>
            <a:custGeom>
              <a:avLst/>
              <a:gdLst/>
              <a:ahLst/>
              <a:cxnLst/>
              <a:rect r="r" b="b" t="t" l="l"/>
              <a:pathLst>
                <a:path h="1584960" w="7315200">
                  <a:moveTo>
                    <a:pt x="0" y="0"/>
                  </a:moveTo>
                  <a:lnTo>
                    <a:pt x="7315200" y="0"/>
                  </a:lnTo>
                  <a:lnTo>
                    <a:pt x="7315200" y="1584960"/>
                  </a:lnTo>
                  <a:lnTo>
                    <a:pt x="0" y="1584960"/>
                  </a:lnTo>
                  <a:close/>
                </a:path>
              </a:pathLst>
            </a:custGeom>
            <a:blipFill>
              <a:blip r:embed="rId3">
                <a:alphaModFix amt="0"/>
              </a:blip>
              <a:stretch>
                <a:fillRect l="0" t="-39930" r="0" b="-39930"/>
              </a:stretch>
            </a:blipFill>
          </p:spPr>
        </p:sp>
        <p:sp>
          <p:nvSpPr>
            <p:cNvPr name="TextBox 36" id="36"/>
            <p:cNvSpPr txBox="true"/>
            <p:nvPr/>
          </p:nvSpPr>
          <p:spPr>
            <a:xfrm>
              <a:off x="0" y="-142875"/>
              <a:ext cx="7315200" cy="1727835"/>
            </a:xfrm>
            <a:prstGeom prst="rect">
              <a:avLst/>
            </a:prstGeom>
          </p:spPr>
          <p:txBody>
            <a:bodyPr anchor="ctr" rtlCol="false" tIns="0" lIns="0" bIns="0" rIns="0"/>
            <a:lstStyle/>
            <a:p>
              <a:pPr algn="ctr">
                <a:lnSpc>
                  <a:spcPts val="8640"/>
                </a:lnSpc>
              </a:pPr>
              <a:r>
                <a:rPr lang="en-US" sz="7200" b="true">
                  <a:solidFill>
                    <a:srgbClr val="2E75B6"/>
                  </a:solidFill>
                  <a:latin typeface="Calibri (MS) Bold"/>
                  <a:ea typeface="Calibri (MS) Bold"/>
                  <a:cs typeface="Calibri (MS) Bold"/>
                  <a:sym typeface="Calibri (MS) Bold"/>
                </a:rPr>
                <a:t>100%</a:t>
              </a:r>
            </a:p>
          </p:txBody>
        </p:sp>
      </p:grpSp>
      <p:grpSp>
        <p:nvGrpSpPr>
          <p:cNvPr name="Group 37" id="37"/>
          <p:cNvGrpSpPr/>
          <p:nvPr/>
        </p:nvGrpSpPr>
        <p:grpSpPr>
          <a:xfrm rot="0">
            <a:off x="12545568" y="3017520"/>
            <a:ext cx="5047488" cy="1005840"/>
            <a:chOff x="0" y="0"/>
            <a:chExt cx="6729984" cy="1341120"/>
          </a:xfrm>
        </p:grpSpPr>
        <p:sp>
          <p:nvSpPr>
            <p:cNvPr name="Freeform 38" id="38"/>
            <p:cNvSpPr/>
            <p:nvPr/>
          </p:nvSpPr>
          <p:spPr>
            <a:xfrm flipH="false" flipV="false" rot="0">
              <a:off x="0" y="0"/>
              <a:ext cx="6729984" cy="1341120"/>
            </a:xfrm>
            <a:custGeom>
              <a:avLst/>
              <a:gdLst/>
              <a:ahLst/>
              <a:cxnLst/>
              <a:rect r="r" b="b" t="t" l="l"/>
              <a:pathLst>
                <a:path h="1341120" w="6729984">
                  <a:moveTo>
                    <a:pt x="0" y="0"/>
                  </a:moveTo>
                  <a:lnTo>
                    <a:pt x="6729984" y="0"/>
                  </a:lnTo>
                  <a:lnTo>
                    <a:pt x="6729984" y="1341120"/>
                  </a:lnTo>
                  <a:lnTo>
                    <a:pt x="0" y="1341120"/>
                  </a:lnTo>
                  <a:close/>
                </a:path>
              </a:pathLst>
            </a:custGeom>
            <a:blipFill>
              <a:blip r:embed="rId3">
                <a:alphaModFix amt="0"/>
              </a:blip>
              <a:stretch>
                <a:fillRect l="0" t="-47779" r="0" b="-47779"/>
              </a:stretch>
            </a:blipFill>
          </p:spPr>
        </p:sp>
        <p:sp>
          <p:nvSpPr>
            <p:cNvPr name="TextBox 39" id="39"/>
            <p:cNvSpPr txBox="true"/>
            <p:nvPr/>
          </p:nvSpPr>
          <p:spPr>
            <a:xfrm>
              <a:off x="0" y="-47625"/>
              <a:ext cx="6729984" cy="1388745"/>
            </a:xfrm>
            <a:prstGeom prst="rect">
              <a:avLst/>
            </a:prstGeom>
          </p:spPr>
          <p:txBody>
            <a:bodyPr anchor="ctr" rtlCol="false" tIns="0" lIns="0" bIns="0" rIns="0"/>
            <a:lstStyle/>
            <a:p>
              <a:pPr algn="ctr">
                <a:lnSpc>
                  <a:spcPts val="2640"/>
                </a:lnSpc>
              </a:pPr>
              <a:r>
                <a:rPr lang="en-US" sz="2200">
                  <a:solidFill>
                    <a:srgbClr val="444444"/>
                  </a:solidFill>
                  <a:latin typeface="Calibri (MS)"/>
                  <a:ea typeface="Calibri (MS)"/>
                  <a:cs typeface="Calibri (MS)"/>
                  <a:sym typeface="Calibri (MS)"/>
                </a:rPr>
                <a:t>manual effort — no automation end-to-end</a:t>
              </a:r>
            </a:p>
          </p:txBody>
        </p:sp>
      </p:grpSp>
      <p:grpSp>
        <p:nvGrpSpPr>
          <p:cNvPr name="Group 40" id="40"/>
          <p:cNvGrpSpPr/>
          <p:nvPr/>
        </p:nvGrpSpPr>
        <p:grpSpPr>
          <a:xfrm rot="0">
            <a:off x="535943" y="4595879"/>
            <a:ext cx="17216123" cy="1525019"/>
            <a:chOff x="0" y="0"/>
            <a:chExt cx="22954831" cy="2033359"/>
          </a:xfrm>
        </p:grpSpPr>
        <p:sp>
          <p:nvSpPr>
            <p:cNvPr name="Freeform 41" id="41"/>
            <p:cNvSpPr/>
            <p:nvPr/>
          </p:nvSpPr>
          <p:spPr>
            <a:xfrm flipH="false" flipV="false" rot="0">
              <a:off x="0" y="0"/>
              <a:ext cx="22954869" cy="2033397"/>
            </a:xfrm>
            <a:custGeom>
              <a:avLst/>
              <a:gdLst/>
              <a:ahLst/>
              <a:cxnLst/>
              <a:rect r="r" b="b" t="t" l="l"/>
              <a:pathLst>
                <a:path h="2033397" w="22954869">
                  <a:moveTo>
                    <a:pt x="0" y="0"/>
                  </a:moveTo>
                  <a:lnTo>
                    <a:pt x="22954869" y="0"/>
                  </a:lnTo>
                  <a:lnTo>
                    <a:pt x="22954869" y="2033397"/>
                  </a:lnTo>
                  <a:lnTo>
                    <a:pt x="0" y="2033397"/>
                  </a:lnTo>
                  <a:close/>
                </a:path>
              </a:pathLst>
            </a:custGeom>
            <a:solidFill>
              <a:srgbClr val="FFFFFF"/>
            </a:solidFill>
            <a:ln w="25400" cap="sq">
              <a:solidFill>
                <a:srgbClr val="E8EEF6"/>
              </a:solidFill>
              <a:prstDash val="solid"/>
              <a:miter/>
            </a:ln>
          </p:spPr>
        </p:sp>
      </p:grpSp>
      <p:grpSp>
        <p:nvGrpSpPr>
          <p:cNvPr name="Group 42" id="42"/>
          <p:cNvGrpSpPr/>
          <p:nvPr/>
        </p:nvGrpSpPr>
        <p:grpSpPr>
          <a:xfrm rot="0">
            <a:off x="535943" y="4595879"/>
            <a:ext cx="153419" cy="1525019"/>
            <a:chOff x="0" y="0"/>
            <a:chExt cx="204559" cy="2033359"/>
          </a:xfrm>
        </p:grpSpPr>
        <p:sp>
          <p:nvSpPr>
            <p:cNvPr name="Freeform 43" id="43"/>
            <p:cNvSpPr/>
            <p:nvPr/>
          </p:nvSpPr>
          <p:spPr>
            <a:xfrm flipH="false" flipV="false" rot="0">
              <a:off x="0" y="0"/>
              <a:ext cx="204597" cy="2033397"/>
            </a:xfrm>
            <a:custGeom>
              <a:avLst/>
              <a:gdLst/>
              <a:ahLst/>
              <a:cxnLst/>
              <a:rect r="r" b="b" t="t" l="l"/>
              <a:pathLst>
                <a:path h="2033397" w="204597">
                  <a:moveTo>
                    <a:pt x="0" y="0"/>
                  </a:moveTo>
                  <a:lnTo>
                    <a:pt x="204597" y="0"/>
                  </a:lnTo>
                  <a:lnTo>
                    <a:pt x="204597" y="2033397"/>
                  </a:lnTo>
                  <a:lnTo>
                    <a:pt x="0" y="2033397"/>
                  </a:lnTo>
                  <a:close/>
                </a:path>
              </a:pathLst>
            </a:custGeom>
            <a:solidFill>
              <a:srgbClr val="C0392B"/>
            </a:solidFill>
            <a:ln w="25400" cap="sq">
              <a:solidFill>
                <a:srgbClr val="C0392B"/>
              </a:solidFill>
              <a:prstDash val="solid"/>
              <a:miter/>
            </a:ln>
          </p:spPr>
        </p:sp>
      </p:grpSp>
      <p:grpSp>
        <p:nvGrpSpPr>
          <p:cNvPr name="Group 44" id="44"/>
          <p:cNvGrpSpPr/>
          <p:nvPr/>
        </p:nvGrpSpPr>
        <p:grpSpPr>
          <a:xfrm rot="0">
            <a:off x="914400" y="4937760"/>
            <a:ext cx="804672" cy="804672"/>
            <a:chOff x="0" y="0"/>
            <a:chExt cx="1072896" cy="1072896"/>
          </a:xfrm>
        </p:grpSpPr>
        <p:sp>
          <p:nvSpPr>
            <p:cNvPr name="Freeform 45" id="45" descr="preencoded.png"/>
            <p:cNvSpPr/>
            <p:nvPr/>
          </p:nvSpPr>
          <p:spPr>
            <a:xfrm flipH="false" flipV="false" rot="0">
              <a:off x="0" y="0"/>
              <a:ext cx="1072896" cy="1072896"/>
            </a:xfrm>
            <a:custGeom>
              <a:avLst/>
              <a:gdLst/>
              <a:ahLst/>
              <a:cxnLst/>
              <a:rect r="r" b="b" t="t" l="l"/>
              <a:pathLst>
                <a:path h="1072896" w="1072896">
                  <a:moveTo>
                    <a:pt x="0" y="0"/>
                  </a:moveTo>
                  <a:lnTo>
                    <a:pt x="1072896" y="0"/>
                  </a:lnTo>
                  <a:lnTo>
                    <a:pt x="1072896" y="1072896"/>
                  </a:lnTo>
                  <a:lnTo>
                    <a:pt x="0" y="1072896"/>
                  </a:lnTo>
                  <a:lnTo>
                    <a:pt x="0" y="0"/>
                  </a:lnTo>
                  <a:close/>
                </a:path>
              </a:pathLst>
            </a:custGeom>
            <a:blipFill>
              <a:blip r:embed="rId4"/>
              <a:stretch>
                <a:fillRect l="0" t="0" r="0" b="0"/>
              </a:stretch>
            </a:blipFill>
          </p:spPr>
        </p:sp>
      </p:grpSp>
      <p:grpSp>
        <p:nvGrpSpPr>
          <p:cNvPr name="Group 46" id="46"/>
          <p:cNvGrpSpPr/>
          <p:nvPr/>
        </p:nvGrpSpPr>
        <p:grpSpPr>
          <a:xfrm rot="0">
            <a:off x="1975104" y="4754880"/>
            <a:ext cx="15361920" cy="512064"/>
            <a:chOff x="0" y="0"/>
            <a:chExt cx="20482560" cy="682752"/>
          </a:xfrm>
        </p:grpSpPr>
        <p:sp>
          <p:nvSpPr>
            <p:cNvPr name="Freeform 47" id="47"/>
            <p:cNvSpPr/>
            <p:nvPr/>
          </p:nvSpPr>
          <p:spPr>
            <a:xfrm flipH="false" flipV="false" rot="0">
              <a:off x="0" y="0"/>
              <a:ext cx="20482561" cy="682752"/>
            </a:xfrm>
            <a:custGeom>
              <a:avLst/>
              <a:gdLst/>
              <a:ahLst/>
              <a:cxnLst/>
              <a:rect r="r" b="b" t="t" l="l"/>
              <a:pathLst>
                <a:path h="682752" w="20482561">
                  <a:moveTo>
                    <a:pt x="0" y="0"/>
                  </a:moveTo>
                  <a:lnTo>
                    <a:pt x="20482561" y="0"/>
                  </a:lnTo>
                  <a:lnTo>
                    <a:pt x="20482561" y="682752"/>
                  </a:lnTo>
                  <a:lnTo>
                    <a:pt x="0" y="682752"/>
                  </a:lnTo>
                  <a:close/>
                </a:path>
              </a:pathLst>
            </a:custGeom>
            <a:blipFill>
              <a:blip r:embed="rId3">
                <a:alphaModFix amt="0"/>
              </a:blip>
              <a:stretch>
                <a:fillRect l="0" t="-534551" r="0" b="-534551"/>
              </a:stretch>
            </a:blipFill>
          </p:spPr>
        </p:sp>
        <p:sp>
          <p:nvSpPr>
            <p:cNvPr name="TextBox 48" id="48"/>
            <p:cNvSpPr txBox="true"/>
            <p:nvPr/>
          </p:nvSpPr>
          <p:spPr>
            <a:xfrm>
              <a:off x="0" y="-57150"/>
              <a:ext cx="20482560" cy="739902"/>
            </a:xfrm>
            <a:prstGeom prst="rect">
              <a:avLst/>
            </a:prstGeom>
          </p:spPr>
          <p:txBody>
            <a:bodyPr anchor="ctr" rtlCol="false" tIns="0" lIns="0" bIns="0" rIns="0"/>
            <a:lstStyle/>
            <a:p>
              <a:pPr algn="l">
                <a:lnSpc>
                  <a:spcPts val="3120"/>
                </a:lnSpc>
              </a:pPr>
              <a:r>
                <a:rPr lang="en-US" sz="2600" b="true">
                  <a:solidFill>
                    <a:srgbClr val="1A1A1A"/>
                  </a:solidFill>
                  <a:latin typeface="Calibri (MS) Bold"/>
                  <a:ea typeface="Calibri (MS) Bold"/>
                  <a:cs typeface="Calibri (MS) Bold"/>
                  <a:sym typeface="Calibri (MS) Bold"/>
                </a:rPr>
                <a:t>Writing Dockerfiles is hard</a:t>
              </a:r>
            </a:p>
          </p:txBody>
        </p:sp>
      </p:grpSp>
      <p:grpSp>
        <p:nvGrpSpPr>
          <p:cNvPr name="Group 49" id="49"/>
          <p:cNvGrpSpPr/>
          <p:nvPr/>
        </p:nvGrpSpPr>
        <p:grpSpPr>
          <a:xfrm rot="0">
            <a:off x="1975104" y="5266944"/>
            <a:ext cx="15361920" cy="694944"/>
            <a:chOff x="0" y="0"/>
            <a:chExt cx="20482560" cy="926592"/>
          </a:xfrm>
        </p:grpSpPr>
        <p:sp>
          <p:nvSpPr>
            <p:cNvPr name="Freeform 50" id="50"/>
            <p:cNvSpPr/>
            <p:nvPr/>
          </p:nvSpPr>
          <p:spPr>
            <a:xfrm flipH="false" flipV="false" rot="0">
              <a:off x="0" y="0"/>
              <a:ext cx="20482561" cy="926592"/>
            </a:xfrm>
            <a:custGeom>
              <a:avLst/>
              <a:gdLst/>
              <a:ahLst/>
              <a:cxnLst/>
              <a:rect r="r" b="b" t="t" l="l"/>
              <a:pathLst>
                <a:path h="926592" w="20482561">
                  <a:moveTo>
                    <a:pt x="0" y="0"/>
                  </a:moveTo>
                  <a:lnTo>
                    <a:pt x="20482561" y="0"/>
                  </a:lnTo>
                  <a:lnTo>
                    <a:pt x="20482561" y="926592"/>
                  </a:lnTo>
                  <a:lnTo>
                    <a:pt x="0" y="926592"/>
                  </a:lnTo>
                  <a:close/>
                </a:path>
              </a:pathLst>
            </a:custGeom>
            <a:blipFill>
              <a:blip r:embed="rId3">
                <a:alphaModFix amt="0"/>
              </a:blip>
              <a:stretch>
                <a:fillRect l="0" t="-380721" r="0" b="-380721"/>
              </a:stretch>
            </a:blipFill>
          </p:spPr>
        </p:sp>
        <p:sp>
          <p:nvSpPr>
            <p:cNvPr name="TextBox 51" id="51"/>
            <p:cNvSpPr txBox="true"/>
            <p:nvPr/>
          </p:nvSpPr>
          <p:spPr>
            <a:xfrm>
              <a:off x="0" y="-47625"/>
              <a:ext cx="20482560" cy="974217"/>
            </a:xfrm>
            <a:prstGeom prst="rect">
              <a:avLst/>
            </a:prstGeom>
          </p:spPr>
          <p:txBody>
            <a:bodyPr anchor="ctr" rtlCol="false" tIns="0" lIns="0" bIns="0" rIns="0"/>
            <a:lstStyle/>
            <a:p>
              <a:pPr algn="l">
                <a:lnSpc>
                  <a:spcPts val="2640"/>
                </a:lnSpc>
              </a:pPr>
              <a:r>
                <a:rPr lang="en-US" sz="2200">
                  <a:solidFill>
                    <a:srgbClr val="555555"/>
                  </a:solidFill>
                  <a:latin typeface="Calibri (MS)"/>
                  <a:ea typeface="Calibri (MS)"/>
                  <a:cs typeface="Calibri (MS)"/>
                  <a:sym typeface="Calibri (MS)"/>
                </a:rPr>
                <a:t>Requires knowledge of base images, package managers, build tools, entry points  unique for every project.</a:t>
              </a:r>
            </a:p>
          </p:txBody>
        </p:sp>
      </p:grpSp>
      <p:grpSp>
        <p:nvGrpSpPr>
          <p:cNvPr name="Group 52" id="52"/>
          <p:cNvGrpSpPr/>
          <p:nvPr/>
        </p:nvGrpSpPr>
        <p:grpSpPr>
          <a:xfrm rot="0">
            <a:off x="535943" y="6314951"/>
            <a:ext cx="17216123" cy="1525019"/>
            <a:chOff x="0" y="0"/>
            <a:chExt cx="22954831" cy="2033359"/>
          </a:xfrm>
        </p:grpSpPr>
        <p:sp>
          <p:nvSpPr>
            <p:cNvPr name="Freeform 53" id="53"/>
            <p:cNvSpPr/>
            <p:nvPr/>
          </p:nvSpPr>
          <p:spPr>
            <a:xfrm flipH="false" flipV="false" rot="0">
              <a:off x="0" y="0"/>
              <a:ext cx="22954869" cy="2033397"/>
            </a:xfrm>
            <a:custGeom>
              <a:avLst/>
              <a:gdLst/>
              <a:ahLst/>
              <a:cxnLst/>
              <a:rect r="r" b="b" t="t" l="l"/>
              <a:pathLst>
                <a:path h="2033397" w="22954869">
                  <a:moveTo>
                    <a:pt x="0" y="0"/>
                  </a:moveTo>
                  <a:lnTo>
                    <a:pt x="22954869" y="0"/>
                  </a:lnTo>
                  <a:lnTo>
                    <a:pt x="22954869" y="2033397"/>
                  </a:lnTo>
                  <a:lnTo>
                    <a:pt x="0" y="2033397"/>
                  </a:lnTo>
                  <a:close/>
                </a:path>
              </a:pathLst>
            </a:custGeom>
            <a:solidFill>
              <a:srgbClr val="FFFFFF"/>
            </a:solidFill>
            <a:ln w="25400" cap="sq">
              <a:solidFill>
                <a:srgbClr val="E8EEF6"/>
              </a:solidFill>
              <a:prstDash val="solid"/>
              <a:miter/>
            </a:ln>
          </p:spPr>
        </p:sp>
      </p:grpSp>
      <p:grpSp>
        <p:nvGrpSpPr>
          <p:cNvPr name="Group 54" id="54"/>
          <p:cNvGrpSpPr/>
          <p:nvPr/>
        </p:nvGrpSpPr>
        <p:grpSpPr>
          <a:xfrm rot="0">
            <a:off x="535943" y="6314951"/>
            <a:ext cx="153419" cy="1525019"/>
            <a:chOff x="0" y="0"/>
            <a:chExt cx="204559" cy="2033359"/>
          </a:xfrm>
        </p:grpSpPr>
        <p:sp>
          <p:nvSpPr>
            <p:cNvPr name="Freeform 55" id="55"/>
            <p:cNvSpPr/>
            <p:nvPr/>
          </p:nvSpPr>
          <p:spPr>
            <a:xfrm flipH="false" flipV="false" rot="0">
              <a:off x="0" y="0"/>
              <a:ext cx="204597" cy="2033397"/>
            </a:xfrm>
            <a:custGeom>
              <a:avLst/>
              <a:gdLst/>
              <a:ahLst/>
              <a:cxnLst/>
              <a:rect r="r" b="b" t="t" l="l"/>
              <a:pathLst>
                <a:path h="2033397" w="204597">
                  <a:moveTo>
                    <a:pt x="0" y="0"/>
                  </a:moveTo>
                  <a:lnTo>
                    <a:pt x="204597" y="0"/>
                  </a:lnTo>
                  <a:lnTo>
                    <a:pt x="204597" y="2033397"/>
                  </a:lnTo>
                  <a:lnTo>
                    <a:pt x="0" y="2033397"/>
                  </a:lnTo>
                  <a:close/>
                </a:path>
              </a:pathLst>
            </a:custGeom>
            <a:solidFill>
              <a:srgbClr val="6B4EAF"/>
            </a:solidFill>
            <a:ln w="25400" cap="sq">
              <a:solidFill>
                <a:srgbClr val="6B4EAF"/>
              </a:solidFill>
              <a:prstDash val="solid"/>
              <a:miter/>
            </a:ln>
          </p:spPr>
        </p:sp>
      </p:grpSp>
      <p:grpSp>
        <p:nvGrpSpPr>
          <p:cNvPr name="Group 56" id="56"/>
          <p:cNvGrpSpPr/>
          <p:nvPr/>
        </p:nvGrpSpPr>
        <p:grpSpPr>
          <a:xfrm rot="0">
            <a:off x="914400" y="6656832"/>
            <a:ext cx="804672" cy="804672"/>
            <a:chOff x="0" y="0"/>
            <a:chExt cx="1072896" cy="1072896"/>
          </a:xfrm>
        </p:grpSpPr>
        <p:sp>
          <p:nvSpPr>
            <p:cNvPr name="Freeform 57" id="57" descr="preencoded.png"/>
            <p:cNvSpPr/>
            <p:nvPr/>
          </p:nvSpPr>
          <p:spPr>
            <a:xfrm flipH="false" flipV="false" rot="0">
              <a:off x="0" y="0"/>
              <a:ext cx="1072896" cy="1072896"/>
            </a:xfrm>
            <a:custGeom>
              <a:avLst/>
              <a:gdLst/>
              <a:ahLst/>
              <a:cxnLst/>
              <a:rect r="r" b="b" t="t" l="l"/>
              <a:pathLst>
                <a:path h="1072896" w="1072896">
                  <a:moveTo>
                    <a:pt x="0" y="0"/>
                  </a:moveTo>
                  <a:lnTo>
                    <a:pt x="1072896" y="0"/>
                  </a:lnTo>
                  <a:lnTo>
                    <a:pt x="1072896" y="1072896"/>
                  </a:lnTo>
                  <a:lnTo>
                    <a:pt x="0" y="1072896"/>
                  </a:lnTo>
                  <a:lnTo>
                    <a:pt x="0" y="0"/>
                  </a:lnTo>
                  <a:close/>
                </a:path>
              </a:pathLst>
            </a:custGeom>
            <a:blipFill>
              <a:blip r:embed="rId5"/>
              <a:stretch>
                <a:fillRect l="0" t="0" r="0" b="0"/>
              </a:stretch>
            </a:blipFill>
          </p:spPr>
        </p:sp>
      </p:grpSp>
      <p:grpSp>
        <p:nvGrpSpPr>
          <p:cNvPr name="Group 58" id="58"/>
          <p:cNvGrpSpPr/>
          <p:nvPr/>
        </p:nvGrpSpPr>
        <p:grpSpPr>
          <a:xfrm rot="0">
            <a:off x="1975104" y="6473952"/>
            <a:ext cx="15361920" cy="512064"/>
            <a:chOff x="0" y="0"/>
            <a:chExt cx="20482560" cy="682752"/>
          </a:xfrm>
        </p:grpSpPr>
        <p:sp>
          <p:nvSpPr>
            <p:cNvPr name="Freeform 59" id="59"/>
            <p:cNvSpPr/>
            <p:nvPr/>
          </p:nvSpPr>
          <p:spPr>
            <a:xfrm flipH="false" flipV="false" rot="0">
              <a:off x="0" y="0"/>
              <a:ext cx="20482561" cy="682752"/>
            </a:xfrm>
            <a:custGeom>
              <a:avLst/>
              <a:gdLst/>
              <a:ahLst/>
              <a:cxnLst/>
              <a:rect r="r" b="b" t="t" l="l"/>
              <a:pathLst>
                <a:path h="682752" w="20482561">
                  <a:moveTo>
                    <a:pt x="0" y="0"/>
                  </a:moveTo>
                  <a:lnTo>
                    <a:pt x="20482561" y="0"/>
                  </a:lnTo>
                  <a:lnTo>
                    <a:pt x="20482561" y="682752"/>
                  </a:lnTo>
                  <a:lnTo>
                    <a:pt x="0" y="682752"/>
                  </a:lnTo>
                  <a:close/>
                </a:path>
              </a:pathLst>
            </a:custGeom>
            <a:blipFill>
              <a:blip r:embed="rId3">
                <a:alphaModFix amt="0"/>
              </a:blip>
              <a:stretch>
                <a:fillRect l="0" t="-534551" r="0" b="-534551"/>
              </a:stretch>
            </a:blipFill>
          </p:spPr>
        </p:sp>
        <p:sp>
          <p:nvSpPr>
            <p:cNvPr name="TextBox 60" id="60"/>
            <p:cNvSpPr txBox="true"/>
            <p:nvPr/>
          </p:nvSpPr>
          <p:spPr>
            <a:xfrm>
              <a:off x="0" y="-57150"/>
              <a:ext cx="20482560" cy="739902"/>
            </a:xfrm>
            <a:prstGeom prst="rect">
              <a:avLst/>
            </a:prstGeom>
          </p:spPr>
          <p:txBody>
            <a:bodyPr anchor="ctr" rtlCol="false" tIns="0" lIns="0" bIns="0" rIns="0"/>
            <a:lstStyle/>
            <a:p>
              <a:pPr algn="l">
                <a:lnSpc>
                  <a:spcPts val="3120"/>
                </a:lnSpc>
              </a:pPr>
              <a:r>
                <a:rPr lang="en-US" sz="2600" b="true">
                  <a:solidFill>
                    <a:srgbClr val="1A1A1A"/>
                  </a:solidFill>
                  <a:latin typeface="Calibri (MS) Bold"/>
                  <a:ea typeface="Calibri (MS) Bold"/>
                  <a:cs typeface="Calibri (MS) Bold"/>
                  <a:sym typeface="Calibri (MS) Bold"/>
                </a:rPr>
                <a:t>Builds break unexpectedly</a:t>
              </a:r>
            </a:p>
          </p:txBody>
        </p:sp>
      </p:grpSp>
      <p:grpSp>
        <p:nvGrpSpPr>
          <p:cNvPr name="Group 61" id="61"/>
          <p:cNvGrpSpPr/>
          <p:nvPr/>
        </p:nvGrpSpPr>
        <p:grpSpPr>
          <a:xfrm rot="0">
            <a:off x="1975104" y="6986016"/>
            <a:ext cx="15361920" cy="694944"/>
            <a:chOff x="0" y="0"/>
            <a:chExt cx="20482560" cy="926592"/>
          </a:xfrm>
        </p:grpSpPr>
        <p:sp>
          <p:nvSpPr>
            <p:cNvPr name="Freeform 62" id="62"/>
            <p:cNvSpPr/>
            <p:nvPr/>
          </p:nvSpPr>
          <p:spPr>
            <a:xfrm flipH="false" flipV="false" rot="0">
              <a:off x="0" y="0"/>
              <a:ext cx="20482561" cy="926592"/>
            </a:xfrm>
            <a:custGeom>
              <a:avLst/>
              <a:gdLst/>
              <a:ahLst/>
              <a:cxnLst/>
              <a:rect r="r" b="b" t="t" l="l"/>
              <a:pathLst>
                <a:path h="926592" w="20482561">
                  <a:moveTo>
                    <a:pt x="0" y="0"/>
                  </a:moveTo>
                  <a:lnTo>
                    <a:pt x="20482561" y="0"/>
                  </a:lnTo>
                  <a:lnTo>
                    <a:pt x="20482561" y="926592"/>
                  </a:lnTo>
                  <a:lnTo>
                    <a:pt x="0" y="926592"/>
                  </a:lnTo>
                  <a:close/>
                </a:path>
              </a:pathLst>
            </a:custGeom>
            <a:blipFill>
              <a:blip r:embed="rId3">
                <a:alphaModFix amt="0"/>
              </a:blip>
              <a:stretch>
                <a:fillRect l="0" t="-380721" r="0" b="-380721"/>
              </a:stretch>
            </a:blipFill>
          </p:spPr>
        </p:sp>
        <p:sp>
          <p:nvSpPr>
            <p:cNvPr name="TextBox 63" id="63"/>
            <p:cNvSpPr txBox="true"/>
            <p:nvPr/>
          </p:nvSpPr>
          <p:spPr>
            <a:xfrm>
              <a:off x="0" y="-47625"/>
              <a:ext cx="20482560" cy="974217"/>
            </a:xfrm>
            <a:prstGeom prst="rect">
              <a:avLst/>
            </a:prstGeom>
          </p:spPr>
          <p:txBody>
            <a:bodyPr anchor="ctr" rtlCol="false" tIns="0" lIns="0" bIns="0" rIns="0"/>
            <a:lstStyle/>
            <a:p>
              <a:pPr algn="l">
                <a:lnSpc>
                  <a:spcPts val="2640"/>
                </a:lnSpc>
              </a:pPr>
              <a:r>
                <a:rPr lang="en-US" sz="2200">
                  <a:solidFill>
                    <a:srgbClr val="555555"/>
                  </a:solidFill>
                  <a:latin typeface="Calibri (MS)"/>
                  <a:ea typeface="Calibri (MS)"/>
                  <a:cs typeface="Calibri (MS)"/>
                  <a:sym typeface="Calibri (MS)"/>
                </a:rPr>
                <a:t>Dependencies change, packages disappear, base images update without touching the Dockerfile itself.</a:t>
              </a:r>
            </a:p>
          </p:txBody>
        </p:sp>
      </p:grpSp>
      <p:grpSp>
        <p:nvGrpSpPr>
          <p:cNvPr name="Group 64" id="64"/>
          <p:cNvGrpSpPr/>
          <p:nvPr/>
        </p:nvGrpSpPr>
        <p:grpSpPr>
          <a:xfrm rot="0">
            <a:off x="535943" y="8034023"/>
            <a:ext cx="17216123" cy="1525019"/>
            <a:chOff x="0" y="0"/>
            <a:chExt cx="22954831" cy="2033359"/>
          </a:xfrm>
        </p:grpSpPr>
        <p:sp>
          <p:nvSpPr>
            <p:cNvPr name="Freeform 65" id="65"/>
            <p:cNvSpPr/>
            <p:nvPr/>
          </p:nvSpPr>
          <p:spPr>
            <a:xfrm flipH="false" flipV="false" rot="0">
              <a:off x="0" y="0"/>
              <a:ext cx="22954869" cy="2033397"/>
            </a:xfrm>
            <a:custGeom>
              <a:avLst/>
              <a:gdLst/>
              <a:ahLst/>
              <a:cxnLst/>
              <a:rect r="r" b="b" t="t" l="l"/>
              <a:pathLst>
                <a:path h="2033397" w="22954869">
                  <a:moveTo>
                    <a:pt x="0" y="0"/>
                  </a:moveTo>
                  <a:lnTo>
                    <a:pt x="22954869" y="0"/>
                  </a:lnTo>
                  <a:lnTo>
                    <a:pt x="22954869" y="2033397"/>
                  </a:lnTo>
                  <a:lnTo>
                    <a:pt x="0" y="2033397"/>
                  </a:lnTo>
                  <a:close/>
                </a:path>
              </a:pathLst>
            </a:custGeom>
            <a:solidFill>
              <a:srgbClr val="FFFFFF"/>
            </a:solidFill>
            <a:ln w="25400" cap="sq">
              <a:solidFill>
                <a:srgbClr val="E8EEF6"/>
              </a:solidFill>
              <a:prstDash val="solid"/>
              <a:miter/>
            </a:ln>
          </p:spPr>
        </p:sp>
      </p:grpSp>
      <p:grpSp>
        <p:nvGrpSpPr>
          <p:cNvPr name="Group 66" id="66"/>
          <p:cNvGrpSpPr/>
          <p:nvPr/>
        </p:nvGrpSpPr>
        <p:grpSpPr>
          <a:xfrm rot="0">
            <a:off x="535943" y="8034023"/>
            <a:ext cx="153419" cy="1525019"/>
            <a:chOff x="0" y="0"/>
            <a:chExt cx="204559" cy="2033359"/>
          </a:xfrm>
        </p:grpSpPr>
        <p:sp>
          <p:nvSpPr>
            <p:cNvPr name="Freeform 67" id="67"/>
            <p:cNvSpPr/>
            <p:nvPr/>
          </p:nvSpPr>
          <p:spPr>
            <a:xfrm flipH="false" flipV="false" rot="0">
              <a:off x="0" y="0"/>
              <a:ext cx="204597" cy="2033397"/>
            </a:xfrm>
            <a:custGeom>
              <a:avLst/>
              <a:gdLst/>
              <a:ahLst/>
              <a:cxnLst/>
              <a:rect r="r" b="b" t="t" l="l"/>
              <a:pathLst>
                <a:path h="2033397" w="204597">
                  <a:moveTo>
                    <a:pt x="0" y="0"/>
                  </a:moveTo>
                  <a:lnTo>
                    <a:pt x="204597" y="0"/>
                  </a:lnTo>
                  <a:lnTo>
                    <a:pt x="204597" y="2033397"/>
                  </a:lnTo>
                  <a:lnTo>
                    <a:pt x="0" y="2033397"/>
                  </a:lnTo>
                  <a:close/>
                </a:path>
              </a:pathLst>
            </a:custGeom>
            <a:solidFill>
              <a:srgbClr val="2E75B6"/>
            </a:solidFill>
            <a:ln w="25400" cap="sq">
              <a:solidFill>
                <a:srgbClr val="2E75B6"/>
              </a:solidFill>
              <a:prstDash val="solid"/>
              <a:miter/>
            </a:ln>
          </p:spPr>
        </p:sp>
      </p:grpSp>
      <p:grpSp>
        <p:nvGrpSpPr>
          <p:cNvPr name="Group 68" id="68"/>
          <p:cNvGrpSpPr/>
          <p:nvPr/>
        </p:nvGrpSpPr>
        <p:grpSpPr>
          <a:xfrm rot="0">
            <a:off x="914400" y="8375904"/>
            <a:ext cx="804672" cy="804672"/>
            <a:chOff x="0" y="0"/>
            <a:chExt cx="1072896" cy="1072896"/>
          </a:xfrm>
        </p:grpSpPr>
        <p:sp>
          <p:nvSpPr>
            <p:cNvPr name="Freeform 69" id="69" descr="preencoded.png"/>
            <p:cNvSpPr/>
            <p:nvPr/>
          </p:nvSpPr>
          <p:spPr>
            <a:xfrm flipH="false" flipV="false" rot="0">
              <a:off x="0" y="0"/>
              <a:ext cx="1072896" cy="1072896"/>
            </a:xfrm>
            <a:custGeom>
              <a:avLst/>
              <a:gdLst/>
              <a:ahLst/>
              <a:cxnLst/>
              <a:rect r="r" b="b" t="t" l="l"/>
              <a:pathLst>
                <a:path h="1072896" w="1072896">
                  <a:moveTo>
                    <a:pt x="0" y="0"/>
                  </a:moveTo>
                  <a:lnTo>
                    <a:pt x="1072896" y="0"/>
                  </a:lnTo>
                  <a:lnTo>
                    <a:pt x="1072896" y="1072896"/>
                  </a:lnTo>
                  <a:lnTo>
                    <a:pt x="0" y="1072896"/>
                  </a:lnTo>
                  <a:lnTo>
                    <a:pt x="0" y="0"/>
                  </a:lnTo>
                  <a:close/>
                </a:path>
              </a:pathLst>
            </a:custGeom>
            <a:blipFill>
              <a:blip r:embed="rId6"/>
              <a:stretch>
                <a:fillRect l="0" t="0" r="0" b="0"/>
              </a:stretch>
            </a:blipFill>
          </p:spPr>
        </p:sp>
      </p:grpSp>
      <p:grpSp>
        <p:nvGrpSpPr>
          <p:cNvPr name="Group 70" id="70"/>
          <p:cNvGrpSpPr/>
          <p:nvPr/>
        </p:nvGrpSpPr>
        <p:grpSpPr>
          <a:xfrm rot="0">
            <a:off x="1975104" y="8193024"/>
            <a:ext cx="15361920" cy="512064"/>
            <a:chOff x="0" y="0"/>
            <a:chExt cx="20482560" cy="682752"/>
          </a:xfrm>
        </p:grpSpPr>
        <p:sp>
          <p:nvSpPr>
            <p:cNvPr name="Freeform 71" id="71"/>
            <p:cNvSpPr/>
            <p:nvPr/>
          </p:nvSpPr>
          <p:spPr>
            <a:xfrm flipH="false" flipV="false" rot="0">
              <a:off x="0" y="0"/>
              <a:ext cx="20482561" cy="682752"/>
            </a:xfrm>
            <a:custGeom>
              <a:avLst/>
              <a:gdLst/>
              <a:ahLst/>
              <a:cxnLst/>
              <a:rect r="r" b="b" t="t" l="l"/>
              <a:pathLst>
                <a:path h="682752" w="20482561">
                  <a:moveTo>
                    <a:pt x="0" y="0"/>
                  </a:moveTo>
                  <a:lnTo>
                    <a:pt x="20482561" y="0"/>
                  </a:lnTo>
                  <a:lnTo>
                    <a:pt x="20482561" y="682752"/>
                  </a:lnTo>
                  <a:lnTo>
                    <a:pt x="0" y="682752"/>
                  </a:lnTo>
                  <a:close/>
                </a:path>
              </a:pathLst>
            </a:custGeom>
            <a:blipFill>
              <a:blip r:embed="rId3">
                <a:alphaModFix amt="0"/>
              </a:blip>
              <a:stretch>
                <a:fillRect l="0" t="-534551" r="0" b="-534551"/>
              </a:stretch>
            </a:blipFill>
          </p:spPr>
        </p:sp>
        <p:sp>
          <p:nvSpPr>
            <p:cNvPr name="TextBox 72" id="72"/>
            <p:cNvSpPr txBox="true"/>
            <p:nvPr/>
          </p:nvSpPr>
          <p:spPr>
            <a:xfrm>
              <a:off x="0" y="-57150"/>
              <a:ext cx="20482560" cy="739902"/>
            </a:xfrm>
            <a:prstGeom prst="rect">
              <a:avLst/>
            </a:prstGeom>
          </p:spPr>
          <p:txBody>
            <a:bodyPr anchor="ctr" rtlCol="false" tIns="0" lIns="0" bIns="0" rIns="0"/>
            <a:lstStyle/>
            <a:p>
              <a:pPr algn="l">
                <a:lnSpc>
                  <a:spcPts val="3120"/>
                </a:lnSpc>
              </a:pPr>
              <a:r>
                <a:rPr lang="en-US" sz="2600" b="true">
                  <a:solidFill>
                    <a:srgbClr val="1A1A1A"/>
                  </a:solidFill>
                  <a:latin typeface="Calibri (MS) Bold"/>
                  <a:ea typeface="Calibri (MS) Bold"/>
                  <a:cs typeface="Calibri (MS) Bold"/>
                  <a:sym typeface="Calibri (MS) Bold"/>
                </a:rPr>
                <a:t>No standard way to verify</a:t>
              </a:r>
            </a:p>
          </p:txBody>
        </p:sp>
      </p:grpSp>
      <p:grpSp>
        <p:nvGrpSpPr>
          <p:cNvPr name="Group 73" id="73"/>
          <p:cNvGrpSpPr/>
          <p:nvPr/>
        </p:nvGrpSpPr>
        <p:grpSpPr>
          <a:xfrm rot="0">
            <a:off x="1975104" y="8705088"/>
            <a:ext cx="15361920" cy="694944"/>
            <a:chOff x="0" y="0"/>
            <a:chExt cx="20482560" cy="926592"/>
          </a:xfrm>
        </p:grpSpPr>
        <p:sp>
          <p:nvSpPr>
            <p:cNvPr name="Freeform 74" id="74"/>
            <p:cNvSpPr/>
            <p:nvPr/>
          </p:nvSpPr>
          <p:spPr>
            <a:xfrm flipH="false" flipV="false" rot="0">
              <a:off x="0" y="0"/>
              <a:ext cx="20482561" cy="926592"/>
            </a:xfrm>
            <a:custGeom>
              <a:avLst/>
              <a:gdLst/>
              <a:ahLst/>
              <a:cxnLst/>
              <a:rect r="r" b="b" t="t" l="l"/>
              <a:pathLst>
                <a:path h="926592" w="20482561">
                  <a:moveTo>
                    <a:pt x="0" y="0"/>
                  </a:moveTo>
                  <a:lnTo>
                    <a:pt x="20482561" y="0"/>
                  </a:lnTo>
                  <a:lnTo>
                    <a:pt x="20482561" y="926592"/>
                  </a:lnTo>
                  <a:lnTo>
                    <a:pt x="0" y="926592"/>
                  </a:lnTo>
                  <a:close/>
                </a:path>
              </a:pathLst>
            </a:custGeom>
            <a:blipFill>
              <a:blip r:embed="rId3">
                <a:alphaModFix amt="0"/>
              </a:blip>
              <a:stretch>
                <a:fillRect l="0" t="-380721" r="0" b="-380721"/>
              </a:stretch>
            </a:blipFill>
          </p:spPr>
        </p:sp>
        <p:sp>
          <p:nvSpPr>
            <p:cNvPr name="TextBox 75" id="75"/>
            <p:cNvSpPr txBox="true"/>
            <p:nvPr/>
          </p:nvSpPr>
          <p:spPr>
            <a:xfrm>
              <a:off x="0" y="-47625"/>
              <a:ext cx="20482560" cy="974217"/>
            </a:xfrm>
            <a:prstGeom prst="rect">
              <a:avLst/>
            </a:prstGeom>
          </p:spPr>
          <p:txBody>
            <a:bodyPr anchor="ctr" rtlCol="false" tIns="0" lIns="0" bIns="0" rIns="0"/>
            <a:lstStyle/>
            <a:p>
              <a:pPr algn="l">
                <a:lnSpc>
                  <a:spcPts val="2640"/>
                </a:lnSpc>
              </a:pPr>
              <a:r>
                <a:rPr lang="en-US" sz="2200">
                  <a:solidFill>
                    <a:srgbClr val="555555"/>
                  </a:solidFill>
                  <a:latin typeface="Calibri (MS)"/>
                  <a:ea typeface="Calibri (MS)"/>
                  <a:cs typeface="Calibri (MS)"/>
                  <a:sym typeface="Calibri (MS)"/>
                </a:rPr>
                <a:t>A Dockerfile that builds can still produce the wrong environment, wrong version, missing binary, bad CMD.</a:t>
              </a:r>
            </a:p>
          </p:txBody>
        </p:sp>
      </p:grpSp>
      <p:grpSp>
        <p:nvGrpSpPr>
          <p:cNvPr name="Group 76" id="76"/>
          <p:cNvGrpSpPr/>
          <p:nvPr/>
        </p:nvGrpSpPr>
        <p:grpSpPr>
          <a:xfrm rot="0">
            <a:off x="2793073" y="9637776"/>
            <a:ext cx="13398519" cy="649224"/>
            <a:chOff x="0" y="0"/>
            <a:chExt cx="17864692" cy="865632"/>
          </a:xfrm>
        </p:grpSpPr>
        <p:sp>
          <p:nvSpPr>
            <p:cNvPr name="Freeform 77" id="77"/>
            <p:cNvSpPr/>
            <p:nvPr/>
          </p:nvSpPr>
          <p:spPr>
            <a:xfrm flipH="false" flipV="false" rot="0">
              <a:off x="0" y="0"/>
              <a:ext cx="17864691" cy="865632"/>
            </a:xfrm>
            <a:custGeom>
              <a:avLst/>
              <a:gdLst/>
              <a:ahLst/>
              <a:cxnLst/>
              <a:rect r="r" b="b" t="t" l="l"/>
              <a:pathLst>
                <a:path h="865632" w="17864691">
                  <a:moveTo>
                    <a:pt x="0" y="0"/>
                  </a:moveTo>
                  <a:lnTo>
                    <a:pt x="17864691" y="0"/>
                  </a:lnTo>
                  <a:lnTo>
                    <a:pt x="17864691" y="865632"/>
                  </a:lnTo>
                  <a:lnTo>
                    <a:pt x="0" y="865632"/>
                  </a:lnTo>
                  <a:close/>
                </a:path>
              </a:pathLst>
            </a:custGeom>
            <a:blipFill>
              <a:blip r:embed="rId3">
                <a:alphaModFix amt="0"/>
              </a:blip>
              <a:stretch>
                <a:fillRect l="0" t="-468137" r="-28849" b="-468137"/>
              </a:stretch>
            </a:blipFill>
          </p:spPr>
        </p:sp>
        <p:sp>
          <p:nvSpPr>
            <p:cNvPr name="TextBox 78" id="78"/>
            <p:cNvSpPr txBox="true"/>
            <p:nvPr/>
          </p:nvSpPr>
          <p:spPr>
            <a:xfrm>
              <a:off x="0" y="-38100"/>
              <a:ext cx="17864692" cy="903732"/>
            </a:xfrm>
            <a:prstGeom prst="rect">
              <a:avLst/>
            </a:prstGeom>
          </p:spPr>
          <p:txBody>
            <a:bodyPr anchor="ctr" rtlCol="false" tIns="0" lIns="0" bIns="0" rIns="0"/>
            <a:lstStyle/>
            <a:p>
              <a:pPr algn="l">
                <a:lnSpc>
                  <a:spcPts val="2039"/>
                </a:lnSpc>
              </a:pPr>
              <a:r>
                <a:rPr lang="en-US" sz="1700" b="true">
                  <a:solidFill>
                    <a:srgbClr val="C0392B"/>
                  </a:solidFill>
                  <a:latin typeface="Calibri (MS) Bold"/>
                  <a:ea typeface="Calibri (MS) Bold"/>
                  <a:cs typeface="Calibri (MS) Bold"/>
                  <a:sym typeface="Calibri (MS) Bold"/>
                </a:rPr>
                <a:t>¹ </a:t>
              </a:r>
              <a:r>
                <a:rPr lang="en-US" sz="1700">
                  <a:solidFill>
                    <a:srgbClr val="555555"/>
                  </a:solidFill>
                  <a:latin typeface="Calibri (MS)"/>
                  <a:ea typeface="Calibri (MS)"/>
                  <a:cs typeface="Calibri (MS)"/>
                  <a:sym typeface="Calibri (MS)"/>
                </a:rPr>
                <a:t>Shipwright: A Human-in-the-Loop System for Dockerfile Repair. ICSE 2021.   </a:t>
              </a:r>
              <a:r>
                <a:rPr lang="en-US" sz="1700" b="true">
                  <a:solidFill>
                    <a:srgbClr val="6B4EAF"/>
                  </a:solidFill>
                  <a:latin typeface="Calibri (MS) Bold"/>
                  <a:ea typeface="Calibri (MS) Bold"/>
                  <a:cs typeface="Calibri (MS) Bold"/>
                  <a:sym typeface="Calibri (MS) Bold"/>
                </a:rPr>
                <a:t>² </a:t>
              </a:r>
              <a:r>
                <a:rPr lang="en-US" sz="1700">
                  <a:solidFill>
                    <a:srgbClr val="555555"/>
                  </a:solidFill>
                  <a:latin typeface="Calibri (MS)"/>
                  <a:ea typeface="Calibri (MS)"/>
                  <a:cs typeface="Calibri (MS)"/>
                  <a:sym typeface="Calibri (MS)"/>
                </a:rPr>
                <a:t>Dockerfile Flakiness: Characterization and Repair. ICSE 2025 (FLAKIDOCK).</a:t>
              </a:r>
            </a:p>
          </p:txBody>
        </p:sp>
      </p:grpSp>
      <p:grpSp>
        <p:nvGrpSpPr>
          <p:cNvPr name="Group 79" id="79"/>
          <p:cNvGrpSpPr/>
          <p:nvPr/>
        </p:nvGrpSpPr>
        <p:grpSpPr>
          <a:xfrm rot="0">
            <a:off x="5226521" y="1748409"/>
            <a:ext cx="694944" cy="402336"/>
            <a:chOff x="0" y="0"/>
            <a:chExt cx="926592" cy="536448"/>
          </a:xfrm>
        </p:grpSpPr>
        <p:sp>
          <p:nvSpPr>
            <p:cNvPr name="Freeform 80" id="80"/>
            <p:cNvSpPr/>
            <p:nvPr/>
          </p:nvSpPr>
          <p:spPr>
            <a:xfrm flipH="false" flipV="false" rot="0">
              <a:off x="0" y="0"/>
              <a:ext cx="926592" cy="536448"/>
            </a:xfrm>
            <a:custGeom>
              <a:avLst/>
              <a:gdLst/>
              <a:ahLst/>
              <a:cxnLst/>
              <a:rect r="r" b="b" t="t" l="l"/>
              <a:pathLst>
                <a:path h="536448" w="926592">
                  <a:moveTo>
                    <a:pt x="0" y="0"/>
                  </a:moveTo>
                  <a:lnTo>
                    <a:pt x="926592" y="0"/>
                  </a:lnTo>
                  <a:lnTo>
                    <a:pt x="926592" y="536448"/>
                  </a:lnTo>
                  <a:lnTo>
                    <a:pt x="0" y="536448"/>
                  </a:lnTo>
                  <a:close/>
                </a:path>
              </a:pathLst>
            </a:custGeom>
            <a:blipFill>
              <a:blip r:embed="rId3">
                <a:alphaModFix amt="0"/>
              </a:blip>
              <a:stretch>
                <a:fillRect l="-24281" t="0" r="-24281" b="0"/>
              </a:stretch>
            </a:blipFill>
          </p:spPr>
        </p:sp>
        <p:sp>
          <p:nvSpPr>
            <p:cNvPr name="TextBox 81" id="81"/>
            <p:cNvSpPr txBox="true"/>
            <p:nvPr/>
          </p:nvSpPr>
          <p:spPr>
            <a:xfrm>
              <a:off x="0" y="-38100"/>
              <a:ext cx="926592" cy="574548"/>
            </a:xfrm>
            <a:prstGeom prst="rect">
              <a:avLst/>
            </a:prstGeom>
          </p:spPr>
          <p:txBody>
            <a:bodyPr anchor="ctr" rtlCol="false" tIns="0" lIns="0" bIns="0" rIns="0"/>
            <a:lstStyle/>
            <a:p>
              <a:pPr algn="r">
                <a:lnSpc>
                  <a:spcPts val="2279"/>
                </a:lnSpc>
              </a:pPr>
              <a:r>
                <a:rPr lang="en-US" sz="1899" b="true">
                  <a:solidFill>
                    <a:srgbClr val="C0392B"/>
                  </a:solidFill>
                  <a:latin typeface="Calibri (MS) Bold"/>
                  <a:ea typeface="Calibri (MS) Bold"/>
                  <a:cs typeface="Calibri (MS) Bold"/>
                  <a:sym typeface="Calibri (MS) Bold"/>
                </a:rPr>
                <a:t>¹</a:t>
              </a:r>
            </a:p>
          </p:txBody>
        </p:sp>
      </p:grpSp>
      <p:grpSp>
        <p:nvGrpSpPr>
          <p:cNvPr name="Group 82" id="82"/>
          <p:cNvGrpSpPr/>
          <p:nvPr/>
        </p:nvGrpSpPr>
        <p:grpSpPr>
          <a:xfrm rot="0">
            <a:off x="11115257" y="1748409"/>
            <a:ext cx="694944" cy="402336"/>
            <a:chOff x="0" y="0"/>
            <a:chExt cx="926592" cy="536448"/>
          </a:xfrm>
        </p:grpSpPr>
        <p:sp>
          <p:nvSpPr>
            <p:cNvPr name="Freeform 83" id="83"/>
            <p:cNvSpPr/>
            <p:nvPr/>
          </p:nvSpPr>
          <p:spPr>
            <a:xfrm flipH="false" flipV="false" rot="0">
              <a:off x="0" y="0"/>
              <a:ext cx="926592" cy="536448"/>
            </a:xfrm>
            <a:custGeom>
              <a:avLst/>
              <a:gdLst/>
              <a:ahLst/>
              <a:cxnLst/>
              <a:rect r="r" b="b" t="t" l="l"/>
              <a:pathLst>
                <a:path h="536448" w="926592">
                  <a:moveTo>
                    <a:pt x="0" y="0"/>
                  </a:moveTo>
                  <a:lnTo>
                    <a:pt x="926592" y="0"/>
                  </a:lnTo>
                  <a:lnTo>
                    <a:pt x="926592" y="536448"/>
                  </a:lnTo>
                  <a:lnTo>
                    <a:pt x="0" y="536448"/>
                  </a:lnTo>
                  <a:close/>
                </a:path>
              </a:pathLst>
            </a:custGeom>
            <a:blipFill>
              <a:blip r:embed="rId3">
                <a:alphaModFix amt="0"/>
              </a:blip>
              <a:stretch>
                <a:fillRect l="-24281" t="0" r="-24281" b="0"/>
              </a:stretch>
            </a:blipFill>
          </p:spPr>
        </p:sp>
        <p:sp>
          <p:nvSpPr>
            <p:cNvPr name="TextBox 84" id="84"/>
            <p:cNvSpPr txBox="true"/>
            <p:nvPr/>
          </p:nvSpPr>
          <p:spPr>
            <a:xfrm>
              <a:off x="0" y="-38100"/>
              <a:ext cx="926592" cy="574548"/>
            </a:xfrm>
            <a:prstGeom prst="rect">
              <a:avLst/>
            </a:prstGeom>
          </p:spPr>
          <p:txBody>
            <a:bodyPr anchor="ctr" rtlCol="false" tIns="0" lIns="0" bIns="0" rIns="0"/>
            <a:lstStyle/>
            <a:p>
              <a:pPr algn="r">
                <a:lnSpc>
                  <a:spcPts val="2160"/>
                </a:lnSpc>
              </a:pPr>
              <a:r>
                <a:rPr lang="en-US" sz="1800" b="true">
                  <a:solidFill>
                    <a:srgbClr val="6B4EAF"/>
                  </a:solidFill>
                  <a:latin typeface="Calibri (MS) Bold"/>
                  <a:ea typeface="Calibri (MS) Bold"/>
                  <a:cs typeface="Calibri (MS) Bold"/>
                  <a:sym typeface="Calibri (MS) Bold"/>
                </a:rPr>
                <a:t>²</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74464" y="7998637"/>
            <a:ext cx="16459200" cy="1123801"/>
            <a:chOff x="0" y="0"/>
            <a:chExt cx="21945600" cy="1498402"/>
          </a:xfrm>
        </p:grpSpPr>
        <p:sp>
          <p:nvSpPr>
            <p:cNvPr name="Freeform 3" id="3"/>
            <p:cNvSpPr/>
            <p:nvPr/>
          </p:nvSpPr>
          <p:spPr>
            <a:xfrm flipH="false" flipV="false" rot="0">
              <a:off x="0" y="0"/>
              <a:ext cx="21945600" cy="1498402"/>
            </a:xfrm>
            <a:custGeom>
              <a:avLst/>
              <a:gdLst/>
              <a:ahLst/>
              <a:cxnLst/>
              <a:rect r="r" b="b" t="t" l="l"/>
              <a:pathLst>
                <a:path h="1498402" w="21945600">
                  <a:moveTo>
                    <a:pt x="0" y="0"/>
                  </a:moveTo>
                  <a:lnTo>
                    <a:pt x="21945600" y="0"/>
                  </a:lnTo>
                  <a:lnTo>
                    <a:pt x="21945600" y="1498402"/>
                  </a:lnTo>
                  <a:lnTo>
                    <a:pt x="0" y="1498402"/>
                  </a:lnTo>
                  <a:close/>
                </a:path>
              </a:pathLst>
            </a:custGeom>
            <a:blipFill>
              <a:blip r:embed="rId3">
                <a:alphaModFix amt="0"/>
              </a:blip>
              <a:stretch>
                <a:fillRect l="0" t="-240626" r="0" b="-230129"/>
              </a:stretch>
            </a:blipFill>
          </p:spPr>
        </p:sp>
        <p:sp>
          <p:nvSpPr>
            <p:cNvPr name="TextBox 4" id="4"/>
            <p:cNvSpPr txBox="true"/>
            <p:nvPr/>
          </p:nvSpPr>
          <p:spPr>
            <a:xfrm>
              <a:off x="0" y="-114300"/>
              <a:ext cx="21945600" cy="1612702"/>
            </a:xfrm>
            <a:prstGeom prst="rect">
              <a:avLst/>
            </a:prstGeom>
          </p:spPr>
          <p:txBody>
            <a:bodyPr anchor="ctr" rtlCol="false" tIns="0" lIns="0" bIns="0" rIns="0"/>
            <a:lstStyle/>
            <a:p>
              <a:pPr algn="l">
                <a:lnSpc>
                  <a:spcPts val="6719"/>
                </a:lnSpc>
              </a:pPr>
              <a:r>
                <a:rPr lang="en-US" sz="5599" b="true">
                  <a:solidFill>
                    <a:srgbClr val="FFFFFF"/>
                  </a:solidFill>
                  <a:latin typeface="Calibri (MS) Bold"/>
                  <a:ea typeface="Calibri (MS) Bold"/>
                  <a:cs typeface="Calibri (MS) Bold"/>
                  <a:sym typeface="Calibri (MS) Bold"/>
                </a:rPr>
                <a:t>Problem Statement</a:t>
              </a:r>
            </a:p>
          </p:txBody>
        </p:sp>
      </p:grpSp>
      <p:grpSp>
        <p:nvGrpSpPr>
          <p:cNvPr name="Group 5" id="5"/>
          <p:cNvGrpSpPr/>
          <p:nvPr/>
        </p:nvGrpSpPr>
        <p:grpSpPr>
          <a:xfrm rot="0">
            <a:off x="925904" y="1948204"/>
            <a:ext cx="16081936" cy="1709396"/>
            <a:chOff x="0" y="0"/>
            <a:chExt cx="21105144" cy="2243328"/>
          </a:xfrm>
        </p:grpSpPr>
        <p:sp>
          <p:nvSpPr>
            <p:cNvPr name="Freeform 6" id="6"/>
            <p:cNvSpPr/>
            <p:nvPr/>
          </p:nvSpPr>
          <p:spPr>
            <a:xfrm flipH="false" flipV="false" rot="0">
              <a:off x="0" y="0"/>
              <a:ext cx="21105143" cy="2243328"/>
            </a:xfrm>
            <a:custGeom>
              <a:avLst/>
              <a:gdLst/>
              <a:ahLst/>
              <a:cxnLst/>
              <a:rect r="r" b="b" t="t" l="l"/>
              <a:pathLst>
                <a:path h="2243328" w="21105143">
                  <a:moveTo>
                    <a:pt x="0" y="0"/>
                  </a:moveTo>
                  <a:lnTo>
                    <a:pt x="21105143" y="0"/>
                  </a:lnTo>
                  <a:lnTo>
                    <a:pt x="21105143" y="2243328"/>
                  </a:lnTo>
                  <a:lnTo>
                    <a:pt x="0" y="2243328"/>
                  </a:lnTo>
                  <a:close/>
                </a:path>
              </a:pathLst>
            </a:custGeom>
            <a:blipFill>
              <a:blip r:embed="rId3">
                <a:alphaModFix amt="0"/>
              </a:blip>
              <a:stretch>
                <a:fillRect l="0" t="-132142" r="639" b="-132142"/>
              </a:stretch>
            </a:blipFill>
          </p:spPr>
        </p:sp>
        <p:sp>
          <p:nvSpPr>
            <p:cNvPr name="TextBox 7" id="7"/>
            <p:cNvSpPr txBox="true"/>
            <p:nvPr/>
          </p:nvSpPr>
          <p:spPr>
            <a:xfrm>
              <a:off x="0" y="-57150"/>
              <a:ext cx="21105144" cy="2300478"/>
            </a:xfrm>
            <a:prstGeom prst="rect">
              <a:avLst/>
            </a:prstGeom>
          </p:spPr>
          <p:txBody>
            <a:bodyPr anchor="ctr" rtlCol="false" tIns="0" lIns="0" bIns="0" rIns="0"/>
            <a:lstStyle/>
            <a:p>
              <a:pPr algn="just">
                <a:lnSpc>
                  <a:spcPts val="3240"/>
                </a:lnSpc>
              </a:pPr>
              <a:r>
                <a:rPr lang="en-US" sz="2700">
                  <a:solidFill>
                    <a:srgbClr val="0A1520"/>
                  </a:solidFill>
                  <a:latin typeface="Calibri (MS)"/>
                  <a:ea typeface="Calibri (MS)"/>
                  <a:cs typeface="Calibri (MS)"/>
                  <a:sym typeface="Calibri (MS)"/>
                </a:rPr>
                <a:t>Setting up Docker environments is difficult, time consuming, and fragile. Developers must manually write Dockerfiles, verify the container environment is correct, and deal with builds that silently break over time all without automated tooling.</a:t>
              </a:r>
            </a:p>
          </p:txBody>
        </p:sp>
      </p:grpSp>
      <p:grpSp>
        <p:nvGrpSpPr>
          <p:cNvPr name="Group 8" id="8"/>
          <p:cNvGrpSpPr/>
          <p:nvPr/>
        </p:nvGrpSpPr>
        <p:grpSpPr>
          <a:xfrm rot="0">
            <a:off x="914400" y="4156967"/>
            <a:ext cx="4994202" cy="5193863"/>
            <a:chOff x="0" y="0"/>
            <a:chExt cx="6785201" cy="7056463"/>
          </a:xfrm>
        </p:grpSpPr>
        <p:sp>
          <p:nvSpPr>
            <p:cNvPr name="Freeform 9" id="9"/>
            <p:cNvSpPr/>
            <p:nvPr/>
          </p:nvSpPr>
          <p:spPr>
            <a:xfrm flipH="false" flipV="false" rot="0">
              <a:off x="0" y="0"/>
              <a:ext cx="6785239" cy="7056501"/>
            </a:xfrm>
            <a:custGeom>
              <a:avLst/>
              <a:gdLst/>
              <a:ahLst/>
              <a:cxnLst/>
              <a:rect r="r" b="b" t="t" l="l"/>
              <a:pathLst>
                <a:path h="7056501" w="6785239">
                  <a:moveTo>
                    <a:pt x="0" y="0"/>
                  </a:moveTo>
                  <a:lnTo>
                    <a:pt x="6785239" y="0"/>
                  </a:lnTo>
                  <a:lnTo>
                    <a:pt x="6785239" y="7056501"/>
                  </a:lnTo>
                  <a:lnTo>
                    <a:pt x="0" y="7056501"/>
                  </a:lnTo>
                  <a:close/>
                </a:path>
              </a:pathLst>
            </a:custGeom>
            <a:solidFill>
              <a:srgbClr val="0D1B35"/>
            </a:solidFill>
            <a:ln w="25400" cap="sq">
              <a:solidFill>
                <a:srgbClr val="C0392B"/>
              </a:solidFill>
              <a:prstDash val="solid"/>
              <a:miter/>
            </a:ln>
          </p:spPr>
        </p:sp>
      </p:grpSp>
      <p:grpSp>
        <p:nvGrpSpPr>
          <p:cNvPr name="Group 10" id="10"/>
          <p:cNvGrpSpPr/>
          <p:nvPr/>
        </p:nvGrpSpPr>
        <p:grpSpPr>
          <a:xfrm rot="0">
            <a:off x="914400" y="4156967"/>
            <a:ext cx="4994202" cy="706942"/>
            <a:chOff x="0" y="0"/>
            <a:chExt cx="6785201" cy="960463"/>
          </a:xfrm>
        </p:grpSpPr>
        <p:sp>
          <p:nvSpPr>
            <p:cNvPr name="Freeform 11" id="11"/>
            <p:cNvSpPr/>
            <p:nvPr/>
          </p:nvSpPr>
          <p:spPr>
            <a:xfrm flipH="false" flipV="false" rot="0">
              <a:off x="0" y="0"/>
              <a:ext cx="6785239" cy="960501"/>
            </a:xfrm>
            <a:custGeom>
              <a:avLst/>
              <a:gdLst/>
              <a:ahLst/>
              <a:cxnLst/>
              <a:rect r="r" b="b" t="t" l="l"/>
              <a:pathLst>
                <a:path h="960501" w="6785239">
                  <a:moveTo>
                    <a:pt x="0" y="0"/>
                  </a:moveTo>
                  <a:lnTo>
                    <a:pt x="6785239" y="0"/>
                  </a:lnTo>
                  <a:lnTo>
                    <a:pt x="6785239" y="960501"/>
                  </a:lnTo>
                  <a:lnTo>
                    <a:pt x="0" y="960501"/>
                  </a:lnTo>
                  <a:close/>
                </a:path>
              </a:pathLst>
            </a:custGeom>
            <a:solidFill>
              <a:srgbClr val="C0392B"/>
            </a:solidFill>
            <a:ln w="25400" cap="sq">
              <a:solidFill>
                <a:srgbClr val="C0392B"/>
              </a:solidFill>
              <a:prstDash val="solid"/>
              <a:miter/>
            </a:ln>
          </p:spPr>
        </p:sp>
      </p:grpSp>
      <p:grpSp>
        <p:nvGrpSpPr>
          <p:cNvPr name="Group 12" id="12"/>
          <p:cNvGrpSpPr/>
          <p:nvPr/>
        </p:nvGrpSpPr>
        <p:grpSpPr>
          <a:xfrm rot="0">
            <a:off x="925904" y="4169428"/>
            <a:ext cx="4971184" cy="682012"/>
            <a:chOff x="0" y="0"/>
            <a:chExt cx="6753929" cy="926592"/>
          </a:xfrm>
        </p:grpSpPr>
        <p:sp>
          <p:nvSpPr>
            <p:cNvPr name="Freeform 13" id="13"/>
            <p:cNvSpPr/>
            <p:nvPr/>
          </p:nvSpPr>
          <p:spPr>
            <a:xfrm flipH="false" flipV="false" rot="0">
              <a:off x="0" y="0"/>
              <a:ext cx="6753929" cy="926592"/>
            </a:xfrm>
            <a:custGeom>
              <a:avLst/>
              <a:gdLst/>
              <a:ahLst/>
              <a:cxnLst/>
              <a:rect r="r" b="b" t="t" l="l"/>
              <a:pathLst>
                <a:path h="926592" w="6753929">
                  <a:moveTo>
                    <a:pt x="0" y="0"/>
                  </a:moveTo>
                  <a:lnTo>
                    <a:pt x="6753929" y="0"/>
                  </a:lnTo>
                  <a:lnTo>
                    <a:pt x="6753929" y="926592"/>
                  </a:lnTo>
                  <a:lnTo>
                    <a:pt x="0" y="926592"/>
                  </a:lnTo>
                  <a:close/>
                </a:path>
              </a:pathLst>
            </a:custGeom>
            <a:blipFill>
              <a:blip r:embed="rId3">
                <a:alphaModFix amt="0"/>
              </a:blip>
              <a:stretch>
                <a:fillRect l="0" t="-103829" r="-8310" b="-103829"/>
              </a:stretch>
            </a:blipFill>
          </p:spPr>
        </p:sp>
        <p:sp>
          <p:nvSpPr>
            <p:cNvPr name="TextBox 14" id="14"/>
            <p:cNvSpPr txBox="true"/>
            <p:nvPr/>
          </p:nvSpPr>
          <p:spPr>
            <a:xfrm>
              <a:off x="0" y="-47625"/>
              <a:ext cx="6753929" cy="974217"/>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Problem 1</a:t>
              </a:r>
            </a:p>
          </p:txBody>
        </p:sp>
      </p:grpSp>
      <p:grpSp>
        <p:nvGrpSpPr>
          <p:cNvPr name="Group 15" id="15"/>
          <p:cNvGrpSpPr/>
          <p:nvPr/>
        </p:nvGrpSpPr>
        <p:grpSpPr>
          <a:xfrm rot="0">
            <a:off x="1174464" y="4995021"/>
            <a:ext cx="4474066" cy="682012"/>
            <a:chOff x="0" y="0"/>
            <a:chExt cx="6078536" cy="926592"/>
          </a:xfrm>
        </p:grpSpPr>
        <p:sp>
          <p:nvSpPr>
            <p:cNvPr name="Freeform 16" id="16"/>
            <p:cNvSpPr/>
            <p:nvPr/>
          </p:nvSpPr>
          <p:spPr>
            <a:xfrm flipH="false" flipV="false" rot="0">
              <a:off x="0" y="0"/>
              <a:ext cx="6078536" cy="926592"/>
            </a:xfrm>
            <a:custGeom>
              <a:avLst/>
              <a:gdLst/>
              <a:ahLst/>
              <a:cxnLst/>
              <a:rect r="r" b="b" t="t" l="l"/>
              <a:pathLst>
                <a:path h="926592" w="6078536">
                  <a:moveTo>
                    <a:pt x="0" y="0"/>
                  </a:moveTo>
                  <a:lnTo>
                    <a:pt x="6078536" y="0"/>
                  </a:lnTo>
                  <a:lnTo>
                    <a:pt x="6078536" y="926592"/>
                  </a:lnTo>
                  <a:lnTo>
                    <a:pt x="0" y="926592"/>
                  </a:lnTo>
                  <a:close/>
                </a:path>
              </a:pathLst>
            </a:custGeom>
            <a:blipFill>
              <a:blip r:embed="rId3">
                <a:alphaModFix amt="0"/>
              </a:blip>
              <a:stretch>
                <a:fillRect l="0" t="-88446" r="-8310" b="-88446"/>
              </a:stretch>
            </a:blipFill>
          </p:spPr>
        </p:sp>
        <p:sp>
          <p:nvSpPr>
            <p:cNvPr name="TextBox 17" id="17"/>
            <p:cNvSpPr txBox="true"/>
            <p:nvPr/>
          </p:nvSpPr>
          <p:spPr>
            <a:xfrm>
              <a:off x="0" y="-47625"/>
              <a:ext cx="6078536" cy="974217"/>
            </a:xfrm>
            <a:prstGeom prst="rect">
              <a:avLst/>
            </a:prstGeom>
          </p:spPr>
          <p:txBody>
            <a:bodyPr anchor="ctr" rtlCol="false" tIns="0" lIns="0" bIns="0" rIns="0"/>
            <a:lstStyle/>
            <a:p>
              <a:pPr algn="ctr">
                <a:lnSpc>
                  <a:spcPts val="2999"/>
                </a:lnSpc>
              </a:pPr>
              <a:r>
                <a:rPr lang="en-US" sz="2499" b="true">
                  <a:solidFill>
                    <a:srgbClr val="FFFFFF"/>
                  </a:solidFill>
                  <a:latin typeface="Calibri (MS) Bold"/>
                  <a:ea typeface="Calibri (MS) Bold"/>
                  <a:cs typeface="Calibri (MS) Bold"/>
                  <a:sym typeface="Calibri (MS) Bold"/>
                </a:rPr>
                <a:t>No Dockerfile Exists</a:t>
              </a:r>
            </a:p>
          </p:txBody>
        </p:sp>
      </p:grpSp>
      <p:grpSp>
        <p:nvGrpSpPr>
          <p:cNvPr name="Group 18" id="18"/>
          <p:cNvGrpSpPr/>
          <p:nvPr/>
        </p:nvGrpSpPr>
        <p:grpSpPr>
          <a:xfrm rot="0">
            <a:off x="1174464" y="5784719"/>
            <a:ext cx="4474066" cy="2321994"/>
            <a:chOff x="0" y="0"/>
            <a:chExt cx="6078536" cy="3154697"/>
          </a:xfrm>
        </p:grpSpPr>
        <p:sp>
          <p:nvSpPr>
            <p:cNvPr name="Freeform 19" id="19"/>
            <p:cNvSpPr/>
            <p:nvPr/>
          </p:nvSpPr>
          <p:spPr>
            <a:xfrm flipH="false" flipV="false" rot="0">
              <a:off x="0" y="0"/>
              <a:ext cx="6078536" cy="3154697"/>
            </a:xfrm>
            <a:custGeom>
              <a:avLst/>
              <a:gdLst/>
              <a:ahLst/>
              <a:cxnLst/>
              <a:rect r="r" b="b" t="t" l="l"/>
              <a:pathLst>
                <a:path h="3154697" w="6078536">
                  <a:moveTo>
                    <a:pt x="0" y="0"/>
                  </a:moveTo>
                  <a:lnTo>
                    <a:pt x="6078536" y="0"/>
                  </a:lnTo>
                  <a:lnTo>
                    <a:pt x="6078536" y="3154697"/>
                  </a:lnTo>
                  <a:lnTo>
                    <a:pt x="0" y="3154697"/>
                  </a:lnTo>
                  <a:close/>
                </a:path>
              </a:pathLst>
            </a:custGeom>
            <a:blipFill>
              <a:blip r:embed="rId3">
                <a:alphaModFix amt="0"/>
              </a:blip>
              <a:stretch>
                <a:fillRect l="-38488" t="0" r="-46799" b="-39129"/>
              </a:stretch>
            </a:blipFill>
          </p:spPr>
        </p:sp>
        <p:sp>
          <p:nvSpPr>
            <p:cNvPr name="TextBox 20" id="20"/>
            <p:cNvSpPr txBox="true"/>
            <p:nvPr/>
          </p:nvSpPr>
          <p:spPr>
            <a:xfrm>
              <a:off x="0" y="-38100"/>
              <a:ext cx="6078536" cy="3192797"/>
            </a:xfrm>
            <a:prstGeom prst="rect">
              <a:avLst/>
            </a:prstGeom>
          </p:spPr>
          <p:txBody>
            <a:bodyPr anchor="ctr" rtlCol="false" tIns="0" lIns="0" bIns="0" rIns="0"/>
            <a:lstStyle/>
            <a:p>
              <a:pPr algn="just">
                <a:lnSpc>
                  <a:spcPts val="2879"/>
                </a:lnSpc>
              </a:pPr>
              <a:r>
                <a:rPr lang="en-US" sz="2400">
                  <a:solidFill>
                    <a:srgbClr val="99AACC"/>
                  </a:solidFill>
                  <a:latin typeface="Calibri (MS)"/>
                  <a:ea typeface="Calibri (MS)"/>
                  <a:cs typeface="Calibri (MS)"/>
                  <a:sym typeface="Calibri (MS)"/>
                </a:rPr>
                <a:t>Developer must read the project, understand its stack, and write Docker setup from scratch. Error-prone and repetitive.</a:t>
              </a:r>
            </a:p>
          </p:txBody>
        </p:sp>
      </p:grpSp>
      <p:grpSp>
        <p:nvGrpSpPr>
          <p:cNvPr name="Group 21" id="21"/>
          <p:cNvGrpSpPr/>
          <p:nvPr/>
        </p:nvGrpSpPr>
        <p:grpSpPr>
          <a:xfrm rot="0">
            <a:off x="6680127" y="4156967"/>
            <a:ext cx="5091763" cy="5193863"/>
            <a:chOff x="0" y="0"/>
            <a:chExt cx="6789018" cy="6925150"/>
          </a:xfrm>
        </p:grpSpPr>
        <p:sp>
          <p:nvSpPr>
            <p:cNvPr name="Freeform 22" id="22"/>
            <p:cNvSpPr/>
            <p:nvPr/>
          </p:nvSpPr>
          <p:spPr>
            <a:xfrm flipH="false" flipV="false" rot="0">
              <a:off x="0" y="0"/>
              <a:ext cx="6789056" cy="6925188"/>
            </a:xfrm>
            <a:custGeom>
              <a:avLst/>
              <a:gdLst/>
              <a:ahLst/>
              <a:cxnLst/>
              <a:rect r="r" b="b" t="t" l="l"/>
              <a:pathLst>
                <a:path h="6925188" w="6789056">
                  <a:moveTo>
                    <a:pt x="0" y="0"/>
                  </a:moveTo>
                  <a:lnTo>
                    <a:pt x="6789056" y="0"/>
                  </a:lnTo>
                  <a:lnTo>
                    <a:pt x="6789056" y="6925188"/>
                  </a:lnTo>
                  <a:lnTo>
                    <a:pt x="0" y="6925188"/>
                  </a:lnTo>
                  <a:close/>
                </a:path>
              </a:pathLst>
            </a:custGeom>
            <a:solidFill>
              <a:srgbClr val="0D1B35"/>
            </a:solidFill>
            <a:ln w="25400" cap="sq">
              <a:solidFill>
                <a:srgbClr val="6B4EAF"/>
              </a:solidFill>
              <a:prstDash val="solid"/>
              <a:miter/>
            </a:ln>
          </p:spPr>
        </p:sp>
      </p:grpSp>
      <p:grpSp>
        <p:nvGrpSpPr>
          <p:cNvPr name="Group 23" id="23"/>
          <p:cNvGrpSpPr/>
          <p:nvPr/>
        </p:nvGrpSpPr>
        <p:grpSpPr>
          <a:xfrm rot="0">
            <a:off x="6680127" y="4156967"/>
            <a:ext cx="5091763" cy="720347"/>
            <a:chOff x="0" y="0"/>
            <a:chExt cx="6789018" cy="960463"/>
          </a:xfrm>
        </p:grpSpPr>
        <p:sp>
          <p:nvSpPr>
            <p:cNvPr name="Freeform 24" id="24"/>
            <p:cNvSpPr/>
            <p:nvPr/>
          </p:nvSpPr>
          <p:spPr>
            <a:xfrm flipH="false" flipV="false" rot="0">
              <a:off x="0" y="0"/>
              <a:ext cx="6789056" cy="960501"/>
            </a:xfrm>
            <a:custGeom>
              <a:avLst/>
              <a:gdLst/>
              <a:ahLst/>
              <a:cxnLst/>
              <a:rect r="r" b="b" t="t" l="l"/>
              <a:pathLst>
                <a:path h="960501" w="6789056">
                  <a:moveTo>
                    <a:pt x="0" y="0"/>
                  </a:moveTo>
                  <a:lnTo>
                    <a:pt x="6789056" y="0"/>
                  </a:lnTo>
                  <a:lnTo>
                    <a:pt x="6789056" y="960501"/>
                  </a:lnTo>
                  <a:lnTo>
                    <a:pt x="0" y="960501"/>
                  </a:lnTo>
                  <a:close/>
                </a:path>
              </a:pathLst>
            </a:custGeom>
            <a:solidFill>
              <a:srgbClr val="6B4EAF"/>
            </a:solidFill>
            <a:ln w="25400" cap="sq">
              <a:solidFill>
                <a:srgbClr val="6B4EAF"/>
              </a:solidFill>
              <a:prstDash val="solid"/>
              <a:miter/>
            </a:ln>
          </p:spPr>
        </p:sp>
      </p:grpSp>
      <p:grpSp>
        <p:nvGrpSpPr>
          <p:cNvPr name="Group 25" id="25"/>
          <p:cNvGrpSpPr/>
          <p:nvPr/>
        </p:nvGrpSpPr>
        <p:grpSpPr>
          <a:xfrm rot="0">
            <a:off x="6691856" y="4169664"/>
            <a:ext cx="5068296" cy="694944"/>
            <a:chOff x="0" y="0"/>
            <a:chExt cx="6757728" cy="926592"/>
          </a:xfrm>
        </p:grpSpPr>
        <p:sp>
          <p:nvSpPr>
            <p:cNvPr name="Freeform 26" id="26"/>
            <p:cNvSpPr/>
            <p:nvPr/>
          </p:nvSpPr>
          <p:spPr>
            <a:xfrm flipH="false" flipV="false" rot="0">
              <a:off x="0" y="0"/>
              <a:ext cx="6757729" cy="926592"/>
            </a:xfrm>
            <a:custGeom>
              <a:avLst/>
              <a:gdLst/>
              <a:ahLst/>
              <a:cxnLst/>
              <a:rect r="r" b="b" t="t" l="l"/>
              <a:pathLst>
                <a:path h="926592" w="6757729">
                  <a:moveTo>
                    <a:pt x="0" y="0"/>
                  </a:moveTo>
                  <a:lnTo>
                    <a:pt x="6757729" y="0"/>
                  </a:lnTo>
                  <a:lnTo>
                    <a:pt x="6757729" y="926592"/>
                  </a:lnTo>
                  <a:lnTo>
                    <a:pt x="0" y="926592"/>
                  </a:lnTo>
                  <a:close/>
                </a:path>
              </a:pathLst>
            </a:custGeom>
            <a:blipFill>
              <a:blip r:embed="rId3">
                <a:alphaModFix amt="0"/>
              </a:blip>
              <a:stretch>
                <a:fillRect l="0" t="-103829" r="-8249" b="-103829"/>
              </a:stretch>
            </a:blipFill>
          </p:spPr>
        </p:sp>
        <p:sp>
          <p:nvSpPr>
            <p:cNvPr name="TextBox 27" id="27"/>
            <p:cNvSpPr txBox="true"/>
            <p:nvPr/>
          </p:nvSpPr>
          <p:spPr>
            <a:xfrm>
              <a:off x="0" y="-47625"/>
              <a:ext cx="6757728" cy="974217"/>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Problem 2</a:t>
              </a:r>
            </a:p>
          </p:txBody>
        </p:sp>
      </p:grpSp>
      <p:grpSp>
        <p:nvGrpSpPr>
          <p:cNvPr name="Group 28" id="28"/>
          <p:cNvGrpSpPr/>
          <p:nvPr/>
        </p:nvGrpSpPr>
        <p:grpSpPr>
          <a:xfrm rot="0">
            <a:off x="6945271" y="5010912"/>
            <a:ext cx="4561467" cy="694944"/>
            <a:chOff x="0" y="0"/>
            <a:chExt cx="6081955" cy="926592"/>
          </a:xfrm>
        </p:grpSpPr>
        <p:sp>
          <p:nvSpPr>
            <p:cNvPr name="Freeform 29" id="29"/>
            <p:cNvSpPr/>
            <p:nvPr/>
          </p:nvSpPr>
          <p:spPr>
            <a:xfrm flipH="false" flipV="false" rot="0">
              <a:off x="0" y="0"/>
              <a:ext cx="6081956" cy="926592"/>
            </a:xfrm>
            <a:custGeom>
              <a:avLst/>
              <a:gdLst/>
              <a:ahLst/>
              <a:cxnLst/>
              <a:rect r="r" b="b" t="t" l="l"/>
              <a:pathLst>
                <a:path h="926592" w="6081956">
                  <a:moveTo>
                    <a:pt x="0" y="0"/>
                  </a:moveTo>
                  <a:lnTo>
                    <a:pt x="6081956" y="0"/>
                  </a:lnTo>
                  <a:lnTo>
                    <a:pt x="6081956" y="926592"/>
                  </a:lnTo>
                  <a:lnTo>
                    <a:pt x="0" y="926592"/>
                  </a:lnTo>
                  <a:close/>
                </a:path>
              </a:pathLst>
            </a:custGeom>
            <a:blipFill>
              <a:blip r:embed="rId3">
                <a:alphaModFix amt="0"/>
              </a:blip>
              <a:stretch>
                <a:fillRect l="0" t="-88446" r="-8249" b="-88446"/>
              </a:stretch>
            </a:blipFill>
          </p:spPr>
        </p:sp>
        <p:sp>
          <p:nvSpPr>
            <p:cNvPr name="TextBox 30" id="30"/>
            <p:cNvSpPr txBox="true"/>
            <p:nvPr/>
          </p:nvSpPr>
          <p:spPr>
            <a:xfrm>
              <a:off x="0" y="-47625"/>
              <a:ext cx="6081955" cy="974217"/>
            </a:xfrm>
            <a:prstGeom prst="rect">
              <a:avLst/>
            </a:prstGeom>
          </p:spPr>
          <p:txBody>
            <a:bodyPr anchor="ctr" rtlCol="false" tIns="0" lIns="0" bIns="0" rIns="0"/>
            <a:lstStyle/>
            <a:p>
              <a:pPr algn="ctr">
                <a:lnSpc>
                  <a:spcPts val="2999"/>
                </a:lnSpc>
              </a:pPr>
              <a:r>
                <a:rPr lang="en-US" sz="2499" b="true">
                  <a:solidFill>
                    <a:srgbClr val="FFFFFF"/>
                  </a:solidFill>
                  <a:latin typeface="Calibri (MS) Bold"/>
                  <a:ea typeface="Calibri (MS) Bold"/>
                  <a:cs typeface="Calibri (MS) Bold"/>
                  <a:sym typeface="Calibri (MS) Bold"/>
                </a:rPr>
                <a:t>No Correctness Guarantee</a:t>
              </a:r>
            </a:p>
          </p:txBody>
        </p:sp>
      </p:grpSp>
      <p:grpSp>
        <p:nvGrpSpPr>
          <p:cNvPr name="Group 31" id="31"/>
          <p:cNvGrpSpPr/>
          <p:nvPr/>
        </p:nvGrpSpPr>
        <p:grpSpPr>
          <a:xfrm rot="0">
            <a:off x="6945271" y="5815584"/>
            <a:ext cx="4561467" cy="2183053"/>
            <a:chOff x="0" y="0"/>
            <a:chExt cx="6081955" cy="2910738"/>
          </a:xfrm>
        </p:grpSpPr>
        <p:sp>
          <p:nvSpPr>
            <p:cNvPr name="Freeform 32" id="32"/>
            <p:cNvSpPr/>
            <p:nvPr/>
          </p:nvSpPr>
          <p:spPr>
            <a:xfrm flipH="false" flipV="false" rot="0">
              <a:off x="0" y="0"/>
              <a:ext cx="6081956" cy="2910738"/>
            </a:xfrm>
            <a:custGeom>
              <a:avLst/>
              <a:gdLst/>
              <a:ahLst/>
              <a:cxnLst/>
              <a:rect r="r" b="b" t="t" l="l"/>
              <a:pathLst>
                <a:path h="2910738" w="6081956">
                  <a:moveTo>
                    <a:pt x="0" y="0"/>
                  </a:moveTo>
                  <a:lnTo>
                    <a:pt x="6081956" y="0"/>
                  </a:lnTo>
                  <a:lnTo>
                    <a:pt x="6081956" y="2910738"/>
                  </a:lnTo>
                  <a:lnTo>
                    <a:pt x="0" y="2910738"/>
                  </a:lnTo>
                  <a:close/>
                </a:path>
              </a:pathLst>
            </a:custGeom>
            <a:blipFill>
              <a:blip r:embed="rId3">
                <a:alphaModFix amt="0"/>
              </a:blip>
              <a:stretch>
                <a:fillRect l="-38467" t="0" r="-46716" b="-50790"/>
              </a:stretch>
            </a:blipFill>
          </p:spPr>
        </p:sp>
        <p:sp>
          <p:nvSpPr>
            <p:cNvPr name="TextBox 33" id="33"/>
            <p:cNvSpPr txBox="true"/>
            <p:nvPr/>
          </p:nvSpPr>
          <p:spPr>
            <a:xfrm>
              <a:off x="0" y="-38100"/>
              <a:ext cx="6081955" cy="2948838"/>
            </a:xfrm>
            <a:prstGeom prst="rect">
              <a:avLst/>
            </a:prstGeom>
          </p:spPr>
          <p:txBody>
            <a:bodyPr anchor="ctr" rtlCol="false" tIns="0" lIns="0" bIns="0" rIns="0"/>
            <a:lstStyle/>
            <a:p>
              <a:pPr algn="just">
                <a:lnSpc>
                  <a:spcPts val="2879"/>
                </a:lnSpc>
              </a:pPr>
              <a:r>
                <a:rPr lang="en-US" sz="2400">
                  <a:solidFill>
                    <a:srgbClr val="99AACC"/>
                  </a:solidFill>
                  <a:latin typeface="Calibri (MS)"/>
                  <a:ea typeface="Calibri (MS)"/>
                  <a:cs typeface="Calibri (MS)"/>
                  <a:sym typeface="Calibri (MS)"/>
                </a:rPr>
                <a:t>A build that succeeds does not mean the environment is right. Wrong versions, missing files, and bad configs go undetected.</a:t>
              </a:r>
            </a:p>
          </p:txBody>
        </p:sp>
      </p:grpSp>
      <p:grpSp>
        <p:nvGrpSpPr>
          <p:cNvPr name="Group 34" id="34"/>
          <p:cNvGrpSpPr/>
          <p:nvPr/>
        </p:nvGrpSpPr>
        <p:grpSpPr>
          <a:xfrm rot="0">
            <a:off x="12328803" y="4156967"/>
            <a:ext cx="5044797" cy="5193863"/>
            <a:chOff x="0" y="0"/>
            <a:chExt cx="6726395" cy="6925150"/>
          </a:xfrm>
        </p:grpSpPr>
        <p:sp>
          <p:nvSpPr>
            <p:cNvPr name="Freeform 35" id="35"/>
            <p:cNvSpPr/>
            <p:nvPr/>
          </p:nvSpPr>
          <p:spPr>
            <a:xfrm flipH="false" flipV="false" rot="0">
              <a:off x="0" y="0"/>
              <a:ext cx="6726434" cy="6925188"/>
            </a:xfrm>
            <a:custGeom>
              <a:avLst/>
              <a:gdLst/>
              <a:ahLst/>
              <a:cxnLst/>
              <a:rect r="r" b="b" t="t" l="l"/>
              <a:pathLst>
                <a:path h="6925188" w="6726434">
                  <a:moveTo>
                    <a:pt x="0" y="0"/>
                  </a:moveTo>
                  <a:lnTo>
                    <a:pt x="6726434" y="0"/>
                  </a:lnTo>
                  <a:lnTo>
                    <a:pt x="6726434" y="6925188"/>
                  </a:lnTo>
                  <a:lnTo>
                    <a:pt x="0" y="6925188"/>
                  </a:lnTo>
                  <a:close/>
                </a:path>
              </a:pathLst>
            </a:custGeom>
            <a:solidFill>
              <a:srgbClr val="0D1B35"/>
            </a:solidFill>
            <a:ln w="25400" cap="sq">
              <a:solidFill>
                <a:srgbClr val="2E75B6"/>
              </a:solidFill>
              <a:prstDash val="solid"/>
              <a:miter/>
            </a:ln>
          </p:spPr>
        </p:sp>
      </p:grpSp>
      <p:grpSp>
        <p:nvGrpSpPr>
          <p:cNvPr name="Group 36" id="36"/>
          <p:cNvGrpSpPr/>
          <p:nvPr/>
        </p:nvGrpSpPr>
        <p:grpSpPr>
          <a:xfrm rot="0">
            <a:off x="12328803" y="4156967"/>
            <a:ext cx="5044797" cy="720347"/>
            <a:chOff x="0" y="0"/>
            <a:chExt cx="6726395" cy="960463"/>
          </a:xfrm>
        </p:grpSpPr>
        <p:sp>
          <p:nvSpPr>
            <p:cNvPr name="Freeform 37" id="37"/>
            <p:cNvSpPr/>
            <p:nvPr/>
          </p:nvSpPr>
          <p:spPr>
            <a:xfrm flipH="false" flipV="false" rot="0">
              <a:off x="0" y="0"/>
              <a:ext cx="6726434" cy="960501"/>
            </a:xfrm>
            <a:custGeom>
              <a:avLst/>
              <a:gdLst/>
              <a:ahLst/>
              <a:cxnLst/>
              <a:rect r="r" b="b" t="t" l="l"/>
              <a:pathLst>
                <a:path h="960501" w="6726434">
                  <a:moveTo>
                    <a:pt x="0" y="0"/>
                  </a:moveTo>
                  <a:lnTo>
                    <a:pt x="6726434" y="0"/>
                  </a:lnTo>
                  <a:lnTo>
                    <a:pt x="6726434" y="960501"/>
                  </a:lnTo>
                  <a:lnTo>
                    <a:pt x="0" y="960501"/>
                  </a:lnTo>
                  <a:close/>
                </a:path>
              </a:pathLst>
            </a:custGeom>
            <a:solidFill>
              <a:srgbClr val="2E75B6"/>
            </a:solidFill>
            <a:ln w="25400" cap="sq">
              <a:solidFill>
                <a:srgbClr val="2E75B6"/>
              </a:solidFill>
              <a:prstDash val="solid"/>
              <a:miter/>
            </a:ln>
          </p:spPr>
        </p:sp>
      </p:grpSp>
      <p:grpSp>
        <p:nvGrpSpPr>
          <p:cNvPr name="Group 38" id="38"/>
          <p:cNvGrpSpPr/>
          <p:nvPr/>
        </p:nvGrpSpPr>
        <p:grpSpPr>
          <a:xfrm rot="0">
            <a:off x="12340424" y="4169664"/>
            <a:ext cx="5021546" cy="694944"/>
            <a:chOff x="0" y="0"/>
            <a:chExt cx="6695394" cy="926592"/>
          </a:xfrm>
        </p:grpSpPr>
        <p:sp>
          <p:nvSpPr>
            <p:cNvPr name="Freeform 39" id="39"/>
            <p:cNvSpPr/>
            <p:nvPr/>
          </p:nvSpPr>
          <p:spPr>
            <a:xfrm flipH="false" flipV="false" rot="0">
              <a:off x="0" y="0"/>
              <a:ext cx="6695394" cy="926592"/>
            </a:xfrm>
            <a:custGeom>
              <a:avLst/>
              <a:gdLst/>
              <a:ahLst/>
              <a:cxnLst/>
              <a:rect r="r" b="b" t="t" l="l"/>
              <a:pathLst>
                <a:path h="926592" w="6695394">
                  <a:moveTo>
                    <a:pt x="0" y="0"/>
                  </a:moveTo>
                  <a:lnTo>
                    <a:pt x="6695394" y="0"/>
                  </a:lnTo>
                  <a:lnTo>
                    <a:pt x="6695394" y="926592"/>
                  </a:lnTo>
                  <a:lnTo>
                    <a:pt x="0" y="926592"/>
                  </a:lnTo>
                  <a:close/>
                </a:path>
              </a:pathLst>
            </a:custGeom>
            <a:blipFill>
              <a:blip r:embed="rId3">
                <a:alphaModFix amt="0"/>
              </a:blip>
              <a:stretch>
                <a:fillRect l="0" t="-103829" r="-9257" b="-103829"/>
              </a:stretch>
            </a:blipFill>
          </p:spPr>
        </p:sp>
        <p:sp>
          <p:nvSpPr>
            <p:cNvPr name="TextBox 40" id="40"/>
            <p:cNvSpPr txBox="true"/>
            <p:nvPr/>
          </p:nvSpPr>
          <p:spPr>
            <a:xfrm>
              <a:off x="0" y="-47625"/>
              <a:ext cx="6695394" cy="974217"/>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Problem 3</a:t>
              </a:r>
            </a:p>
          </p:txBody>
        </p:sp>
      </p:grpSp>
      <p:grpSp>
        <p:nvGrpSpPr>
          <p:cNvPr name="Group 41" id="41"/>
          <p:cNvGrpSpPr/>
          <p:nvPr/>
        </p:nvGrpSpPr>
        <p:grpSpPr>
          <a:xfrm rot="0">
            <a:off x="12591502" y="5010912"/>
            <a:ext cx="4519391" cy="694944"/>
            <a:chOff x="0" y="0"/>
            <a:chExt cx="6025855" cy="926592"/>
          </a:xfrm>
        </p:grpSpPr>
        <p:sp>
          <p:nvSpPr>
            <p:cNvPr name="Freeform 42" id="42"/>
            <p:cNvSpPr/>
            <p:nvPr/>
          </p:nvSpPr>
          <p:spPr>
            <a:xfrm flipH="false" flipV="false" rot="0">
              <a:off x="0" y="0"/>
              <a:ext cx="6025855" cy="926592"/>
            </a:xfrm>
            <a:custGeom>
              <a:avLst/>
              <a:gdLst/>
              <a:ahLst/>
              <a:cxnLst/>
              <a:rect r="r" b="b" t="t" l="l"/>
              <a:pathLst>
                <a:path h="926592" w="6025855">
                  <a:moveTo>
                    <a:pt x="0" y="0"/>
                  </a:moveTo>
                  <a:lnTo>
                    <a:pt x="6025855" y="0"/>
                  </a:lnTo>
                  <a:lnTo>
                    <a:pt x="6025855" y="926592"/>
                  </a:lnTo>
                  <a:lnTo>
                    <a:pt x="0" y="926592"/>
                  </a:lnTo>
                  <a:close/>
                </a:path>
              </a:pathLst>
            </a:custGeom>
            <a:blipFill>
              <a:blip r:embed="rId3">
                <a:alphaModFix amt="0"/>
              </a:blip>
              <a:stretch>
                <a:fillRect l="0" t="-88446" r="-9257" b="-88446"/>
              </a:stretch>
            </a:blipFill>
          </p:spPr>
        </p:sp>
        <p:sp>
          <p:nvSpPr>
            <p:cNvPr name="TextBox 43" id="43"/>
            <p:cNvSpPr txBox="true"/>
            <p:nvPr/>
          </p:nvSpPr>
          <p:spPr>
            <a:xfrm>
              <a:off x="0" y="-47625"/>
              <a:ext cx="6025855" cy="974217"/>
            </a:xfrm>
            <a:prstGeom prst="rect">
              <a:avLst/>
            </a:prstGeom>
          </p:spPr>
          <p:txBody>
            <a:bodyPr anchor="ctr" rtlCol="false" tIns="0" lIns="0" bIns="0" rIns="0"/>
            <a:lstStyle/>
            <a:p>
              <a:pPr algn="ctr">
                <a:lnSpc>
                  <a:spcPts val="2999"/>
                </a:lnSpc>
              </a:pPr>
              <a:r>
                <a:rPr lang="en-US" sz="2499" b="true">
                  <a:solidFill>
                    <a:srgbClr val="FFFFFF"/>
                  </a:solidFill>
                  <a:latin typeface="Calibri (MS) Bold"/>
                  <a:ea typeface="Calibri (MS) Bold"/>
                  <a:cs typeface="Calibri (MS) Bold"/>
                  <a:sym typeface="Calibri (MS) Bold"/>
                </a:rPr>
                <a:t>Builds Break Over Time</a:t>
              </a:r>
            </a:p>
          </p:txBody>
        </p:sp>
      </p:grpSp>
      <p:grpSp>
        <p:nvGrpSpPr>
          <p:cNvPr name="Group 44" id="44"/>
          <p:cNvGrpSpPr/>
          <p:nvPr/>
        </p:nvGrpSpPr>
        <p:grpSpPr>
          <a:xfrm rot="0">
            <a:off x="12591502" y="5815584"/>
            <a:ext cx="4519391" cy="2183053"/>
            <a:chOff x="0" y="0"/>
            <a:chExt cx="6025855" cy="2910738"/>
          </a:xfrm>
        </p:grpSpPr>
        <p:sp>
          <p:nvSpPr>
            <p:cNvPr name="Freeform 45" id="45"/>
            <p:cNvSpPr/>
            <p:nvPr/>
          </p:nvSpPr>
          <p:spPr>
            <a:xfrm flipH="false" flipV="false" rot="0">
              <a:off x="0" y="0"/>
              <a:ext cx="6025855" cy="2910738"/>
            </a:xfrm>
            <a:custGeom>
              <a:avLst/>
              <a:gdLst/>
              <a:ahLst/>
              <a:cxnLst/>
              <a:rect r="r" b="b" t="t" l="l"/>
              <a:pathLst>
                <a:path h="2910738" w="6025855">
                  <a:moveTo>
                    <a:pt x="0" y="0"/>
                  </a:moveTo>
                  <a:lnTo>
                    <a:pt x="6025855" y="0"/>
                  </a:lnTo>
                  <a:lnTo>
                    <a:pt x="6025855" y="2910738"/>
                  </a:lnTo>
                  <a:lnTo>
                    <a:pt x="0" y="2910738"/>
                  </a:lnTo>
                  <a:close/>
                </a:path>
              </a:pathLst>
            </a:custGeom>
            <a:blipFill>
              <a:blip r:embed="rId3">
                <a:alphaModFix amt="0"/>
              </a:blip>
              <a:stretch>
                <a:fillRect l="-38825" t="0" r="-48082" b="-50790"/>
              </a:stretch>
            </a:blipFill>
          </p:spPr>
        </p:sp>
        <p:sp>
          <p:nvSpPr>
            <p:cNvPr name="TextBox 46" id="46"/>
            <p:cNvSpPr txBox="true"/>
            <p:nvPr/>
          </p:nvSpPr>
          <p:spPr>
            <a:xfrm>
              <a:off x="0" y="-38100"/>
              <a:ext cx="6025855" cy="2948838"/>
            </a:xfrm>
            <a:prstGeom prst="rect">
              <a:avLst/>
            </a:prstGeom>
          </p:spPr>
          <p:txBody>
            <a:bodyPr anchor="ctr" rtlCol="false" tIns="0" lIns="0" bIns="0" rIns="0"/>
            <a:lstStyle/>
            <a:p>
              <a:pPr algn="just">
                <a:lnSpc>
                  <a:spcPts val="2879"/>
                </a:lnSpc>
              </a:pPr>
              <a:r>
                <a:rPr lang="en-US" sz="2400">
                  <a:solidFill>
                    <a:srgbClr val="99AACC"/>
                  </a:solidFill>
                  <a:latin typeface="Calibri (MS)"/>
                  <a:ea typeface="Calibri (MS)"/>
                  <a:cs typeface="Calibri (MS)"/>
                  <a:sym typeface="Calibri (MS)"/>
                </a:rPr>
                <a:t>Dockerfile flakiness - caused by dependency changes, expired keys, removed packages - breaks previously working setups.</a:t>
              </a:r>
            </a:p>
          </p:txBody>
        </p:sp>
      </p:grpSp>
      <p:grpSp>
        <p:nvGrpSpPr>
          <p:cNvPr name="Group 47" id="47"/>
          <p:cNvGrpSpPr/>
          <p:nvPr/>
        </p:nvGrpSpPr>
        <p:grpSpPr>
          <a:xfrm rot="0">
            <a:off x="-12697" y="-12697"/>
            <a:ext cx="18313403" cy="1342139"/>
            <a:chOff x="0" y="0"/>
            <a:chExt cx="24417871" cy="1789519"/>
          </a:xfrm>
        </p:grpSpPr>
        <p:sp>
          <p:nvSpPr>
            <p:cNvPr name="Freeform 48" id="48"/>
            <p:cNvSpPr/>
            <p:nvPr/>
          </p:nvSpPr>
          <p:spPr>
            <a:xfrm flipH="false" flipV="false" rot="0">
              <a:off x="0" y="0"/>
              <a:ext cx="24417910" cy="1789557"/>
            </a:xfrm>
            <a:custGeom>
              <a:avLst/>
              <a:gdLst/>
              <a:ahLst/>
              <a:cxnLst/>
              <a:rect r="r" b="b" t="t" l="l"/>
              <a:pathLst>
                <a:path h="1789557" w="24417910">
                  <a:moveTo>
                    <a:pt x="0" y="0"/>
                  </a:moveTo>
                  <a:lnTo>
                    <a:pt x="24417910" y="0"/>
                  </a:lnTo>
                  <a:lnTo>
                    <a:pt x="24417910" y="1789557"/>
                  </a:lnTo>
                  <a:lnTo>
                    <a:pt x="0" y="1789557"/>
                  </a:lnTo>
                  <a:close/>
                </a:path>
              </a:pathLst>
            </a:custGeom>
            <a:solidFill>
              <a:srgbClr val="0D1B2A"/>
            </a:solidFill>
            <a:ln w="25400" cap="sq">
              <a:solidFill>
                <a:srgbClr val="0D1B2A"/>
              </a:solidFill>
              <a:prstDash val="solid"/>
              <a:miter/>
            </a:ln>
          </p:spPr>
        </p:sp>
      </p:grpSp>
      <p:grpSp>
        <p:nvGrpSpPr>
          <p:cNvPr name="Group 49" id="49"/>
          <p:cNvGrpSpPr/>
          <p:nvPr/>
        </p:nvGrpSpPr>
        <p:grpSpPr>
          <a:xfrm rot="0">
            <a:off x="914400" y="0"/>
            <a:ext cx="14630400" cy="1316736"/>
            <a:chOff x="0" y="0"/>
            <a:chExt cx="19507200" cy="1755648"/>
          </a:xfrm>
        </p:grpSpPr>
        <p:sp>
          <p:nvSpPr>
            <p:cNvPr name="Freeform 50" id="50"/>
            <p:cNvSpPr/>
            <p:nvPr/>
          </p:nvSpPr>
          <p:spPr>
            <a:xfrm flipH="false" flipV="false" rot="0">
              <a:off x="0" y="0"/>
              <a:ext cx="19507200" cy="1755648"/>
            </a:xfrm>
            <a:custGeom>
              <a:avLst/>
              <a:gdLst/>
              <a:ahLst/>
              <a:cxnLst/>
              <a:rect r="r" b="b" t="t" l="l"/>
              <a:pathLst>
                <a:path h="1755648" w="19507200">
                  <a:moveTo>
                    <a:pt x="0" y="0"/>
                  </a:moveTo>
                  <a:lnTo>
                    <a:pt x="19507200" y="0"/>
                  </a:lnTo>
                  <a:lnTo>
                    <a:pt x="19507200" y="1755648"/>
                  </a:lnTo>
                  <a:lnTo>
                    <a:pt x="0" y="1755648"/>
                  </a:lnTo>
                  <a:close/>
                </a:path>
              </a:pathLst>
            </a:custGeom>
            <a:blipFill>
              <a:blip r:embed="rId3">
                <a:alphaModFix amt="0"/>
              </a:blip>
              <a:stretch>
                <a:fillRect l="0" t="-166500" r="0" b="-166500"/>
              </a:stretch>
            </a:blipFill>
          </p:spPr>
        </p:sp>
        <p:sp>
          <p:nvSpPr>
            <p:cNvPr name="TextBox 51" id="51"/>
            <p:cNvSpPr txBox="true"/>
            <p:nvPr/>
          </p:nvSpPr>
          <p:spPr>
            <a:xfrm>
              <a:off x="0" y="-104775"/>
              <a:ext cx="19507200" cy="1860423"/>
            </a:xfrm>
            <a:prstGeom prst="rect">
              <a:avLst/>
            </a:prstGeom>
          </p:spPr>
          <p:txBody>
            <a:bodyPr anchor="ctr" rtlCol="false" tIns="0" lIns="0" bIns="0" rIns="0"/>
            <a:lstStyle/>
            <a:p>
              <a:pPr algn="l">
                <a:lnSpc>
                  <a:spcPts val="6240"/>
                </a:lnSpc>
              </a:pPr>
              <a:r>
                <a:rPr lang="en-US" sz="5200" b="true">
                  <a:solidFill>
                    <a:srgbClr val="FFFFFF"/>
                  </a:solidFill>
                  <a:latin typeface="Calibri (MS) Bold"/>
                  <a:ea typeface="Calibri (MS) Bold"/>
                  <a:cs typeface="Calibri (MS) Bold"/>
                  <a:sym typeface="Calibri (MS) Bold"/>
                </a:rPr>
                <a:t>Pr</a:t>
              </a:r>
              <a:r>
                <a:rPr lang="en-US" sz="5200" b="true">
                  <a:solidFill>
                    <a:srgbClr val="FFFFFF"/>
                  </a:solidFill>
                  <a:latin typeface="Calibri (MS) Bold"/>
                  <a:ea typeface="Calibri (MS) Bold"/>
                  <a:cs typeface="Calibri (MS) Bold"/>
                  <a:sym typeface="Calibri (MS) Bold"/>
                </a:rPr>
                <a:t>oblem Statement</a:t>
              </a:r>
            </a:p>
          </p:txBody>
        </p:sp>
      </p:grpSp>
      <p:grpSp>
        <p:nvGrpSpPr>
          <p:cNvPr name="Group 52" id="52"/>
          <p:cNvGrpSpPr/>
          <p:nvPr/>
        </p:nvGrpSpPr>
        <p:grpSpPr>
          <a:xfrm rot="0">
            <a:off x="16093440" y="0"/>
            <a:ext cx="2011680" cy="1316736"/>
            <a:chOff x="0" y="0"/>
            <a:chExt cx="2682240" cy="1755648"/>
          </a:xfrm>
        </p:grpSpPr>
        <p:sp>
          <p:nvSpPr>
            <p:cNvPr name="Freeform 53" id="53"/>
            <p:cNvSpPr/>
            <p:nvPr/>
          </p:nvSpPr>
          <p:spPr>
            <a:xfrm flipH="false" flipV="false" rot="0">
              <a:off x="0" y="0"/>
              <a:ext cx="2682240" cy="1755648"/>
            </a:xfrm>
            <a:custGeom>
              <a:avLst/>
              <a:gdLst/>
              <a:ahLst/>
              <a:cxnLst/>
              <a:rect r="r" b="b" t="t" l="l"/>
              <a:pathLst>
                <a:path h="1755648" w="2682240">
                  <a:moveTo>
                    <a:pt x="0" y="0"/>
                  </a:moveTo>
                  <a:lnTo>
                    <a:pt x="2682240" y="0"/>
                  </a:lnTo>
                  <a:lnTo>
                    <a:pt x="2682240" y="1755648"/>
                  </a:lnTo>
                  <a:lnTo>
                    <a:pt x="0" y="1755648"/>
                  </a:lnTo>
                  <a:close/>
                </a:path>
              </a:pathLst>
            </a:custGeom>
            <a:blipFill>
              <a:blip r:embed="rId3">
                <a:alphaModFix amt="0"/>
              </a:blip>
              <a:stretch>
                <a:fillRect l="-33980" t="0" r="-33980" b="0"/>
              </a:stretch>
            </a:blipFill>
          </p:spPr>
        </p:sp>
        <p:sp>
          <p:nvSpPr>
            <p:cNvPr name="TextBox 54" id="54"/>
            <p:cNvSpPr txBox="true"/>
            <p:nvPr/>
          </p:nvSpPr>
          <p:spPr>
            <a:xfrm>
              <a:off x="0" y="-38100"/>
              <a:ext cx="2682240" cy="1793748"/>
            </a:xfrm>
            <a:prstGeom prst="rect">
              <a:avLst/>
            </a:prstGeom>
          </p:spPr>
          <p:txBody>
            <a:bodyPr anchor="ctr" rtlCol="false" tIns="0" lIns="0" bIns="0" rIns="0"/>
            <a:lstStyle/>
            <a:p>
              <a:pPr algn="r">
                <a:lnSpc>
                  <a:spcPts val="2400"/>
                </a:lnSpc>
              </a:pPr>
              <a:r>
                <a:rPr lang="en-US" sz="2000">
                  <a:solidFill>
                    <a:srgbClr val="8A96A8"/>
                  </a:solidFill>
                  <a:latin typeface="Calibri (MS)"/>
                  <a:ea typeface="Calibri (MS)"/>
                  <a:cs typeface="Calibri (MS)"/>
                  <a:sym typeface="Calibri (MS)"/>
                </a:rPr>
                <a:t>3</a:t>
              </a:r>
              <a:r>
                <a:rPr lang="en-US" sz="2000">
                  <a:solidFill>
                    <a:srgbClr val="8A96A8"/>
                  </a:solidFill>
                  <a:latin typeface="Calibri (MS)"/>
                  <a:ea typeface="Calibri (MS)"/>
                  <a:cs typeface="Calibri (MS)"/>
                  <a:sym typeface="Calibri (MS)"/>
                </a:rPr>
                <a:t> / 8</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F6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342139"/>
            <a:chOff x="0" y="0"/>
            <a:chExt cx="24417871" cy="1789519"/>
          </a:xfrm>
        </p:grpSpPr>
        <p:sp>
          <p:nvSpPr>
            <p:cNvPr name="Freeform 3" id="3"/>
            <p:cNvSpPr/>
            <p:nvPr/>
          </p:nvSpPr>
          <p:spPr>
            <a:xfrm flipH="false" flipV="false" rot="0">
              <a:off x="0" y="0"/>
              <a:ext cx="24417910" cy="1789557"/>
            </a:xfrm>
            <a:custGeom>
              <a:avLst/>
              <a:gdLst/>
              <a:ahLst/>
              <a:cxnLst/>
              <a:rect r="r" b="b" t="t" l="l"/>
              <a:pathLst>
                <a:path h="1789557" w="24417910">
                  <a:moveTo>
                    <a:pt x="0" y="0"/>
                  </a:moveTo>
                  <a:lnTo>
                    <a:pt x="24417910" y="0"/>
                  </a:lnTo>
                  <a:lnTo>
                    <a:pt x="24417910" y="1789557"/>
                  </a:lnTo>
                  <a:lnTo>
                    <a:pt x="0" y="1789557"/>
                  </a:lnTo>
                  <a:close/>
                </a:path>
              </a:pathLst>
            </a:custGeom>
            <a:solidFill>
              <a:srgbClr val="0D1B2A"/>
            </a:solidFill>
            <a:ln w="25400" cap="sq">
              <a:solidFill>
                <a:srgbClr val="0D1B2A"/>
              </a:solidFill>
              <a:prstDash val="solid"/>
              <a:miter/>
            </a:ln>
          </p:spPr>
        </p:sp>
      </p:grpSp>
      <p:grpSp>
        <p:nvGrpSpPr>
          <p:cNvPr name="Group 4" id="4"/>
          <p:cNvGrpSpPr/>
          <p:nvPr/>
        </p:nvGrpSpPr>
        <p:grpSpPr>
          <a:xfrm rot="0">
            <a:off x="559813" y="12706"/>
            <a:ext cx="14630400" cy="1316736"/>
            <a:chOff x="0" y="0"/>
            <a:chExt cx="19507200" cy="1755648"/>
          </a:xfrm>
        </p:grpSpPr>
        <p:sp>
          <p:nvSpPr>
            <p:cNvPr name="Freeform 5" id="5"/>
            <p:cNvSpPr/>
            <p:nvPr/>
          </p:nvSpPr>
          <p:spPr>
            <a:xfrm flipH="false" flipV="false" rot="0">
              <a:off x="0" y="0"/>
              <a:ext cx="19507200" cy="1755648"/>
            </a:xfrm>
            <a:custGeom>
              <a:avLst/>
              <a:gdLst/>
              <a:ahLst/>
              <a:cxnLst/>
              <a:rect r="r" b="b" t="t" l="l"/>
              <a:pathLst>
                <a:path h="1755648" w="19507200">
                  <a:moveTo>
                    <a:pt x="0" y="0"/>
                  </a:moveTo>
                  <a:lnTo>
                    <a:pt x="19507200" y="0"/>
                  </a:lnTo>
                  <a:lnTo>
                    <a:pt x="19507200" y="1755648"/>
                  </a:lnTo>
                  <a:lnTo>
                    <a:pt x="0" y="1755648"/>
                  </a:lnTo>
                  <a:close/>
                </a:path>
              </a:pathLst>
            </a:custGeom>
            <a:blipFill>
              <a:blip r:embed="rId3">
                <a:alphaModFix amt="0"/>
              </a:blip>
              <a:stretch>
                <a:fillRect l="0" t="-166500" r="0" b="-166500"/>
              </a:stretch>
            </a:blipFill>
          </p:spPr>
        </p:sp>
        <p:sp>
          <p:nvSpPr>
            <p:cNvPr name="TextBox 6" id="6"/>
            <p:cNvSpPr txBox="true"/>
            <p:nvPr/>
          </p:nvSpPr>
          <p:spPr>
            <a:xfrm>
              <a:off x="0" y="-104775"/>
              <a:ext cx="19507200" cy="1860423"/>
            </a:xfrm>
            <a:prstGeom prst="rect">
              <a:avLst/>
            </a:prstGeom>
          </p:spPr>
          <p:txBody>
            <a:bodyPr anchor="ctr" rtlCol="false" tIns="0" lIns="0" bIns="0" rIns="0"/>
            <a:lstStyle/>
            <a:p>
              <a:pPr algn="l">
                <a:lnSpc>
                  <a:spcPts val="6240"/>
                </a:lnSpc>
              </a:pPr>
              <a:r>
                <a:rPr lang="en-US" sz="5200" b="true">
                  <a:solidFill>
                    <a:srgbClr val="FFFFFF"/>
                  </a:solidFill>
                  <a:latin typeface="Calibri (MS) Bold"/>
                  <a:ea typeface="Calibri (MS) Bold"/>
                  <a:cs typeface="Calibri (MS) Bold"/>
                  <a:sym typeface="Calibri (MS) Bold"/>
                </a:rPr>
                <a:t>Proposed Solution</a:t>
              </a:r>
            </a:p>
          </p:txBody>
        </p:sp>
      </p:grpSp>
      <p:grpSp>
        <p:nvGrpSpPr>
          <p:cNvPr name="Group 7" id="7"/>
          <p:cNvGrpSpPr/>
          <p:nvPr/>
        </p:nvGrpSpPr>
        <p:grpSpPr>
          <a:xfrm rot="0">
            <a:off x="16093440" y="0"/>
            <a:ext cx="2011680" cy="1316736"/>
            <a:chOff x="0" y="0"/>
            <a:chExt cx="2682240" cy="1755648"/>
          </a:xfrm>
        </p:grpSpPr>
        <p:sp>
          <p:nvSpPr>
            <p:cNvPr name="Freeform 8" id="8"/>
            <p:cNvSpPr/>
            <p:nvPr/>
          </p:nvSpPr>
          <p:spPr>
            <a:xfrm flipH="false" flipV="false" rot="0">
              <a:off x="0" y="0"/>
              <a:ext cx="2682240" cy="1755648"/>
            </a:xfrm>
            <a:custGeom>
              <a:avLst/>
              <a:gdLst/>
              <a:ahLst/>
              <a:cxnLst/>
              <a:rect r="r" b="b" t="t" l="l"/>
              <a:pathLst>
                <a:path h="1755648" w="2682240">
                  <a:moveTo>
                    <a:pt x="0" y="0"/>
                  </a:moveTo>
                  <a:lnTo>
                    <a:pt x="2682240" y="0"/>
                  </a:lnTo>
                  <a:lnTo>
                    <a:pt x="2682240" y="1755648"/>
                  </a:lnTo>
                  <a:lnTo>
                    <a:pt x="0" y="1755648"/>
                  </a:lnTo>
                  <a:close/>
                </a:path>
              </a:pathLst>
            </a:custGeom>
            <a:blipFill>
              <a:blip r:embed="rId3">
                <a:alphaModFix amt="0"/>
              </a:blip>
              <a:stretch>
                <a:fillRect l="-33980" t="0" r="-33980" b="0"/>
              </a:stretch>
            </a:blipFill>
          </p:spPr>
        </p:sp>
        <p:sp>
          <p:nvSpPr>
            <p:cNvPr name="TextBox 9" id="9"/>
            <p:cNvSpPr txBox="true"/>
            <p:nvPr/>
          </p:nvSpPr>
          <p:spPr>
            <a:xfrm>
              <a:off x="0" y="-38100"/>
              <a:ext cx="2682240" cy="1793748"/>
            </a:xfrm>
            <a:prstGeom prst="rect">
              <a:avLst/>
            </a:prstGeom>
          </p:spPr>
          <p:txBody>
            <a:bodyPr anchor="ctr" rtlCol="false" tIns="0" lIns="0" bIns="0" rIns="0"/>
            <a:lstStyle/>
            <a:p>
              <a:pPr algn="r">
                <a:lnSpc>
                  <a:spcPts val="2400"/>
                </a:lnSpc>
              </a:pPr>
              <a:r>
                <a:rPr lang="en-US" sz="2000">
                  <a:solidFill>
                    <a:srgbClr val="8A96A8"/>
                  </a:solidFill>
                  <a:latin typeface="Calibri (MS)"/>
                  <a:ea typeface="Calibri (MS)"/>
                  <a:cs typeface="Calibri (MS)"/>
                  <a:sym typeface="Calibri (MS)"/>
                </a:rPr>
                <a:t>4</a:t>
              </a:r>
              <a:r>
                <a:rPr lang="en-US" sz="2000">
                  <a:solidFill>
                    <a:srgbClr val="8A96A8"/>
                  </a:solidFill>
                  <a:latin typeface="Calibri (MS)"/>
                  <a:ea typeface="Calibri (MS)"/>
                  <a:cs typeface="Calibri (MS)"/>
                  <a:sym typeface="Calibri (MS)"/>
                </a:rPr>
                <a:t> / 8</a:t>
              </a:r>
            </a:p>
          </p:txBody>
        </p:sp>
      </p:grpSp>
      <p:grpSp>
        <p:nvGrpSpPr>
          <p:cNvPr name="Group 10" id="10"/>
          <p:cNvGrpSpPr/>
          <p:nvPr/>
        </p:nvGrpSpPr>
        <p:grpSpPr>
          <a:xfrm rot="0">
            <a:off x="559813" y="1484124"/>
            <a:ext cx="6400800" cy="768096"/>
            <a:chOff x="0" y="0"/>
            <a:chExt cx="8534400" cy="1024128"/>
          </a:xfrm>
        </p:grpSpPr>
        <p:sp>
          <p:nvSpPr>
            <p:cNvPr name="Freeform 11" id="11"/>
            <p:cNvSpPr/>
            <p:nvPr/>
          </p:nvSpPr>
          <p:spPr>
            <a:xfrm flipH="false" flipV="false" rot="0">
              <a:off x="0" y="0"/>
              <a:ext cx="8534400" cy="1024128"/>
            </a:xfrm>
            <a:custGeom>
              <a:avLst/>
              <a:gdLst/>
              <a:ahLst/>
              <a:cxnLst/>
              <a:rect r="r" b="b" t="t" l="l"/>
              <a:pathLst>
                <a:path h="1024128" w="8534400">
                  <a:moveTo>
                    <a:pt x="0" y="0"/>
                  </a:moveTo>
                  <a:lnTo>
                    <a:pt x="8534400" y="0"/>
                  </a:lnTo>
                  <a:lnTo>
                    <a:pt x="8534400" y="1024128"/>
                  </a:lnTo>
                  <a:lnTo>
                    <a:pt x="0" y="1024128"/>
                  </a:lnTo>
                  <a:close/>
                </a:path>
              </a:pathLst>
            </a:custGeom>
            <a:blipFill>
              <a:blip r:embed="rId3">
                <a:alphaModFix amt="0"/>
              </a:blip>
              <a:stretch>
                <a:fillRect l="0" t="-112375" r="0" b="-112375"/>
              </a:stretch>
            </a:blipFill>
          </p:spPr>
        </p:sp>
        <p:sp>
          <p:nvSpPr>
            <p:cNvPr name="TextBox 12" id="12"/>
            <p:cNvSpPr txBox="true"/>
            <p:nvPr/>
          </p:nvSpPr>
          <p:spPr>
            <a:xfrm>
              <a:off x="0" y="-76200"/>
              <a:ext cx="8534400" cy="1100328"/>
            </a:xfrm>
            <a:prstGeom prst="rect">
              <a:avLst/>
            </a:prstGeom>
          </p:spPr>
          <p:txBody>
            <a:bodyPr anchor="ctr" rtlCol="false" tIns="0" lIns="0" bIns="0" rIns="0"/>
            <a:lstStyle/>
            <a:p>
              <a:pPr algn="l">
                <a:lnSpc>
                  <a:spcPts val="4800"/>
                </a:lnSpc>
              </a:pPr>
              <a:r>
                <a:rPr lang="en-US" sz="4000" b="true">
                  <a:solidFill>
                    <a:srgbClr val="6B4EAF"/>
                  </a:solidFill>
                  <a:latin typeface="Calibri (MS) Bold"/>
                  <a:ea typeface="Calibri (MS) Bold"/>
                  <a:cs typeface="Calibri (MS) Bold"/>
                  <a:sym typeface="Calibri (MS) Bold"/>
                </a:rPr>
                <a:t>DockAgent</a:t>
              </a:r>
            </a:p>
          </p:txBody>
        </p:sp>
      </p:grpSp>
      <p:grpSp>
        <p:nvGrpSpPr>
          <p:cNvPr name="Group 13" id="13"/>
          <p:cNvGrpSpPr/>
          <p:nvPr/>
        </p:nvGrpSpPr>
        <p:grpSpPr>
          <a:xfrm rot="0">
            <a:off x="559813" y="2252220"/>
            <a:ext cx="16824960" cy="768096"/>
            <a:chOff x="0" y="0"/>
            <a:chExt cx="22433280" cy="1024128"/>
          </a:xfrm>
        </p:grpSpPr>
        <p:sp>
          <p:nvSpPr>
            <p:cNvPr name="Freeform 14" id="14"/>
            <p:cNvSpPr/>
            <p:nvPr/>
          </p:nvSpPr>
          <p:spPr>
            <a:xfrm flipH="false" flipV="false" rot="0">
              <a:off x="0" y="0"/>
              <a:ext cx="22433280" cy="1024128"/>
            </a:xfrm>
            <a:custGeom>
              <a:avLst/>
              <a:gdLst/>
              <a:ahLst/>
              <a:cxnLst/>
              <a:rect r="r" b="b" t="t" l="l"/>
              <a:pathLst>
                <a:path h="1024128" w="22433280">
                  <a:moveTo>
                    <a:pt x="0" y="0"/>
                  </a:moveTo>
                  <a:lnTo>
                    <a:pt x="22433280" y="0"/>
                  </a:lnTo>
                  <a:lnTo>
                    <a:pt x="22433280" y="1024128"/>
                  </a:lnTo>
                  <a:lnTo>
                    <a:pt x="0" y="1024128"/>
                  </a:lnTo>
                  <a:close/>
                </a:path>
              </a:pathLst>
            </a:custGeom>
            <a:blipFill>
              <a:blip r:embed="rId3">
                <a:alphaModFix amt="0"/>
              </a:blip>
              <a:stretch>
                <a:fillRect l="0" t="-376815" r="0" b="-376815"/>
              </a:stretch>
            </a:blipFill>
          </p:spPr>
        </p:sp>
        <p:sp>
          <p:nvSpPr>
            <p:cNvPr name="TextBox 15" id="15"/>
            <p:cNvSpPr txBox="true"/>
            <p:nvPr/>
          </p:nvSpPr>
          <p:spPr>
            <a:xfrm>
              <a:off x="0" y="-38100"/>
              <a:ext cx="22433280" cy="1062228"/>
            </a:xfrm>
            <a:prstGeom prst="rect">
              <a:avLst/>
            </a:prstGeom>
          </p:spPr>
          <p:txBody>
            <a:bodyPr anchor="ctr" rtlCol="false" tIns="0" lIns="0" bIns="0" rIns="0"/>
            <a:lstStyle/>
            <a:p>
              <a:pPr algn="l">
                <a:lnSpc>
                  <a:spcPts val="2879"/>
                </a:lnSpc>
              </a:pPr>
              <a:r>
                <a:rPr lang="en-US" sz="2400">
                  <a:solidFill>
                    <a:srgbClr val="333333"/>
                  </a:solidFill>
                  <a:latin typeface="Calibri (MS)"/>
                  <a:ea typeface="Calibri (MS)"/>
                  <a:cs typeface="Calibri (MS)"/>
                  <a:sym typeface="Calibri (MS)"/>
                </a:rPr>
                <a:t>A VS Code extension that automates the full Docker lifecycle  from repository to a correct, tested, and stable container environment.</a:t>
              </a:r>
            </a:p>
          </p:txBody>
        </p:sp>
      </p:grpSp>
      <p:grpSp>
        <p:nvGrpSpPr>
          <p:cNvPr name="Group 16" id="16"/>
          <p:cNvGrpSpPr/>
          <p:nvPr/>
        </p:nvGrpSpPr>
        <p:grpSpPr>
          <a:xfrm rot="0">
            <a:off x="559813" y="2952750"/>
            <a:ext cx="8291579" cy="3097787"/>
            <a:chOff x="0" y="0"/>
            <a:chExt cx="11055439" cy="4130383"/>
          </a:xfrm>
        </p:grpSpPr>
        <p:sp>
          <p:nvSpPr>
            <p:cNvPr name="Freeform 17" id="17"/>
            <p:cNvSpPr/>
            <p:nvPr/>
          </p:nvSpPr>
          <p:spPr>
            <a:xfrm flipH="false" flipV="false" rot="0">
              <a:off x="0" y="0"/>
              <a:ext cx="11055477" cy="4130421"/>
            </a:xfrm>
            <a:custGeom>
              <a:avLst/>
              <a:gdLst/>
              <a:ahLst/>
              <a:cxnLst/>
              <a:rect r="r" b="b" t="t" l="l"/>
              <a:pathLst>
                <a:path h="4130421" w="11055477">
                  <a:moveTo>
                    <a:pt x="0" y="0"/>
                  </a:moveTo>
                  <a:lnTo>
                    <a:pt x="11055477" y="0"/>
                  </a:lnTo>
                  <a:lnTo>
                    <a:pt x="11055477" y="4130421"/>
                  </a:lnTo>
                  <a:lnTo>
                    <a:pt x="0" y="4130421"/>
                  </a:lnTo>
                  <a:close/>
                </a:path>
              </a:pathLst>
            </a:custGeom>
            <a:solidFill>
              <a:srgbClr val="F5F2FF"/>
            </a:solidFill>
            <a:ln w="25400" cap="sq">
              <a:solidFill>
                <a:srgbClr val="E0E6EF"/>
              </a:solidFill>
              <a:prstDash val="solid"/>
              <a:miter/>
            </a:ln>
          </p:spPr>
        </p:sp>
      </p:grpSp>
      <p:grpSp>
        <p:nvGrpSpPr>
          <p:cNvPr name="Group 18" id="18"/>
          <p:cNvGrpSpPr/>
          <p:nvPr/>
        </p:nvGrpSpPr>
        <p:grpSpPr>
          <a:xfrm rot="0">
            <a:off x="559813" y="2952750"/>
            <a:ext cx="8291579" cy="135131"/>
            <a:chOff x="0" y="0"/>
            <a:chExt cx="11055439" cy="180175"/>
          </a:xfrm>
        </p:grpSpPr>
        <p:sp>
          <p:nvSpPr>
            <p:cNvPr name="Freeform 19" id="19"/>
            <p:cNvSpPr/>
            <p:nvPr/>
          </p:nvSpPr>
          <p:spPr>
            <a:xfrm flipH="false" flipV="false" rot="0">
              <a:off x="0" y="0"/>
              <a:ext cx="11055477" cy="180213"/>
            </a:xfrm>
            <a:custGeom>
              <a:avLst/>
              <a:gdLst/>
              <a:ahLst/>
              <a:cxnLst/>
              <a:rect r="r" b="b" t="t" l="l"/>
              <a:pathLst>
                <a:path h="180213" w="11055477">
                  <a:moveTo>
                    <a:pt x="0" y="0"/>
                  </a:moveTo>
                  <a:lnTo>
                    <a:pt x="11055477" y="0"/>
                  </a:lnTo>
                  <a:lnTo>
                    <a:pt x="11055477" y="180213"/>
                  </a:lnTo>
                  <a:lnTo>
                    <a:pt x="0" y="180213"/>
                  </a:lnTo>
                  <a:close/>
                </a:path>
              </a:pathLst>
            </a:custGeom>
            <a:solidFill>
              <a:srgbClr val="6B4EAF"/>
            </a:solidFill>
            <a:ln w="25400" cap="sq">
              <a:solidFill>
                <a:srgbClr val="6B4EAF"/>
              </a:solidFill>
              <a:prstDash val="solid"/>
              <a:miter/>
            </a:ln>
          </p:spPr>
        </p:sp>
      </p:grpSp>
      <p:grpSp>
        <p:nvGrpSpPr>
          <p:cNvPr name="Group 20" id="20"/>
          <p:cNvGrpSpPr/>
          <p:nvPr/>
        </p:nvGrpSpPr>
        <p:grpSpPr>
          <a:xfrm rot="0">
            <a:off x="559813" y="2952750"/>
            <a:ext cx="976379" cy="3097787"/>
            <a:chOff x="0" y="0"/>
            <a:chExt cx="1301839" cy="4130383"/>
          </a:xfrm>
        </p:grpSpPr>
        <p:sp>
          <p:nvSpPr>
            <p:cNvPr name="Freeform 21" id="21"/>
            <p:cNvSpPr/>
            <p:nvPr/>
          </p:nvSpPr>
          <p:spPr>
            <a:xfrm flipH="false" flipV="false" rot="0">
              <a:off x="0" y="0"/>
              <a:ext cx="1301877" cy="4130421"/>
            </a:xfrm>
            <a:custGeom>
              <a:avLst/>
              <a:gdLst/>
              <a:ahLst/>
              <a:cxnLst/>
              <a:rect r="r" b="b" t="t" l="l"/>
              <a:pathLst>
                <a:path h="4130421" w="1301877">
                  <a:moveTo>
                    <a:pt x="0" y="0"/>
                  </a:moveTo>
                  <a:lnTo>
                    <a:pt x="1301877" y="0"/>
                  </a:lnTo>
                  <a:lnTo>
                    <a:pt x="1301877" y="4130421"/>
                  </a:lnTo>
                  <a:lnTo>
                    <a:pt x="0" y="4130421"/>
                  </a:lnTo>
                  <a:close/>
                </a:path>
              </a:pathLst>
            </a:custGeom>
            <a:solidFill>
              <a:srgbClr val="6B4EAF"/>
            </a:solidFill>
            <a:ln w="25400" cap="sq">
              <a:solidFill>
                <a:srgbClr val="6B4EAF"/>
              </a:solidFill>
              <a:prstDash val="solid"/>
              <a:miter/>
            </a:ln>
          </p:spPr>
        </p:sp>
      </p:grpSp>
      <p:grpSp>
        <p:nvGrpSpPr>
          <p:cNvPr name="Group 22" id="22"/>
          <p:cNvGrpSpPr/>
          <p:nvPr/>
        </p:nvGrpSpPr>
        <p:grpSpPr>
          <a:xfrm rot="0">
            <a:off x="572510" y="2965447"/>
            <a:ext cx="950976" cy="3072384"/>
            <a:chOff x="0" y="0"/>
            <a:chExt cx="1267968" cy="4096512"/>
          </a:xfrm>
        </p:grpSpPr>
        <p:sp>
          <p:nvSpPr>
            <p:cNvPr name="Freeform 23" id="23"/>
            <p:cNvSpPr/>
            <p:nvPr/>
          </p:nvSpPr>
          <p:spPr>
            <a:xfrm flipH="false" flipV="false" rot="0">
              <a:off x="0" y="0"/>
              <a:ext cx="1267968" cy="4096512"/>
            </a:xfrm>
            <a:custGeom>
              <a:avLst/>
              <a:gdLst/>
              <a:ahLst/>
              <a:cxnLst/>
              <a:rect r="r" b="b" t="t" l="l"/>
              <a:pathLst>
                <a:path h="4096512" w="1267968">
                  <a:moveTo>
                    <a:pt x="0" y="0"/>
                  </a:moveTo>
                  <a:lnTo>
                    <a:pt x="1267968" y="0"/>
                  </a:lnTo>
                  <a:lnTo>
                    <a:pt x="1267968" y="4096512"/>
                  </a:lnTo>
                  <a:lnTo>
                    <a:pt x="0" y="4096512"/>
                  </a:lnTo>
                  <a:close/>
                </a:path>
              </a:pathLst>
            </a:custGeom>
            <a:blipFill>
              <a:blip r:embed="rId3">
                <a:alphaModFix amt="0"/>
              </a:blip>
              <a:stretch>
                <a:fillRect l="-364519" t="0" r="-364519" b="0"/>
              </a:stretch>
            </a:blipFill>
          </p:spPr>
        </p:sp>
        <p:sp>
          <p:nvSpPr>
            <p:cNvPr name="TextBox 24" id="24"/>
            <p:cNvSpPr txBox="true"/>
            <p:nvPr/>
          </p:nvSpPr>
          <p:spPr>
            <a:xfrm>
              <a:off x="0" y="-57150"/>
              <a:ext cx="1267968" cy="4153662"/>
            </a:xfrm>
            <a:prstGeom prst="rect">
              <a:avLst/>
            </a:prstGeom>
          </p:spPr>
          <p:txBody>
            <a:bodyPr anchor="ctr" rtlCol="false" tIns="0" lIns="0" bIns="0" rIns="0"/>
            <a:lstStyle/>
            <a:p>
              <a:pPr algn="ctr">
                <a:lnSpc>
                  <a:spcPts val="3840"/>
                </a:lnSpc>
              </a:pPr>
              <a:r>
                <a:rPr lang="en-US" sz="3200" b="true">
                  <a:solidFill>
                    <a:srgbClr val="FFFFFF"/>
                  </a:solidFill>
                  <a:latin typeface="Calibri (MS) Bold"/>
                  <a:ea typeface="Calibri (MS) Bold"/>
                  <a:cs typeface="Calibri (MS) Bold"/>
                  <a:sym typeface="Calibri (MS) Bold"/>
                </a:rPr>
                <a:t>01</a:t>
              </a:r>
            </a:p>
          </p:txBody>
        </p:sp>
      </p:grpSp>
      <p:grpSp>
        <p:nvGrpSpPr>
          <p:cNvPr name="Group 25" id="25"/>
          <p:cNvGrpSpPr/>
          <p:nvPr/>
        </p:nvGrpSpPr>
        <p:grpSpPr>
          <a:xfrm rot="0">
            <a:off x="1706366" y="3111751"/>
            <a:ext cx="6912864" cy="621792"/>
            <a:chOff x="0" y="0"/>
            <a:chExt cx="9217152" cy="829056"/>
          </a:xfrm>
        </p:grpSpPr>
        <p:sp>
          <p:nvSpPr>
            <p:cNvPr name="Freeform 26" id="26"/>
            <p:cNvSpPr/>
            <p:nvPr/>
          </p:nvSpPr>
          <p:spPr>
            <a:xfrm flipH="false" flipV="false" rot="0">
              <a:off x="0" y="0"/>
              <a:ext cx="9217152" cy="829056"/>
            </a:xfrm>
            <a:custGeom>
              <a:avLst/>
              <a:gdLst/>
              <a:ahLst/>
              <a:cxnLst/>
              <a:rect r="r" b="b" t="t" l="l"/>
              <a:pathLst>
                <a:path h="829056" w="9217152">
                  <a:moveTo>
                    <a:pt x="0" y="0"/>
                  </a:moveTo>
                  <a:lnTo>
                    <a:pt x="9217152" y="0"/>
                  </a:lnTo>
                  <a:lnTo>
                    <a:pt x="9217152" y="829056"/>
                  </a:lnTo>
                  <a:lnTo>
                    <a:pt x="0" y="829056"/>
                  </a:lnTo>
                  <a:close/>
                </a:path>
              </a:pathLst>
            </a:custGeom>
            <a:blipFill>
              <a:blip r:embed="rId3">
                <a:alphaModFix amt="0"/>
              </a:blip>
              <a:stretch>
                <a:fillRect l="0" t="-166627" r="0" b="-166627"/>
              </a:stretch>
            </a:blipFill>
          </p:spPr>
        </p:sp>
        <p:sp>
          <p:nvSpPr>
            <p:cNvPr name="TextBox 27" id="27"/>
            <p:cNvSpPr txBox="true"/>
            <p:nvPr/>
          </p:nvSpPr>
          <p:spPr>
            <a:xfrm>
              <a:off x="0" y="-47625"/>
              <a:ext cx="9217152" cy="876681"/>
            </a:xfrm>
            <a:prstGeom prst="rect">
              <a:avLst/>
            </a:prstGeom>
          </p:spPr>
          <p:txBody>
            <a:bodyPr anchor="ctr" rtlCol="false" tIns="0" lIns="0" bIns="0" rIns="0"/>
            <a:lstStyle/>
            <a:p>
              <a:pPr algn="l">
                <a:lnSpc>
                  <a:spcPts val="2999"/>
                </a:lnSpc>
              </a:pPr>
              <a:r>
                <a:rPr lang="en-US" sz="2499" b="true">
                  <a:solidFill>
                    <a:srgbClr val="1A1A1A"/>
                  </a:solidFill>
                  <a:latin typeface="Calibri (MS) Bold"/>
                  <a:ea typeface="Calibri (MS) Bold"/>
                  <a:cs typeface="Calibri (MS) Bold"/>
                  <a:sym typeface="Calibri (MS) Bold"/>
                </a:rPr>
                <a:t>Dockerfile Generation</a:t>
              </a:r>
            </a:p>
          </p:txBody>
        </p:sp>
      </p:grpSp>
      <p:grpSp>
        <p:nvGrpSpPr>
          <p:cNvPr name="Group 28" id="28"/>
          <p:cNvGrpSpPr/>
          <p:nvPr/>
        </p:nvGrpSpPr>
        <p:grpSpPr>
          <a:xfrm rot="0">
            <a:off x="1706366" y="3770119"/>
            <a:ext cx="6912864" cy="2011680"/>
            <a:chOff x="0" y="0"/>
            <a:chExt cx="9217152" cy="2682240"/>
          </a:xfrm>
        </p:grpSpPr>
        <p:sp>
          <p:nvSpPr>
            <p:cNvPr name="Freeform 29" id="29"/>
            <p:cNvSpPr/>
            <p:nvPr/>
          </p:nvSpPr>
          <p:spPr>
            <a:xfrm flipH="false" flipV="false" rot="0">
              <a:off x="0" y="0"/>
              <a:ext cx="9217152" cy="2682240"/>
            </a:xfrm>
            <a:custGeom>
              <a:avLst/>
              <a:gdLst/>
              <a:ahLst/>
              <a:cxnLst/>
              <a:rect r="r" b="b" t="t" l="l"/>
              <a:pathLst>
                <a:path h="2682240" w="9217152">
                  <a:moveTo>
                    <a:pt x="0" y="0"/>
                  </a:moveTo>
                  <a:lnTo>
                    <a:pt x="9217152" y="0"/>
                  </a:lnTo>
                  <a:lnTo>
                    <a:pt x="9217152" y="2682240"/>
                  </a:lnTo>
                  <a:lnTo>
                    <a:pt x="0" y="2682240"/>
                  </a:lnTo>
                  <a:close/>
                </a:path>
              </a:pathLst>
            </a:custGeom>
            <a:blipFill>
              <a:blip r:embed="rId3">
                <a:alphaModFix amt="0"/>
              </a:blip>
              <a:stretch>
                <a:fillRect l="0" t="-16957" r="0" b="-16957"/>
              </a:stretch>
            </a:blipFill>
          </p:spPr>
        </p:sp>
        <p:sp>
          <p:nvSpPr>
            <p:cNvPr name="TextBox 30" id="30"/>
            <p:cNvSpPr txBox="true"/>
            <p:nvPr/>
          </p:nvSpPr>
          <p:spPr>
            <a:xfrm>
              <a:off x="0" y="-47625"/>
              <a:ext cx="9217152" cy="2729865"/>
            </a:xfrm>
            <a:prstGeom prst="rect">
              <a:avLst/>
            </a:prstGeom>
          </p:spPr>
          <p:txBody>
            <a:bodyPr anchor="ctr" rtlCol="false" tIns="0" lIns="0" bIns="0" rIns="0"/>
            <a:lstStyle/>
            <a:p>
              <a:pPr algn="just">
                <a:lnSpc>
                  <a:spcPts val="2520"/>
                </a:lnSpc>
              </a:pPr>
              <a:r>
                <a:rPr lang="en-US" sz="2100">
                  <a:solidFill>
                    <a:srgbClr val="444444"/>
                  </a:solidFill>
                  <a:latin typeface="Calibri (MS)"/>
                  <a:ea typeface="Calibri (MS)"/>
                  <a:cs typeface="Calibri (MS)"/>
                  <a:sym typeface="Calibri (MS)"/>
                </a:rPr>
                <a:t>LLM generates a Dockerfile from repository context, then iteratively patches it based on build errors until the build succeeds. Also optimises final image size.</a:t>
              </a:r>
            </a:p>
          </p:txBody>
        </p:sp>
      </p:grpSp>
      <p:grpSp>
        <p:nvGrpSpPr>
          <p:cNvPr name="Group 31" id="31"/>
          <p:cNvGrpSpPr/>
          <p:nvPr/>
        </p:nvGrpSpPr>
        <p:grpSpPr>
          <a:xfrm rot="0">
            <a:off x="572510" y="6170043"/>
            <a:ext cx="8291579" cy="3097787"/>
            <a:chOff x="0" y="0"/>
            <a:chExt cx="11055439" cy="4130383"/>
          </a:xfrm>
        </p:grpSpPr>
        <p:sp>
          <p:nvSpPr>
            <p:cNvPr name="Freeform 32" id="32"/>
            <p:cNvSpPr/>
            <p:nvPr/>
          </p:nvSpPr>
          <p:spPr>
            <a:xfrm flipH="false" flipV="false" rot="0">
              <a:off x="0" y="0"/>
              <a:ext cx="11055477" cy="4130421"/>
            </a:xfrm>
            <a:custGeom>
              <a:avLst/>
              <a:gdLst/>
              <a:ahLst/>
              <a:cxnLst/>
              <a:rect r="r" b="b" t="t" l="l"/>
              <a:pathLst>
                <a:path h="4130421" w="11055477">
                  <a:moveTo>
                    <a:pt x="0" y="0"/>
                  </a:moveTo>
                  <a:lnTo>
                    <a:pt x="11055477" y="0"/>
                  </a:lnTo>
                  <a:lnTo>
                    <a:pt x="11055477" y="4130421"/>
                  </a:lnTo>
                  <a:lnTo>
                    <a:pt x="0" y="4130421"/>
                  </a:lnTo>
                  <a:close/>
                </a:path>
              </a:pathLst>
            </a:custGeom>
            <a:solidFill>
              <a:srgbClr val="EEF4FF"/>
            </a:solidFill>
            <a:ln w="25400" cap="sq">
              <a:solidFill>
                <a:srgbClr val="E0E6EF"/>
              </a:solidFill>
              <a:prstDash val="solid"/>
              <a:miter/>
            </a:ln>
          </p:spPr>
        </p:sp>
      </p:grpSp>
      <p:grpSp>
        <p:nvGrpSpPr>
          <p:cNvPr name="Group 33" id="33"/>
          <p:cNvGrpSpPr/>
          <p:nvPr/>
        </p:nvGrpSpPr>
        <p:grpSpPr>
          <a:xfrm rot="0">
            <a:off x="572510" y="6170043"/>
            <a:ext cx="8291579" cy="135131"/>
            <a:chOff x="0" y="0"/>
            <a:chExt cx="11055439" cy="180175"/>
          </a:xfrm>
        </p:grpSpPr>
        <p:sp>
          <p:nvSpPr>
            <p:cNvPr name="Freeform 34" id="34"/>
            <p:cNvSpPr/>
            <p:nvPr/>
          </p:nvSpPr>
          <p:spPr>
            <a:xfrm flipH="false" flipV="false" rot="0">
              <a:off x="0" y="0"/>
              <a:ext cx="11055477" cy="180213"/>
            </a:xfrm>
            <a:custGeom>
              <a:avLst/>
              <a:gdLst/>
              <a:ahLst/>
              <a:cxnLst/>
              <a:rect r="r" b="b" t="t" l="l"/>
              <a:pathLst>
                <a:path h="180213" w="11055477">
                  <a:moveTo>
                    <a:pt x="0" y="0"/>
                  </a:moveTo>
                  <a:lnTo>
                    <a:pt x="11055477" y="0"/>
                  </a:lnTo>
                  <a:lnTo>
                    <a:pt x="11055477" y="180213"/>
                  </a:lnTo>
                  <a:lnTo>
                    <a:pt x="0" y="180213"/>
                  </a:lnTo>
                  <a:close/>
                </a:path>
              </a:pathLst>
            </a:custGeom>
            <a:solidFill>
              <a:srgbClr val="2E75B6"/>
            </a:solidFill>
            <a:ln w="25400" cap="sq">
              <a:solidFill>
                <a:srgbClr val="2E75B6"/>
              </a:solidFill>
              <a:prstDash val="solid"/>
              <a:miter/>
            </a:ln>
          </p:spPr>
        </p:sp>
      </p:grpSp>
      <p:grpSp>
        <p:nvGrpSpPr>
          <p:cNvPr name="Group 35" id="35"/>
          <p:cNvGrpSpPr/>
          <p:nvPr/>
        </p:nvGrpSpPr>
        <p:grpSpPr>
          <a:xfrm rot="0">
            <a:off x="572510" y="6170043"/>
            <a:ext cx="976379" cy="3097787"/>
            <a:chOff x="0" y="0"/>
            <a:chExt cx="1301839" cy="4130383"/>
          </a:xfrm>
        </p:grpSpPr>
        <p:sp>
          <p:nvSpPr>
            <p:cNvPr name="Freeform 36" id="36"/>
            <p:cNvSpPr/>
            <p:nvPr/>
          </p:nvSpPr>
          <p:spPr>
            <a:xfrm flipH="false" flipV="false" rot="0">
              <a:off x="0" y="0"/>
              <a:ext cx="1301877" cy="4130421"/>
            </a:xfrm>
            <a:custGeom>
              <a:avLst/>
              <a:gdLst/>
              <a:ahLst/>
              <a:cxnLst/>
              <a:rect r="r" b="b" t="t" l="l"/>
              <a:pathLst>
                <a:path h="4130421" w="1301877">
                  <a:moveTo>
                    <a:pt x="0" y="0"/>
                  </a:moveTo>
                  <a:lnTo>
                    <a:pt x="1301877" y="0"/>
                  </a:lnTo>
                  <a:lnTo>
                    <a:pt x="1301877" y="4130421"/>
                  </a:lnTo>
                  <a:lnTo>
                    <a:pt x="0" y="4130421"/>
                  </a:lnTo>
                  <a:close/>
                </a:path>
              </a:pathLst>
            </a:custGeom>
            <a:solidFill>
              <a:srgbClr val="2E75B6"/>
            </a:solidFill>
            <a:ln w="25400" cap="sq">
              <a:solidFill>
                <a:srgbClr val="2E75B6"/>
              </a:solidFill>
              <a:prstDash val="solid"/>
              <a:miter/>
            </a:ln>
          </p:spPr>
        </p:sp>
      </p:grpSp>
      <p:grpSp>
        <p:nvGrpSpPr>
          <p:cNvPr name="Group 37" id="37"/>
          <p:cNvGrpSpPr/>
          <p:nvPr/>
        </p:nvGrpSpPr>
        <p:grpSpPr>
          <a:xfrm rot="0">
            <a:off x="585206" y="6182739"/>
            <a:ext cx="950976" cy="3072384"/>
            <a:chOff x="0" y="0"/>
            <a:chExt cx="1267968" cy="4096512"/>
          </a:xfrm>
        </p:grpSpPr>
        <p:sp>
          <p:nvSpPr>
            <p:cNvPr name="Freeform 38" id="38"/>
            <p:cNvSpPr/>
            <p:nvPr/>
          </p:nvSpPr>
          <p:spPr>
            <a:xfrm flipH="false" flipV="false" rot="0">
              <a:off x="0" y="0"/>
              <a:ext cx="1267968" cy="4096512"/>
            </a:xfrm>
            <a:custGeom>
              <a:avLst/>
              <a:gdLst/>
              <a:ahLst/>
              <a:cxnLst/>
              <a:rect r="r" b="b" t="t" l="l"/>
              <a:pathLst>
                <a:path h="4096512" w="1267968">
                  <a:moveTo>
                    <a:pt x="0" y="0"/>
                  </a:moveTo>
                  <a:lnTo>
                    <a:pt x="1267968" y="0"/>
                  </a:lnTo>
                  <a:lnTo>
                    <a:pt x="1267968" y="4096512"/>
                  </a:lnTo>
                  <a:lnTo>
                    <a:pt x="0" y="4096512"/>
                  </a:lnTo>
                  <a:close/>
                </a:path>
              </a:pathLst>
            </a:custGeom>
            <a:blipFill>
              <a:blip r:embed="rId3">
                <a:alphaModFix amt="0"/>
              </a:blip>
              <a:stretch>
                <a:fillRect l="-364519" t="0" r="-364519" b="0"/>
              </a:stretch>
            </a:blipFill>
          </p:spPr>
        </p:sp>
        <p:sp>
          <p:nvSpPr>
            <p:cNvPr name="TextBox 39" id="39"/>
            <p:cNvSpPr txBox="true"/>
            <p:nvPr/>
          </p:nvSpPr>
          <p:spPr>
            <a:xfrm>
              <a:off x="0" y="-57150"/>
              <a:ext cx="1267968" cy="4153662"/>
            </a:xfrm>
            <a:prstGeom prst="rect">
              <a:avLst/>
            </a:prstGeom>
          </p:spPr>
          <p:txBody>
            <a:bodyPr anchor="ctr" rtlCol="false" tIns="0" lIns="0" bIns="0" rIns="0"/>
            <a:lstStyle/>
            <a:p>
              <a:pPr algn="ctr">
                <a:lnSpc>
                  <a:spcPts val="3840"/>
                </a:lnSpc>
              </a:pPr>
              <a:r>
                <a:rPr lang="en-US" sz="3200" b="true">
                  <a:solidFill>
                    <a:srgbClr val="FFFFFF"/>
                  </a:solidFill>
                  <a:latin typeface="Calibri (MS) Bold"/>
                  <a:ea typeface="Calibri (MS) Bold"/>
                  <a:cs typeface="Calibri (MS) Bold"/>
                  <a:sym typeface="Calibri (MS) Bold"/>
                </a:rPr>
                <a:t>02</a:t>
              </a:r>
            </a:p>
          </p:txBody>
        </p:sp>
      </p:grpSp>
      <p:grpSp>
        <p:nvGrpSpPr>
          <p:cNvPr name="Group 40" id="40"/>
          <p:cNvGrpSpPr/>
          <p:nvPr/>
        </p:nvGrpSpPr>
        <p:grpSpPr>
          <a:xfrm rot="0">
            <a:off x="1719062" y="6329043"/>
            <a:ext cx="6912864" cy="621792"/>
            <a:chOff x="0" y="0"/>
            <a:chExt cx="9217152" cy="829056"/>
          </a:xfrm>
        </p:grpSpPr>
        <p:sp>
          <p:nvSpPr>
            <p:cNvPr name="Freeform 41" id="41"/>
            <p:cNvSpPr/>
            <p:nvPr/>
          </p:nvSpPr>
          <p:spPr>
            <a:xfrm flipH="false" flipV="false" rot="0">
              <a:off x="0" y="0"/>
              <a:ext cx="9217152" cy="829056"/>
            </a:xfrm>
            <a:custGeom>
              <a:avLst/>
              <a:gdLst/>
              <a:ahLst/>
              <a:cxnLst/>
              <a:rect r="r" b="b" t="t" l="l"/>
              <a:pathLst>
                <a:path h="829056" w="9217152">
                  <a:moveTo>
                    <a:pt x="0" y="0"/>
                  </a:moveTo>
                  <a:lnTo>
                    <a:pt x="9217152" y="0"/>
                  </a:lnTo>
                  <a:lnTo>
                    <a:pt x="9217152" y="829056"/>
                  </a:lnTo>
                  <a:lnTo>
                    <a:pt x="0" y="829056"/>
                  </a:lnTo>
                  <a:close/>
                </a:path>
              </a:pathLst>
            </a:custGeom>
            <a:blipFill>
              <a:blip r:embed="rId3">
                <a:alphaModFix amt="0"/>
              </a:blip>
              <a:stretch>
                <a:fillRect l="0" t="-166627" r="0" b="-166627"/>
              </a:stretch>
            </a:blipFill>
          </p:spPr>
        </p:sp>
        <p:sp>
          <p:nvSpPr>
            <p:cNvPr name="TextBox 42" id="42"/>
            <p:cNvSpPr txBox="true"/>
            <p:nvPr/>
          </p:nvSpPr>
          <p:spPr>
            <a:xfrm>
              <a:off x="0" y="-47625"/>
              <a:ext cx="9217152" cy="876681"/>
            </a:xfrm>
            <a:prstGeom prst="rect">
              <a:avLst/>
            </a:prstGeom>
          </p:spPr>
          <p:txBody>
            <a:bodyPr anchor="ctr" rtlCol="false" tIns="0" lIns="0" bIns="0" rIns="0"/>
            <a:lstStyle/>
            <a:p>
              <a:pPr algn="l">
                <a:lnSpc>
                  <a:spcPts val="2999"/>
                </a:lnSpc>
              </a:pPr>
              <a:r>
                <a:rPr lang="en-US" sz="2499" b="true">
                  <a:solidFill>
                    <a:srgbClr val="1A1A1A"/>
                  </a:solidFill>
                  <a:latin typeface="Calibri (MS) Bold"/>
                  <a:ea typeface="Calibri (MS) Bold"/>
                  <a:cs typeface="Calibri (MS) Bold"/>
                  <a:sym typeface="Calibri (MS) Bold"/>
                </a:rPr>
                <a:t>Test Generation</a:t>
              </a:r>
            </a:p>
          </p:txBody>
        </p:sp>
      </p:grpSp>
      <p:grpSp>
        <p:nvGrpSpPr>
          <p:cNvPr name="Group 43" id="43"/>
          <p:cNvGrpSpPr/>
          <p:nvPr/>
        </p:nvGrpSpPr>
        <p:grpSpPr>
          <a:xfrm rot="0">
            <a:off x="1719062" y="6987411"/>
            <a:ext cx="6912864" cy="2011680"/>
            <a:chOff x="0" y="0"/>
            <a:chExt cx="9217152" cy="2682240"/>
          </a:xfrm>
        </p:grpSpPr>
        <p:sp>
          <p:nvSpPr>
            <p:cNvPr name="Freeform 44" id="44"/>
            <p:cNvSpPr/>
            <p:nvPr/>
          </p:nvSpPr>
          <p:spPr>
            <a:xfrm flipH="false" flipV="false" rot="0">
              <a:off x="0" y="0"/>
              <a:ext cx="9217152" cy="2682240"/>
            </a:xfrm>
            <a:custGeom>
              <a:avLst/>
              <a:gdLst/>
              <a:ahLst/>
              <a:cxnLst/>
              <a:rect r="r" b="b" t="t" l="l"/>
              <a:pathLst>
                <a:path h="2682240" w="9217152">
                  <a:moveTo>
                    <a:pt x="0" y="0"/>
                  </a:moveTo>
                  <a:lnTo>
                    <a:pt x="9217152" y="0"/>
                  </a:lnTo>
                  <a:lnTo>
                    <a:pt x="9217152" y="2682240"/>
                  </a:lnTo>
                  <a:lnTo>
                    <a:pt x="0" y="2682240"/>
                  </a:lnTo>
                  <a:close/>
                </a:path>
              </a:pathLst>
            </a:custGeom>
            <a:blipFill>
              <a:blip r:embed="rId3">
                <a:alphaModFix amt="0"/>
              </a:blip>
              <a:stretch>
                <a:fillRect l="0" t="-16957" r="0" b="-16957"/>
              </a:stretch>
            </a:blipFill>
          </p:spPr>
        </p:sp>
        <p:sp>
          <p:nvSpPr>
            <p:cNvPr name="TextBox 45" id="45"/>
            <p:cNvSpPr txBox="true"/>
            <p:nvPr/>
          </p:nvSpPr>
          <p:spPr>
            <a:xfrm>
              <a:off x="0" y="-47625"/>
              <a:ext cx="9217152" cy="2729865"/>
            </a:xfrm>
            <a:prstGeom prst="rect">
              <a:avLst/>
            </a:prstGeom>
          </p:spPr>
          <p:txBody>
            <a:bodyPr anchor="ctr" rtlCol="false" tIns="0" lIns="0" bIns="0" rIns="0"/>
            <a:lstStyle/>
            <a:p>
              <a:pPr algn="just">
                <a:lnSpc>
                  <a:spcPts val="2520"/>
                </a:lnSpc>
              </a:pPr>
              <a:r>
                <a:rPr lang="en-US" sz="2100">
                  <a:solidFill>
                    <a:srgbClr val="444444"/>
                  </a:solidFill>
                  <a:latin typeface="Calibri (MS)"/>
                  <a:ea typeface="Calibri (MS)"/>
                  <a:cs typeface="Calibri (MS)"/>
                  <a:sym typeface="Calibri (MS)"/>
                </a:rPr>
                <a:t>Analyses Docker image layers to identify files and binaries, selects high value test targets using scoring rules, and generates CST tests to verify correctness.</a:t>
              </a:r>
            </a:p>
          </p:txBody>
        </p:sp>
      </p:grpSp>
      <p:grpSp>
        <p:nvGrpSpPr>
          <p:cNvPr name="Group 46" id="46"/>
          <p:cNvGrpSpPr/>
          <p:nvPr/>
        </p:nvGrpSpPr>
        <p:grpSpPr>
          <a:xfrm rot="0">
            <a:off x="9264901" y="2952750"/>
            <a:ext cx="8291579" cy="3097787"/>
            <a:chOff x="0" y="0"/>
            <a:chExt cx="11055439" cy="4130383"/>
          </a:xfrm>
        </p:grpSpPr>
        <p:sp>
          <p:nvSpPr>
            <p:cNvPr name="Freeform 47" id="47"/>
            <p:cNvSpPr/>
            <p:nvPr/>
          </p:nvSpPr>
          <p:spPr>
            <a:xfrm flipH="false" flipV="false" rot="0">
              <a:off x="0" y="0"/>
              <a:ext cx="11055477" cy="4130421"/>
            </a:xfrm>
            <a:custGeom>
              <a:avLst/>
              <a:gdLst/>
              <a:ahLst/>
              <a:cxnLst/>
              <a:rect r="r" b="b" t="t" l="l"/>
              <a:pathLst>
                <a:path h="4130421" w="11055477">
                  <a:moveTo>
                    <a:pt x="0" y="0"/>
                  </a:moveTo>
                  <a:lnTo>
                    <a:pt x="11055477" y="0"/>
                  </a:lnTo>
                  <a:lnTo>
                    <a:pt x="11055477" y="4130421"/>
                  </a:lnTo>
                  <a:lnTo>
                    <a:pt x="0" y="4130421"/>
                  </a:lnTo>
                  <a:close/>
                </a:path>
              </a:pathLst>
            </a:custGeom>
            <a:solidFill>
              <a:srgbClr val="FFF0EE"/>
            </a:solidFill>
            <a:ln w="25400" cap="sq">
              <a:solidFill>
                <a:srgbClr val="E0E6EF"/>
              </a:solidFill>
              <a:prstDash val="solid"/>
              <a:miter/>
            </a:ln>
          </p:spPr>
        </p:sp>
      </p:grpSp>
      <p:grpSp>
        <p:nvGrpSpPr>
          <p:cNvPr name="Group 48" id="48"/>
          <p:cNvGrpSpPr/>
          <p:nvPr/>
        </p:nvGrpSpPr>
        <p:grpSpPr>
          <a:xfrm rot="0">
            <a:off x="9264901" y="2952750"/>
            <a:ext cx="8291579" cy="135131"/>
            <a:chOff x="0" y="0"/>
            <a:chExt cx="11055439" cy="180175"/>
          </a:xfrm>
        </p:grpSpPr>
        <p:sp>
          <p:nvSpPr>
            <p:cNvPr name="Freeform 49" id="49"/>
            <p:cNvSpPr/>
            <p:nvPr/>
          </p:nvSpPr>
          <p:spPr>
            <a:xfrm flipH="false" flipV="false" rot="0">
              <a:off x="0" y="0"/>
              <a:ext cx="11055477" cy="180213"/>
            </a:xfrm>
            <a:custGeom>
              <a:avLst/>
              <a:gdLst/>
              <a:ahLst/>
              <a:cxnLst/>
              <a:rect r="r" b="b" t="t" l="l"/>
              <a:pathLst>
                <a:path h="180213" w="11055477">
                  <a:moveTo>
                    <a:pt x="0" y="0"/>
                  </a:moveTo>
                  <a:lnTo>
                    <a:pt x="11055477" y="0"/>
                  </a:lnTo>
                  <a:lnTo>
                    <a:pt x="11055477" y="180213"/>
                  </a:lnTo>
                  <a:lnTo>
                    <a:pt x="0" y="180213"/>
                  </a:lnTo>
                  <a:close/>
                </a:path>
              </a:pathLst>
            </a:custGeom>
            <a:solidFill>
              <a:srgbClr val="C0392B"/>
            </a:solidFill>
            <a:ln w="25400" cap="sq">
              <a:solidFill>
                <a:srgbClr val="C0392B"/>
              </a:solidFill>
              <a:prstDash val="solid"/>
              <a:miter/>
            </a:ln>
          </p:spPr>
        </p:sp>
      </p:grpSp>
      <p:grpSp>
        <p:nvGrpSpPr>
          <p:cNvPr name="Group 50" id="50"/>
          <p:cNvGrpSpPr/>
          <p:nvPr/>
        </p:nvGrpSpPr>
        <p:grpSpPr>
          <a:xfrm rot="0">
            <a:off x="9264901" y="2952750"/>
            <a:ext cx="976379" cy="3097787"/>
            <a:chOff x="0" y="0"/>
            <a:chExt cx="1301839" cy="4130383"/>
          </a:xfrm>
        </p:grpSpPr>
        <p:sp>
          <p:nvSpPr>
            <p:cNvPr name="Freeform 51" id="51"/>
            <p:cNvSpPr/>
            <p:nvPr/>
          </p:nvSpPr>
          <p:spPr>
            <a:xfrm flipH="false" flipV="false" rot="0">
              <a:off x="0" y="0"/>
              <a:ext cx="1301877" cy="4130421"/>
            </a:xfrm>
            <a:custGeom>
              <a:avLst/>
              <a:gdLst/>
              <a:ahLst/>
              <a:cxnLst/>
              <a:rect r="r" b="b" t="t" l="l"/>
              <a:pathLst>
                <a:path h="4130421" w="1301877">
                  <a:moveTo>
                    <a:pt x="0" y="0"/>
                  </a:moveTo>
                  <a:lnTo>
                    <a:pt x="1301877" y="0"/>
                  </a:lnTo>
                  <a:lnTo>
                    <a:pt x="1301877" y="4130421"/>
                  </a:lnTo>
                  <a:lnTo>
                    <a:pt x="0" y="4130421"/>
                  </a:lnTo>
                  <a:close/>
                </a:path>
              </a:pathLst>
            </a:custGeom>
            <a:solidFill>
              <a:srgbClr val="C0392B"/>
            </a:solidFill>
            <a:ln w="25400" cap="sq">
              <a:solidFill>
                <a:srgbClr val="C0392B"/>
              </a:solidFill>
              <a:prstDash val="solid"/>
              <a:miter/>
            </a:ln>
          </p:spPr>
        </p:sp>
      </p:grpSp>
      <p:grpSp>
        <p:nvGrpSpPr>
          <p:cNvPr name="Group 52" id="52"/>
          <p:cNvGrpSpPr/>
          <p:nvPr/>
        </p:nvGrpSpPr>
        <p:grpSpPr>
          <a:xfrm rot="0">
            <a:off x="9277598" y="2965447"/>
            <a:ext cx="950976" cy="3072384"/>
            <a:chOff x="0" y="0"/>
            <a:chExt cx="1267968" cy="4096512"/>
          </a:xfrm>
        </p:grpSpPr>
        <p:sp>
          <p:nvSpPr>
            <p:cNvPr name="Freeform 53" id="53"/>
            <p:cNvSpPr/>
            <p:nvPr/>
          </p:nvSpPr>
          <p:spPr>
            <a:xfrm flipH="false" flipV="false" rot="0">
              <a:off x="0" y="0"/>
              <a:ext cx="1267968" cy="4096512"/>
            </a:xfrm>
            <a:custGeom>
              <a:avLst/>
              <a:gdLst/>
              <a:ahLst/>
              <a:cxnLst/>
              <a:rect r="r" b="b" t="t" l="l"/>
              <a:pathLst>
                <a:path h="4096512" w="1267968">
                  <a:moveTo>
                    <a:pt x="0" y="0"/>
                  </a:moveTo>
                  <a:lnTo>
                    <a:pt x="1267968" y="0"/>
                  </a:lnTo>
                  <a:lnTo>
                    <a:pt x="1267968" y="4096512"/>
                  </a:lnTo>
                  <a:lnTo>
                    <a:pt x="0" y="4096512"/>
                  </a:lnTo>
                  <a:close/>
                </a:path>
              </a:pathLst>
            </a:custGeom>
            <a:blipFill>
              <a:blip r:embed="rId3">
                <a:alphaModFix amt="0"/>
              </a:blip>
              <a:stretch>
                <a:fillRect l="-364519" t="0" r="-364519" b="0"/>
              </a:stretch>
            </a:blipFill>
          </p:spPr>
        </p:sp>
        <p:sp>
          <p:nvSpPr>
            <p:cNvPr name="TextBox 54" id="54"/>
            <p:cNvSpPr txBox="true"/>
            <p:nvPr/>
          </p:nvSpPr>
          <p:spPr>
            <a:xfrm>
              <a:off x="0" y="-57150"/>
              <a:ext cx="1267968" cy="4153662"/>
            </a:xfrm>
            <a:prstGeom prst="rect">
              <a:avLst/>
            </a:prstGeom>
          </p:spPr>
          <p:txBody>
            <a:bodyPr anchor="ctr" rtlCol="false" tIns="0" lIns="0" bIns="0" rIns="0"/>
            <a:lstStyle/>
            <a:p>
              <a:pPr algn="ctr">
                <a:lnSpc>
                  <a:spcPts val="3840"/>
                </a:lnSpc>
              </a:pPr>
              <a:r>
                <a:rPr lang="en-US" sz="3200" b="true">
                  <a:solidFill>
                    <a:srgbClr val="FFFFFF"/>
                  </a:solidFill>
                  <a:latin typeface="Calibri (MS) Bold"/>
                  <a:ea typeface="Calibri (MS) Bold"/>
                  <a:cs typeface="Calibri (MS) Bold"/>
                  <a:sym typeface="Calibri (MS) Bold"/>
                </a:rPr>
                <a:t>03</a:t>
              </a:r>
            </a:p>
          </p:txBody>
        </p:sp>
      </p:grpSp>
      <p:grpSp>
        <p:nvGrpSpPr>
          <p:cNvPr name="Group 55" id="55"/>
          <p:cNvGrpSpPr/>
          <p:nvPr/>
        </p:nvGrpSpPr>
        <p:grpSpPr>
          <a:xfrm rot="0">
            <a:off x="10411454" y="3111751"/>
            <a:ext cx="6912864" cy="621792"/>
            <a:chOff x="0" y="0"/>
            <a:chExt cx="9217152" cy="829056"/>
          </a:xfrm>
        </p:grpSpPr>
        <p:sp>
          <p:nvSpPr>
            <p:cNvPr name="Freeform 56" id="56"/>
            <p:cNvSpPr/>
            <p:nvPr/>
          </p:nvSpPr>
          <p:spPr>
            <a:xfrm flipH="false" flipV="false" rot="0">
              <a:off x="0" y="0"/>
              <a:ext cx="9217152" cy="829056"/>
            </a:xfrm>
            <a:custGeom>
              <a:avLst/>
              <a:gdLst/>
              <a:ahLst/>
              <a:cxnLst/>
              <a:rect r="r" b="b" t="t" l="l"/>
              <a:pathLst>
                <a:path h="829056" w="9217152">
                  <a:moveTo>
                    <a:pt x="0" y="0"/>
                  </a:moveTo>
                  <a:lnTo>
                    <a:pt x="9217152" y="0"/>
                  </a:lnTo>
                  <a:lnTo>
                    <a:pt x="9217152" y="829056"/>
                  </a:lnTo>
                  <a:lnTo>
                    <a:pt x="0" y="829056"/>
                  </a:lnTo>
                  <a:close/>
                </a:path>
              </a:pathLst>
            </a:custGeom>
            <a:blipFill>
              <a:blip r:embed="rId3">
                <a:alphaModFix amt="0"/>
              </a:blip>
              <a:stretch>
                <a:fillRect l="0" t="-166627" r="0" b="-166627"/>
              </a:stretch>
            </a:blipFill>
          </p:spPr>
        </p:sp>
        <p:sp>
          <p:nvSpPr>
            <p:cNvPr name="TextBox 57" id="57"/>
            <p:cNvSpPr txBox="true"/>
            <p:nvPr/>
          </p:nvSpPr>
          <p:spPr>
            <a:xfrm>
              <a:off x="0" y="-47625"/>
              <a:ext cx="9217152" cy="876681"/>
            </a:xfrm>
            <a:prstGeom prst="rect">
              <a:avLst/>
            </a:prstGeom>
          </p:spPr>
          <p:txBody>
            <a:bodyPr anchor="ctr" rtlCol="false" tIns="0" lIns="0" bIns="0" rIns="0"/>
            <a:lstStyle/>
            <a:p>
              <a:pPr algn="l">
                <a:lnSpc>
                  <a:spcPts val="2999"/>
                </a:lnSpc>
              </a:pPr>
              <a:r>
                <a:rPr lang="en-US" sz="2499" b="true">
                  <a:solidFill>
                    <a:srgbClr val="1A1A1A"/>
                  </a:solidFill>
                  <a:latin typeface="Calibri (MS) Bold"/>
                  <a:ea typeface="Calibri (MS) Bold"/>
                  <a:cs typeface="Calibri (MS) Bold"/>
                  <a:sym typeface="Calibri (MS) Bold"/>
                </a:rPr>
                <a:t>Flakiness Detection &amp; Repair</a:t>
              </a:r>
            </a:p>
          </p:txBody>
        </p:sp>
      </p:grpSp>
      <p:grpSp>
        <p:nvGrpSpPr>
          <p:cNvPr name="Group 58" id="58"/>
          <p:cNvGrpSpPr/>
          <p:nvPr/>
        </p:nvGrpSpPr>
        <p:grpSpPr>
          <a:xfrm rot="0">
            <a:off x="10411454" y="3770119"/>
            <a:ext cx="6912864" cy="2011680"/>
            <a:chOff x="0" y="0"/>
            <a:chExt cx="9217152" cy="2682240"/>
          </a:xfrm>
        </p:grpSpPr>
        <p:sp>
          <p:nvSpPr>
            <p:cNvPr name="Freeform 59" id="59"/>
            <p:cNvSpPr/>
            <p:nvPr/>
          </p:nvSpPr>
          <p:spPr>
            <a:xfrm flipH="false" flipV="false" rot="0">
              <a:off x="0" y="0"/>
              <a:ext cx="9217152" cy="2682240"/>
            </a:xfrm>
            <a:custGeom>
              <a:avLst/>
              <a:gdLst/>
              <a:ahLst/>
              <a:cxnLst/>
              <a:rect r="r" b="b" t="t" l="l"/>
              <a:pathLst>
                <a:path h="2682240" w="9217152">
                  <a:moveTo>
                    <a:pt x="0" y="0"/>
                  </a:moveTo>
                  <a:lnTo>
                    <a:pt x="9217152" y="0"/>
                  </a:lnTo>
                  <a:lnTo>
                    <a:pt x="9217152" y="2682240"/>
                  </a:lnTo>
                  <a:lnTo>
                    <a:pt x="0" y="2682240"/>
                  </a:lnTo>
                  <a:close/>
                </a:path>
              </a:pathLst>
            </a:custGeom>
            <a:blipFill>
              <a:blip r:embed="rId3">
                <a:alphaModFix amt="0"/>
              </a:blip>
              <a:stretch>
                <a:fillRect l="0" t="-16957" r="0" b="-16957"/>
              </a:stretch>
            </a:blipFill>
          </p:spPr>
        </p:sp>
        <p:sp>
          <p:nvSpPr>
            <p:cNvPr name="TextBox 60" id="60"/>
            <p:cNvSpPr txBox="true"/>
            <p:nvPr/>
          </p:nvSpPr>
          <p:spPr>
            <a:xfrm>
              <a:off x="0" y="-47625"/>
              <a:ext cx="9217152" cy="2729865"/>
            </a:xfrm>
            <a:prstGeom prst="rect">
              <a:avLst/>
            </a:prstGeom>
          </p:spPr>
          <p:txBody>
            <a:bodyPr anchor="ctr" rtlCol="false" tIns="0" lIns="0" bIns="0" rIns="0"/>
            <a:lstStyle/>
            <a:p>
              <a:pPr algn="just">
                <a:lnSpc>
                  <a:spcPts val="2520"/>
                </a:lnSpc>
              </a:pPr>
              <a:r>
                <a:rPr lang="en-US" sz="2100">
                  <a:solidFill>
                    <a:srgbClr val="444444"/>
                  </a:solidFill>
                  <a:latin typeface="Calibri (MS)"/>
                  <a:ea typeface="Calibri (MS)"/>
                  <a:cs typeface="Calibri (MS)"/>
                  <a:sym typeface="Calibri (MS)"/>
                </a:rPr>
                <a:t>Runs repeated builds to detect flaky behaviour, retrieves similar past repairs using RAG, and uses an LLM feedback loop to patch the Dockerfile.</a:t>
              </a:r>
            </a:p>
          </p:txBody>
        </p:sp>
      </p:grpSp>
      <p:grpSp>
        <p:nvGrpSpPr>
          <p:cNvPr name="Group 61" id="61"/>
          <p:cNvGrpSpPr/>
          <p:nvPr/>
        </p:nvGrpSpPr>
        <p:grpSpPr>
          <a:xfrm rot="0">
            <a:off x="9277598" y="6170043"/>
            <a:ext cx="8291579" cy="3097787"/>
            <a:chOff x="0" y="0"/>
            <a:chExt cx="11055439" cy="4130383"/>
          </a:xfrm>
        </p:grpSpPr>
        <p:sp>
          <p:nvSpPr>
            <p:cNvPr name="Freeform 62" id="62"/>
            <p:cNvSpPr/>
            <p:nvPr/>
          </p:nvSpPr>
          <p:spPr>
            <a:xfrm flipH="false" flipV="false" rot="0">
              <a:off x="0" y="0"/>
              <a:ext cx="11055477" cy="4130421"/>
            </a:xfrm>
            <a:custGeom>
              <a:avLst/>
              <a:gdLst/>
              <a:ahLst/>
              <a:cxnLst/>
              <a:rect r="r" b="b" t="t" l="l"/>
              <a:pathLst>
                <a:path h="4130421" w="11055477">
                  <a:moveTo>
                    <a:pt x="0" y="0"/>
                  </a:moveTo>
                  <a:lnTo>
                    <a:pt x="11055477" y="0"/>
                  </a:lnTo>
                  <a:lnTo>
                    <a:pt x="11055477" y="4130421"/>
                  </a:lnTo>
                  <a:lnTo>
                    <a:pt x="0" y="4130421"/>
                  </a:lnTo>
                  <a:close/>
                </a:path>
              </a:pathLst>
            </a:custGeom>
            <a:solidFill>
              <a:srgbClr val="FFF8EE"/>
            </a:solidFill>
            <a:ln w="25400" cap="sq">
              <a:solidFill>
                <a:srgbClr val="E0E6EF"/>
              </a:solidFill>
              <a:prstDash val="solid"/>
              <a:miter/>
            </a:ln>
          </p:spPr>
        </p:sp>
      </p:grpSp>
      <p:grpSp>
        <p:nvGrpSpPr>
          <p:cNvPr name="Group 63" id="63"/>
          <p:cNvGrpSpPr/>
          <p:nvPr/>
        </p:nvGrpSpPr>
        <p:grpSpPr>
          <a:xfrm rot="0">
            <a:off x="9277598" y="6170043"/>
            <a:ext cx="8291579" cy="135131"/>
            <a:chOff x="0" y="0"/>
            <a:chExt cx="11055439" cy="180175"/>
          </a:xfrm>
        </p:grpSpPr>
        <p:sp>
          <p:nvSpPr>
            <p:cNvPr name="Freeform 64" id="64"/>
            <p:cNvSpPr/>
            <p:nvPr/>
          </p:nvSpPr>
          <p:spPr>
            <a:xfrm flipH="false" flipV="false" rot="0">
              <a:off x="0" y="0"/>
              <a:ext cx="11055477" cy="180213"/>
            </a:xfrm>
            <a:custGeom>
              <a:avLst/>
              <a:gdLst/>
              <a:ahLst/>
              <a:cxnLst/>
              <a:rect r="r" b="b" t="t" l="l"/>
              <a:pathLst>
                <a:path h="180213" w="11055477">
                  <a:moveTo>
                    <a:pt x="0" y="0"/>
                  </a:moveTo>
                  <a:lnTo>
                    <a:pt x="11055477" y="0"/>
                  </a:lnTo>
                  <a:lnTo>
                    <a:pt x="11055477" y="180213"/>
                  </a:lnTo>
                  <a:lnTo>
                    <a:pt x="0" y="180213"/>
                  </a:lnTo>
                  <a:close/>
                </a:path>
              </a:pathLst>
            </a:custGeom>
            <a:solidFill>
              <a:srgbClr val="BA7517"/>
            </a:solidFill>
            <a:ln w="25400" cap="sq">
              <a:solidFill>
                <a:srgbClr val="BA7517"/>
              </a:solidFill>
              <a:prstDash val="solid"/>
              <a:miter/>
            </a:ln>
          </p:spPr>
        </p:sp>
      </p:grpSp>
      <p:grpSp>
        <p:nvGrpSpPr>
          <p:cNvPr name="Group 65" id="65"/>
          <p:cNvGrpSpPr/>
          <p:nvPr/>
        </p:nvGrpSpPr>
        <p:grpSpPr>
          <a:xfrm rot="0">
            <a:off x="9277598" y="6170043"/>
            <a:ext cx="976379" cy="3097787"/>
            <a:chOff x="0" y="0"/>
            <a:chExt cx="1301839" cy="4130383"/>
          </a:xfrm>
        </p:grpSpPr>
        <p:sp>
          <p:nvSpPr>
            <p:cNvPr name="Freeform 66" id="66"/>
            <p:cNvSpPr/>
            <p:nvPr/>
          </p:nvSpPr>
          <p:spPr>
            <a:xfrm flipH="false" flipV="false" rot="0">
              <a:off x="0" y="0"/>
              <a:ext cx="1301877" cy="4130421"/>
            </a:xfrm>
            <a:custGeom>
              <a:avLst/>
              <a:gdLst/>
              <a:ahLst/>
              <a:cxnLst/>
              <a:rect r="r" b="b" t="t" l="l"/>
              <a:pathLst>
                <a:path h="4130421" w="1301877">
                  <a:moveTo>
                    <a:pt x="0" y="0"/>
                  </a:moveTo>
                  <a:lnTo>
                    <a:pt x="1301877" y="0"/>
                  </a:lnTo>
                  <a:lnTo>
                    <a:pt x="1301877" y="4130421"/>
                  </a:lnTo>
                  <a:lnTo>
                    <a:pt x="0" y="4130421"/>
                  </a:lnTo>
                  <a:close/>
                </a:path>
              </a:pathLst>
            </a:custGeom>
            <a:solidFill>
              <a:srgbClr val="BA7517"/>
            </a:solidFill>
            <a:ln w="25400" cap="sq">
              <a:solidFill>
                <a:srgbClr val="BA7517"/>
              </a:solidFill>
              <a:prstDash val="solid"/>
              <a:miter/>
            </a:ln>
          </p:spPr>
        </p:sp>
      </p:grpSp>
      <p:grpSp>
        <p:nvGrpSpPr>
          <p:cNvPr name="Group 67" id="67"/>
          <p:cNvGrpSpPr/>
          <p:nvPr/>
        </p:nvGrpSpPr>
        <p:grpSpPr>
          <a:xfrm rot="0">
            <a:off x="9290294" y="6182739"/>
            <a:ext cx="950976" cy="3072384"/>
            <a:chOff x="0" y="0"/>
            <a:chExt cx="1267968" cy="4096512"/>
          </a:xfrm>
        </p:grpSpPr>
        <p:sp>
          <p:nvSpPr>
            <p:cNvPr name="Freeform 68" id="68"/>
            <p:cNvSpPr/>
            <p:nvPr/>
          </p:nvSpPr>
          <p:spPr>
            <a:xfrm flipH="false" flipV="false" rot="0">
              <a:off x="0" y="0"/>
              <a:ext cx="1267968" cy="4096512"/>
            </a:xfrm>
            <a:custGeom>
              <a:avLst/>
              <a:gdLst/>
              <a:ahLst/>
              <a:cxnLst/>
              <a:rect r="r" b="b" t="t" l="l"/>
              <a:pathLst>
                <a:path h="4096512" w="1267968">
                  <a:moveTo>
                    <a:pt x="0" y="0"/>
                  </a:moveTo>
                  <a:lnTo>
                    <a:pt x="1267968" y="0"/>
                  </a:lnTo>
                  <a:lnTo>
                    <a:pt x="1267968" y="4096512"/>
                  </a:lnTo>
                  <a:lnTo>
                    <a:pt x="0" y="4096512"/>
                  </a:lnTo>
                  <a:close/>
                </a:path>
              </a:pathLst>
            </a:custGeom>
            <a:blipFill>
              <a:blip r:embed="rId3">
                <a:alphaModFix amt="0"/>
              </a:blip>
              <a:stretch>
                <a:fillRect l="-364519" t="0" r="-364519" b="0"/>
              </a:stretch>
            </a:blipFill>
          </p:spPr>
        </p:sp>
        <p:sp>
          <p:nvSpPr>
            <p:cNvPr name="TextBox 69" id="69"/>
            <p:cNvSpPr txBox="true"/>
            <p:nvPr/>
          </p:nvSpPr>
          <p:spPr>
            <a:xfrm>
              <a:off x="0" y="-57150"/>
              <a:ext cx="1267968" cy="4153662"/>
            </a:xfrm>
            <a:prstGeom prst="rect">
              <a:avLst/>
            </a:prstGeom>
          </p:spPr>
          <p:txBody>
            <a:bodyPr anchor="ctr" rtlCol="false" tIns="0" lIns="0" bIns="0" rIns="0"/>
            <a:lstStyle/>
            <a:p>
              <a:pPr algn="ctr">
                <a:lnSpc>
                  <a:spcPts val="3840"/>
                </a:lnSpc>
              </a:pPr>
              <a:r>
                <a:rPr lang="en-US" sz="3200" b="true">
                  <a:solidFill>
                    <a:srgbClr val="FFFFFF"/>
                  </a:solidFill>
                  <a:latin typeface="Calibri (MS) Bold"/>
                  <a:ea typeface="Calibri (MS) Bold"/>
                  <a:cs typeface="Calibri (MS) Bold"/>
                  <a:sym typeface="Calibri (MS) Bold"/>
                </a:rPr>
                <a:t>04</a:t>
              </a:r>
            </a:p>
          </p:txBody>
        </p:sp>
      </p:grpSp>
      <p:grpSp>
        <p:nvGrpSpPr>
          <p:cNvPr name="Group 70" id="70"/>
          <p:cNvGrpSpPr/>
          <p:nvPr/>
        </p:nvGrpSpPr>
        <p:grpSpPr>
          <a:xfrm rot="0">
            <a:off x="10424150" y="6329043"/>
            <a:ext cx="6912864" cy="621792"/>
            <a:chOff x="0" y="0"/>
            <a:chExt cx="9217152" cy="829056"/>
          </a:xfrm>
        </p:grpSpPr>
        <p:sp>
          <p:nvSpPr>
            <p:cNvPr name="Freeform 71" id="71"/>
            <p:cNvSpPr/>
            <p:nvPr/>
          </p:nvSpPr>
          <p:spPr>
            <a:xfrm flipH="false" flipV="false" rot="0">
              <a:off x="0" y="0"/>
              <a:ext cx="9217152" cy="829056"/>
            </a:xfrm>
            <a:custGeom>
              <a:avLst/>
              <a:gdLst/>
              <a:ahLst/>
              <a:cxnLst/>
              <a:rect r="r" b="b" t="t" l="l"/>
              <a:pathLst>
                <a:path h="829056" w="9217152">
                  <a:moveTo>
                    <a:pt x="0" y="0"/>
                  </a:moveTo>
                  <a:lnTo>
                    <a:pt x="9217152" y="0"/>
                  </a:lnTo>
                  <a:lnTo>
                    <a:pt x="9217152" y="829056"/>
                  </a:lnTo>
                  <a:lnTo>
                    <a:pt x="0" y="829056"/>
                  </a:lnTo>
                  <a:close/>
                </a:path>
              </a:pathLst>
            </a:custGeom>
            <a:blipFill>
              <a:blip r:embed="rId3">
                <a:alphaModFix amt="0"/>
              </a:blip>
              <a:stretch>
                <a:fillRect l="0" t="-166627" r="0" b="-166627"/>
              </a:stretch>
            </a:blipFill>
          </p:spPr>
        </p:sp>
        <p:sp>
          <p:nvSpPr>
            <p:cNvPr name="TextBox 72" id="72"/>
            <p:cNvSpPr txBox="true"/>
            <p:nvPr/>
          </p:nvSpPr>
          <p:spPr>
            <a:xfrm>
              <a:off x="0" y="-47625"/>
              <a:ext cx="9217152" cy="876681"/>
            </a:xfrm>
            <a:prstGeom prst="rect">
              <a:avLst/>
            </a:prstGeom>
          </p:spPr>
          <p:txBody>
            <a:bodyPr anchor="ctr" rtlCol="false" tIns="0" lIns="0" bIns="0" rIns="0"/>
            <a:lstStyle/>
            <a:p>
              <a:pPr algn="l">
                <a:lnSpc>
                  <a:spcPts val="2999"/>
                </a:lnSpc>
              </a:pPr>
              <a:r>
                <a:rPr lang="en-US" sz="2499" b="true">
                  <a:solidFill>
                    <a:srgbClr val="1A1A1A"/>
                  </a:solidFill>
                  <a:latin typeface="Calibri (MS) Bold"/>
                  <a:ea typeface="Calibri (MS) Bold"/>
                  <a:cs typeface="Calibri (MS) Bold"/>
                  <a:sym typeface="Calibri (MS) Bold"/>
                </a:rPr>
                <a:t>Chat-based Assistant</a:t>
              </a:r>
            </a:p>
          </p:txBody>
        </p:sp>
      </p:grpSp>
      <p:grpSp>
        <p:nvGrpSpPr>
          <p:cNvPr name="Group 73" id="73"/>
          <p:cNvGrpSpPr/>
          <p:nvPr/>
        </p:nvGrpSpPr>
        <p:grpSpPr>
          <a:xfrm rot="0">
            <a:off x="10424150" y="6987411"/>
            <a:ext cx="6912864" cy="2011680"/>
            <a:chOff x="0" y="0"/>
            <a:chExt cx="9217152" cy="2682240"/>
          </a:xfrm>
        </p:grpSpPr>
        <p:sp>
          <p:nvSpPr>
            <p:cNvPr name="Freeform 74" id="74"/>
            <p:cNvSpPr/>
            <p:nvPr/>
          </p:nvSpPr>
          <p:spPr>
            <a:xfrm flipH="false" flipV="false" rot="0">
              <a:off x="0" y="0"/>
              <a:ext cx="9217152" cy="2682240"/>
            </a:xfrm>
            <a:custGeom>
              <a:avLst/>
              <a:gdLst/>
              <a:ahLst/>
              <a:cxnLst/>
              <a:rect r="r" b="b" t="t" l="l"/>
              <a:pathLst>
                <a:path h="2682240" w="9217152">
                  <a:moveTo>
                    <a:pt x="0" y="0"/>
                  </a:moveTo>
                  <a:lnTo>
                    <a:pt x="9217152" y="0"/>
                  </a:lnTo>
                  <a:lnTo>
                    <a:pt x="9217152" y="2682240"/>
                  </a:lnTo>
                  <a:lnTo>
                    <a:pt x="0" y="2682240"/>
                  </a:lnTo>
                  <a:close/>
                </a:path>
              </a:pathLst>
            </a:custGeom>
            <a:blipFill>
              <a:blip r:embed="rId3">
                <a:alphaModFix amt="0"/>
              </a:blip>
              <a:stretch>
                <a:fillRect l="0" t="-16957" r="0" b="-16957"/>
              </a:stretch>
            </a:blipFill>
          </p:spPr>
        </p:sp>
        <p:sp>
          <p:nvSpPr>
            <p:cNvPr name="TextBox 75" id="75"/>
            <p:cNvSpPr txBox="true"/>
            <p:nvPr/>
          </p:nvSpPr>
          <p:spPr>
            <a:xfrm>
              <a:off x="0" y="-47625"/>
              <a:ext cx="9217152" cy="2729865"/>
            </a:xfrm>
            <a:prstGeom prst="rect">
              <a:avLst/>
            </a:prstGeom>
          </p:spPr>
          <p:txBody>
            <a:bodyPr anchor="ctr" rtlCol="false" tIns="0" lIns="0" bIns="0" rIns="0"/>
            <a:lstStyle/>
            <a:p>
              <a:pPr algn="just">
                <a:lnSpc>
                  <a:spcPts val="2520"/>
                </a:lnSpc>
              </a:pPr>
              <a:r>
                <a:rPr lang="en-US" sz="2100">
                  <a:solidFill>
                    <a:srgbClr val="444444"/>
                  </a:solidFill>
                  <a:latin typeface="Calibri (MS)"/>
                  <a:ea typeface="Calibri (MS)"/>
                  <a:cs typeface="Calibri (MS)"/>
                  <a:sym typeface="Calibri (MS)"/>
                </a:rPr>
                <a:t>VS Code sidebar panel (like Copilot Chat) that explains errors in plain language and answers questions about the Docker setup.</a:t>
              </a:r>
            </a:p>
          </p:txBody>
        </p:sp>
      </p:grpSp>
      <p:grpSp>
        <p:nvGrpSpPr>
          <p:cNvPr name="Group 76" id="76"/>
          <p:cNvGrpSpPr/>
          <p:nvPr/>
        </p:nvGrpSpPr>
        <p:grpSpPr>
          <a:xfrm rot="0">
            <a:off x="572510" y="9387335"/>
            <a:ext cx="16996667" cy="647195"/>
            <a:chOff x="0" y="0"/>
            <a:chExt cx="22662223" cy="862927"/>
          </a:xfrm>
        </p:grpSpPr>
        <p:sp>
          <p:nvSpPr>
            <p:cNvPr name="Freeform 77" id="77"/>
            <p:cNvSpPr/>
            <p:nvPr/>
          </p:nvSpPr>
          <p:spPr>
            <a:xfrm flipH="false" flipV="false" rot="0">
              <a:off x="0" y="0"/>
              <a:ext cx="22662262" cy="862965"/>
            </a:xfrm>
            <a:custGeom>
              <a:avLst/>
              <a:gdLst/>
              <a:ahLst/>
              <a:cxnLst/>
              <a:rect r="r" b="b" t="t" l="l"/>
              <a:pathLst>
                <a:path h="862965" w="22662262">
                  <a:moveTo>
                    <a:pt x="0" y="0"/>
                  </a:moveTo>
                  <a:lnTo>
                    <a:pt x="22662262" y="0"/>
                  </a:lnTo>
                  <a:lnTo>
                    <a:pt x="22662262" y="862965"/>
                  </a:lnTo>
                  <a:lnTo>
                    <a:pt x="0" y="862965"/>
                  </a:lnTo>
                  <a:close/>
                </a:path>
              </a:pathLst>
            </a:custGeom>
            <a:solidFill>
              <a:srgbClr val="1D7A5F"/>
            </a:solidFill>
            <a:ln w="25400" cap="sq">
              <a:solidFill>
                <a:srgbClr val="1D7A5F"/>
              </a:solidFill>
              <a:prstDash val="solid"/>
              <a:miter/>
            </a:ln>
          </p:spPr>
        </p:sp>
      </p:grpSp>
      <p:grpSp>
        <p:nvGrpSpPr>
          <p:cNvPr name="Group 78" id="78"/>
          <p:cNvGrpSpPr/>
          <p:nvPr/>
        </p:nvGrpSpPr>
        <p:grpSpPr>
          <a:xfrm rot="0">
            <a:off x="584992" y="9400032"/>
            <a:ext cx="16971694" cy="621792"/>
            <a:chOff x="0" y="0"/>
            <a:chExt cx="22628925" cy="829056"/>
          </a:xfrm>
        </p:grpSpPr>
        <p:sp>
          <p:nvSpPr>
            <p:cNvPr name="Freeform 79" id="79"/>
            <p:cNvSpPr/>
            <p:nvPr/>
          </p:nvSpPr>
          <p:spPr>
            <a:xfrm flipH="false" flipV="false" rot="0">
              <a:off x="0" y="0"/>
              <a:ext cx="22628926" cy="829056"/>
            </a:xfrm>
            <a:custGeom>
              <a:avLst/>
              <a:gdLst/>
              <a:ahLst/>
              <a:cxnLst/>
              <a:rect r="r" b="b" t="t" l="l"/>
              <a:pathLst>
                <a:path h="829056" w="22628926">
                  <a:moveTo>
                    <a:pt x="0" y="0"/>
                  </a:moveTo>
                  <a:lnTo>
                    <a:pt x="22628926" y="0"/>
                  </a:lnTo>
                  <a:lnTo>
                    <a:pt x="22628926" y="829056"/>
                  </a:lnTo>
                  <a:lnTo>
                    <a:pt x="0" y="829056"/>
                  </a:lnTo>
                  <a:close/>
                </a:path>
              </a:pathLst>
            </a:custGeom>
            <a:blipFill>
              <a:blip r:embed="rId3">
                <a:alphaModFix amt="0"/>
              </a:blip>
              <a:stretch>
                <a:fillRect l="0" t="-490996" r="-1721" b="-490996"/>
              </a:stretch>
            </a:blipFill>
          </p:spPr>
        </p:sp>
        <p:sp>
          <p:nvSpPr>
            <p:cNvPr name="TextBox 80" id="80"/>
            <p:cNvSpPr txBox="true"/>
            <p:nvPr/>
          </p:nvSpPr>
          <p:spPr>
            <a:xfrm>
              <a:off x="0" y="-47625"/>
              <a:ext cx="22628925" cy="876681"/>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 Unified Feedback Loop - test failures &amp; flakiness signals feed back into Dockerfile generation</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F6FA"/>
        </a:solidFill>
      </p:bgPr>
    </p:bg>
    <p:spTree>
      <p:nvGrpSpPr>
        <p:cNvPr id="1" name=""/>
        <p:cNvGrpSpPr/>
        <p:nvPr/>
      </p:nvGrpSpPr>
      <p:grpSpPr>
        <a:xfrm>
          <a:off x="0" y="0"/>
          <a:ext cx="0" cy="0"/>
          <a:chOff x="0" y="0"/>
          <a:chExt cx="0" cy="0"/>
        </a:xfrm>
      </p:grpSpPr>
      <p:grpSp>
        <p:nvGrpSpPr>
          <p:cNvPr name="Group 2" id="2"/>
          <p:cNvGrpSpPr/>
          <p:nvPr/>
        </p:nvGrpSpPr>
        <p:grpSpPr>
          <a:xfrm rot="0">
            <a:off x="16093440" y="402336"/>
            <a:ext cx="2011680" cy="914400"/>
            <a:chOff x="0" y="0"/>
            <a:chExt cx="2682240" cy="1219200"/>
          </a:xfrm>
        </p:grpSpPr>
        <p:sp>
          <p:nvSpPr>
            <p:cNvPr name="Freeform 3" id="3"/>
            <p:cNvSpPr/>
            <p:nvPr/>
          </p:nvSpPr>
          <p:spPr>
            <a:xfrm flipH="false" flipV="false" rot="0">
              <a:off x="0" y="0"/>
              <a:ext cx="2682240" cy="1219200"/>
            </a:xfrm>
            <a:custGeom>
              <a:avLst/>
              <a:gdLst/>
              <a:ahLst/>
              <a:cxnLst/>
              <a:rect r="r" b="b" t="t" l="l"/>
              <a:pathLst>
                <a:path h="1219200" w="2682240">
                  <a:moveTo>
                    <a:pt x="0" y="0"/>
                  </a:moveTo>
                  <a:lnTo>
                    <a:pt x="2682240" y="0"/>
                  </a:lnTo>
                  <a:lnTo>
                    <a:pt x="2682240" y="1219200"/>
                  </a:lnTo>
                  <a:lnTo>
                    <a:pt x="0" y="1219200"/>
                  </a:lnTo>
                  <a:close/>
                </a:path>
              </a:pathLst>
            </a:custGeom>
            <a:blipFill>
              <a:blip r:embed="rId3">
                <a:alphaModFix amt="0"/>
              </a:blip>
              <a:stretch>
                <a:fillRect l="-8319" t="0" r="-8319" b="0"/>
              </a:stretch>
            </a:blipFill>
          </p:spPr>
        </p:sp>
        <p:sp>
          <p:nvSpPr>
            <p:cNvPr name="TextBox 4" id="4"/>
            <p:cNvSpPr txBox="true"/>
            <p:nvPr/>
          </p:nvSpPr>
          <p:spPr>
            <a:xfrm>
              <a:off x="0" y="-38100"/>
              <a:ext cx="2682240" cy="1257300"/>
            </a:xfrm>
            <a:prstGeom prst="rect">
              <a:avLst/>
            </a:prstGeom>
          </p:spPr>
          <p:txBody>
            <a:bodyPr anchor="ctr" rtlCol="false" tIns="0" lIns="0" bIns="0" rIns="0"/>
            <a:lstStyle/>
            <a:p>
              <a:pPr algn="r">
                <a:lnSpc>
                  <a:spcPts val="2400"/>
                </a:lnSpc>
              </a:pPr>
              <a:r>
                <a:rPr lang="en-US" sz="2000">
                  <a:solidFill>
                    <a:srgbClr val="8A96A8"/>
                  </a:solidFill>
                  <a:latin typeface="Calibri (MS)"/>
                  <a:ea typeface="Calibri (MS)"/>
                  <a:cs typeface="Calibri (MS)"/>
                  <a:sym typeface="Calibri (MS)"/>
                </a:rPr>
                <a:t>4 / 8</a:t>
              </a:r>
            </a:p>
          </p:txBody>
        </p:sp>
      </p:grpSp>
      <p:grpSp>
        <p:nvGrpSpPr>
          <p:cNvPr name="Group 5" id="5"/>
          <p:cNvGrpSpPr/>
          <p:nvPr/>
        </p:nvGrpSpPr>
        <p:grpSpPr>
          <a:xfrm rot="0">
            <a:off x="0" y="0"/>
            <a:ext cx="18288000" cy="1342139"/>
            <a:chOff x="0" y="0"/>
            <a:chExt cx="24384000" cy="1789519"/>
          </a:xfrm>
        </p:grpSpPr>
        <p:sp>
          <p:nvSpPr>
            <p:cNvPr name="Freeform 6" id="6"/>
            <p:cNvSpPr/>
            <p:nvPr/>
          </p:nvSpPr>
          <p:spPr>
            <a:xfrm flipH="false" flipV="false" rot="0">
              <a:off x="0" y="0"/>
              <a:ext cx="24384039" cy="1789557"/>
            </a:xfrm>
            <a:custGeom>
              <a:avLst/>
              <a:gdLst/>
              <a:ahLst/>
              <a:cxnLst/>
              <a:rect r="r" b="b" t="t" l="l"/>
              <a:pathLst>
                <a:path h="1789557" w="24384039">
                  <a:moveTo>
                    <a:pt x="0" y="0"/>
                  </a:moveTo>
                  <a:lnTo>
                    <a:pt x="24384039" y="0"/>
                  </a:lnTo>
                  <a:lnTo>
                    <a:pt x="24384039" y="1789557"/>
                  </a:lnTo>
                  <a:lnTo>
                    <a:pt x="0" y="1789557"/>
                  </a:lnTo>
                  <a:close/>
                </a:path>
              </a:pathLst>
            </a:custGeom>
            <a:solidFill>
              <a:srgbClr val="0D1B2A"/>
            </a:solidFill>
            <a:ln w="25400" cap="sq">
              <a:solidFill>
                <a:srgbClr val="0D1B2A"/>
              </a:solidFill>
              <a:prstDash val="solid"/>
              <a:miter/>
            </a:ln>
          </p:spPr>
        </p:sp>
      </p:grpSp>
      <p:grpSp>
        <p:nvGrpSpPr>
          <p:cNvPr name="Group 7" id="7"/>
          <p:cNvGrpSpPr/>
          <p:nvPr/>
        </p:nvGrpSpPr>
        <p:grpSpPr>
          <a:xfrm rot="0">
            <a:off x="575604" y="0"/>
            <a:ext cx="14630400" cy="1316736"/>
            <a:chOff x="0" y="0"/>
            <a:chExt cx="19507200" cy="1755648"/>
          </a:xfrm>
        </p:grpSpPr>
        <p:sp>
          <p:nvSpPr>
            <p:cNvPr name="Freeform 8" id="8"/>
            <p:cNvSpPr/>
            <p:nvPr/>
          </p:nvSpPr>
          <p:spPr>
            <a:xfrm flipH="false" flipV="false" rot="0">
              <a:off x="0" y="0"/>
              <a:ext cx="19507200" cy="1755648"/>
            </a:xfrm>
            <a:custGeom>
              <a:avLst/>
              <a:gdLst/>
              <a:ahLst/>
              <a:cxnLst/>
              <a:rect r="r" b="b" t="t" l="l"/>
              <a:pathLst>
                <a:path h="1755648" w="19507200">
                  <a:moveTo>
                    <a:pt x="0" y="0"/>
                  </a:moveTo>
                  <a:lnTo>
                    <a:pt x="19507200" y="0"/>
                  </a:lnTo>
                  <a:lnTo>
                    <a:pt x="19507200" y="1755648"/>
                  </a:lnTo>
                  <a:lnTo>
                    <a:pt x="0" y="1755648"/>
                  </a:lnTo>
                  <a:close/>
                </a:path>
              </a:pathLst>
            </a:custGeom>
            <a:blipFill>
              <a:blip r:embed="rId3">
                <a:alphaModFix amt="0"/>
              </a:blip>
              <a:stretch>
                <a:fillRect l="0" t="-166500" r="0" b="-166500"/>
              </a:stretch>
            </a:blipFill>
          </p:spPr>
        </p:sp>
        <p:sp>
          <p:nvSpPr>
            <p:cNvPr name="TextBox 9" id="9"/>
            <p:cNvSpPr txBox="true"/>
            <p:nvPr/>
          </p:nvSpPr>
          <p:spPr>
            <a:xfrm>
              <a:off x="0" y="-104775"/>
              <a:ext cx="19507200" cy="1860423"/>
            </a:xfrm>
            <a:prstGeom prst="rect">
              <a:avLst/>
            </a:prstGeom>
          </p:spPr>
          <p:txBody>
            <a:bodyPr anchor="ctr" rtlCol="false" tIns="0" lIns="0" bIns="0" rIns="0"/>
            <a:lstStyle/>
            <a:p>
              <a:pPr algn="l">
                <a:lnSpc>
                  <a:spcPts val="6240"/>
                </a:lnSpc>
              </a:pPr>
              <a:r>
                <a:rPr lang="en-US" sz="5200" b="true">
                  <a:solidFill>
                    <a:srgbClr val="FFFFFF"/>
                  </a:solidFill>
                  <a:latin typeface="Calibri (MS) Bold"/>
                  <a:ea typeface="Calibri (MS) Bold"/>
                  <a:cs typeface="Calibri (MS) Bold"/>
                  <a:sym typeface="Calibri (MS) Bold"/>
                </a:rPr>
                <a:t>High Level Architecture</a:t>
              </a:r>
            </a:p>
          </p:txBody>
        </p:sp>
      </p:grpSp>
      <p:sp>
        <p:nvSpPr>
          <p:cNvPr name="Freeform 10" id="10"/>
          <p:cNvSpPr/>
          <p:nvPr/>
        </p:nvSpPr>
        <p:spPr>
          <a:xfrm flipH="false" flipV="false" rot="0">
            <a:off x="0" y="1342139"/>
            <a:ext cx="18288000" cy="8944861"/>
          </a:xfrm>
          <a:custGeom>
            <a:avLst/>
            <a:gdLst/>
            <a:ahLst/>
            <a:cxnLst/>
            <a:rect r="r" b="b" t="t" l="l"/>
            <a:pathLst>
              <a:path h="8944861" w="18288000">
                <a:moveTo>
                  <a:pt x="0" y="0"/>
                </a:moveTo>
                <a:lnTo>
                  <a:pt x="18288000" y="0"/>
                </a:lnTo>
                <a:lnTo>
                  <a:pt x="18288000" y="8944861"/>
                </a:lnTo>
                <a:lnTo>
                  <a:pt x="0" y="8944861"/>
                </a:lnTo>
                <a:lnTo>
                  <a:pt x="0" y="0"/>
                </a:lnTo>
                <a:close/>
              </a:path>
            </a:pathLst>
          </a:custGeom>
          <a:blipFill>
            <a:blip r:embed="rId4"/>
            <a:stretch>
              <a:fillRect l="0" t="-474" r="0" b="-474"/>
            </a:stretch>
          </a:blipFill>
        </p:spPr>
      </p:sp>
      <p:grpSp>
        <p:nvGrpSpPr>
          <p:cNvPr name="Group 11" id="11"/>
          <p:cNvGrpSpPr/>
          <p:nvPr/>
        </p:nvGrpSpPr>
        <p:grpSpPr>
          <a:xfrm rot="0">
            <a:off x="16093440" y="0"/>
            <a:ext cx="2011680" cy="1316736"/>
            <a:chOff x="0" y="0"/>
            <a:chExt cx="2682240" cy="1755648"/>
          </a:xfrm>
        </p:grpSpPr>
        <p:sp>
          <p:nvSpPr>
            <p:cNvPr name="Freeform 12" id="12"/>
            <p:cNvSpPr/>
            <p:nvPr/>
          </p:nvSpPr>
          <p:spPr>
            <a:xfrm flipH="false" flipV="false" rot="0">
              <a:off x="0" y="0"/>
              <a:ext cx="2682240" cy="1755648"/>
            </a:xfrm>
            <a:custGeom>
              <a:avLst/>
              <a:gdLst/>
              <a:ahLst/>
              <a:cxnLst/>
              <a:rect r="r" b="b" t="t" l="l"/>
              <a:pathLst>
                <a:path h="1755648" w="2682240">
                  <a:moveTo>
                    <a:pt x="0" y="0"/>
                  </a:moveTo>
                  <a:lnTo>
                    <a:pt x="2682240" y="0"/>
                  </a:lnTo>
                  <a:lnTo>
                    <a:pt x="2682240" y="1755648"/>
                  </a:lnTo>
                  <a:lnTo>
                    <a:pt x="0" y="1755648"/>
                  </a:lnTo>
                  <a:close/>
                </a:path>
              </a:pathLst>
            </a:custGeom>
            <a:blipFill>
              <a:blip r:embed="rId3">
                <a:alphaModFix amt="0"/>
              </a:blip>
              <a:stretch>
                <a:fillRect l="-33980" t="0" r="-33980" b="0"/>
              </a:stretch>
            </a:blipFill>
          </p:spPr>
        </p:sp>
        <p:sp>
          <p:nvSpPr>
            <p:cNvPr name="TextBox 13" id="13"/>
            <p:cNvSpPr txBox="true"/>
            <p:nvPr/>
          </p:nvSpPr>
          <p:spPr>
            <a:xfrm>
              <a:off x="0" y="-38100"/>
              <a:ext cx="2682240" cy="1793748"/>
            </a:xfrm>
            <a:prstGeom prst="rect">
              <a:avLst/>
            </a:prstGeom>
          </p:spPr>
          <p:txBody>
            <a:bodyPr anchor="ctr" rtlCol="false" tIns="0" lIns="0" bIns="0" rIns="0"/>
            <a:lstStyle/>
            <a:p>
              <a:pPr algn="r">
                <a:lnSpc>
                  <a:spcPts val="2400"/>
                </a:lnSpc>
              </a:pPr>
              <a:r>
                <a:rPr lang="en-US" sz="2000">
                  <a:solidFill>
                    <a:srgbClr val="8A96A8"/>
                  </a:solidFill>
                  <a:latin typeface="Calibri (MS)"/>
                  <a:ea typeface="Calibri (MS)"/>
                  <a:cs typeface="Calibri (MS)"/>
                  <a:sym typeface="Calibri (MS)"/>
                </a:rPr>
                <a:t>5</a:t>
              </a:r>
              <a:r>
                <a:rPr lang="en-US" sz="2000">
                  <a:solidFill>
                    <a:srgbClr val="8A96A8"/>
                  </a:solidFill>
                  <a:latin typeface="Calibri (MS)"/>
                  <a:ea typeface="Calibri (MS)"/>
                  <a:cs typeface="Calibri (MS)"/>
                  <a:sym typeface="Calibri (MS)"/>
                </a:rPr>
                <a:t> / 8</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4F6FA"/>
        </a:solidFill>
      </p:bgPr>
    </p:bg>
    <p:spTree>
      <p:nvGrpSpPr>
        <p:cNvPr id="1" name=""/>
        <p:cNvGrpSpPr/>
        <p:nvPr/>
      </p:nvGrpSpPr>
      <p:grpSpPr>
        <a:xfrm>
          <a:off x="0" y="0"/>
          <a:ext cx="0" cy="0"/>
          <a:chOff x="0" y="0"/>
          <a:chExt cx="0" cy="0"/>
        </a:xfrm>
      </p:grpSpPr>
      <p:grpSp>
        <p:nvGrpSpPr>
          <p:cNvPr name="Group 2" id="2"/>
          <p:cNvGrpSpPr/>
          <p:nvPr/>
        </p:nvGrpSpPr>
        <p:grpSpPr>
          <a:xfrm rot="0">
            <a:off x="16093440" y="402336"/>
            <a:ext cx="2011680" cy="914400"/>
            <a:chOff x="0" y="0"/>
            <a:chExt cx="2682240" cy="1219200"/>
          </a:xfrm>
        </p:grpSpPr>
        <p:sp>
          <p:nvSpPr>
            <p:cNvPr name="Freeform 3" id="3"/>
            <p:cNvSpPr/>
            <p:nvPr/>
          </p:nvSpPr>
          <p:spPr>
            <a:xfrm flipH="false" flipV="false" rot="0">
              <a:off x="0" y="0"/>
              <a:ext cx="2682240" cy="1219200"/>
            </a:xfrm>
            <a:custGeom>
              <a:avLst/>
              <a:gdLst/>
              <a:ahLst/>
              <a:cxnLst/>
              <a:rect r="r" b="b" t="t" l="l"/>
              <a:pathLst>
                <a:path h="1219200" w="2682240">
                  <a:moveTo>
                    <a:pt x="0" y="0"/>
                  </a:moveTo>
                  <a:lnTo>
                    <a:pt x="2682240" y="0"/>
                  </a:lnTo>
                  <a:lnTo>
                    <a:pt x="2682240" y="1219200"/>
                  </a:lnTo>
                  <a:lnTo>
                    <a:pt x="0" y="1219200"/>
                  </a:lnTo>
                  <a:close/>
                </a:path>
              </a:pathLst>
            </a:custGeom>
            <a:blipFill>
              <a:blip r:embed="rId3">
                <a:alphaModFix amt="0"/>
              </a:blip>
              <a:stretch>
                <a:fillRect l="-8319" t="0" r="-8319" b="0"/>
              </a:stretch>
            </a:blipFill>
          </p:spPr>
        </p:sp>
        <p:sp>
          <p:nvSpPr>
            <p:cNvPr name="TextBox 4" id="4"/>
            <p:cNvSpPr txBox="true"/>
            <p:nvPr/>
          </p:nvSpPr>
          <p:spPr>
            <a:xfrm>
              <a:off x="0" y="-38100"/>
              <a:ext cx="2682240" cy="1257300"/>
            </a:xfrm>
            <a:prstGeom prst="rect">
              <a:avLst/>
            </a:prstGeom>
          </p:spPr>
          <p:txBody>
            <a:bodyPr anchor="ctr" rtlCol="false" tIns="0" lIns="0" bIns="0" rIns="0"/>
            <a:lstStyle/>
            <a:p>
              <a:pPr algn="r">
                <a:lnSpc>
                  <a:spcPts val="2400"/>
                </a:lnSpc>
              </a:pPr>
              <a:r>
                <a:rPr lang="en-US" sz="2000">
                  <a:solidFill>
                    <a:srgbClr val="8A96A8"/>
                  </a:solidFill>
                  <a:latin typeface="Calibri (MS)"/>
                  <a:ea typeface="Calibri (MS)"/>
                  <a:cs typeface="Calibri (MS)"/>
                  <a:sym typeface="Calibri (MS)"/>
                </a:rPr>
                <a:t>4 / 8</a:t>
              </a:r>
            </a:p>
          </p:txBody>
        </p:sp>
      </p:grpSp>
      <p:grpSp>
        <p:nvGrpSpPr>
          <p:cNvPr name="Group 5" id="5"/>
          <p:cNvGrpSpPr/>
          <p:nvPr/>
        </p:nvGrpSpPr>
        <p:grpSpPr>
          <a:xfrm rot="0">
            <a:off x="0" y="0"/>
            <a:ext cx="18288000" cy="1342139"/>
            <a:chOff x="0" y="0"/>
            <a:chExt cx="24384000" cy="1789519"/>
          </a:xfrm>
        </p:grpSpPr>
        <p:sp>
          <p:nvSpPr>
            <p:cNvPr name="Freeform 6" id="6"/>
            <p:cNvSpPr/>
            <p:nvPr/>
          </p:nvSpPr>
          <p:spPr>
            <a:xfrm flipH="false" flipV="false" rot="0">
              <a:off x="0" y="0"/>
              <a:ext cx="24384039" cy="1789557"/>
            </a:xfrm>
            <a:custGeom>
              <a:avLst/>
              <a:gdLst/>
              <a:ahLst/>
              <a:cxnLst/>
              <a:rect r="r" b="b" t="t" l="l"/>
              <a:pathLst>
                <a:path h="1789557" w="24384039">
                  <a:moveTo>
                    <a:pt x="0" y="0"/>
                  </a:moveTo>
                  <a:lnTo>
                    <a:pt x="24384039" y="0"/>
                  </a:lnTo>
                  <a:lnTo>
                    <a:pt x="24384039" y="1789557"/>
                  </a:lnTo>
                  <a:lnTo>
                    <a:pt x="0" y="1789557"/>
                  </a:lnTo>
                  <a:close/>
                </a:path>
              </a:pathLst>
            </a:custGeom>
            <a:solidFill>
              <a:srgbClr val="0D1B2A"/>
            </a:solidFill>
            <a:ln w="25400" cap="sq">
              <a:solidFill>
                <a:srgbClr val="0D1B2A"/>
              </a:solidFill>
              <a:prstDash val="solid"/>
              <a:miter/>
            </a:ln>
          </p:spPr>
        </p:sp>
      </p:grpSp>
      <p:grpSp>
        <p:nvGrpSpPr>
          <p:cNvPr name="Group 7" id="7"/>
          <p:cNvGrpSpPr/>
          <p:nvPr/>
        </p:nvGrpSpPr>
        <p:grpSpPr>
          <a:xfrm rot="0">
            <a:off x="575604" y="0"/>
            <a:ext cx="14630400" cy="1316736"/>
            <a:chOff x="0" y="0"/>
            <a:chExt cx="19507200" cy="1755648"/>
          </a:xfrm>
        </p:grpSpPr>
        <p:sp>
          <p:nvSpPr>
            <p:cNvPr name="Freeform 8" id="8"/>
            <p:cNvSpPr/>
            <p:nvPr/>
          </p:nvSpPr>
          <p:spPr>
            <a:xfrm flipH="false" flipV="false" rot="0">
              <a:off x="0" y="0"/>
              <a:ext cx="19507200" cy="1755648"/>
            </a:xfrm>
            <a:custGeom>
              <a:avLst/>
              <a:gdLst/>
              <a:ahLst/>
              <a:cxnLst/>
              <a:rect r="r" b="b" t="t" l="l"/>
              <a:pathLst>
                <a:path h="1755648" w="19507200">
                  <a:moveTo>
                    <a:pt x="0" y="0"/>
                  </a:moveTo>
                  <a:lnTo>
                    <a:pt x="19507200" y="0"/>
                  </a:lnTo>
                  <a:lnTo>
                    <a:pt x="19507200" y="1755648"/>
                  </a:lnTo>
                  <a:lnTo>
                    <a:pt x="0" y="1755648"/>
                  </a:lnTo>
                  <a:close/>
                </a:path>
              </a:pathLst>
            </a:custGeom>
            <a:blipFill>
              <a:blip r:embed="rId3">
                <a:alphaModFix amt="0"/>
              </a:blip>
              <a:stretch>
                <a:fillRect l="0" t="-166500" r="0" b="-166500"/>
              </a:stretch>
            </a:blipFill>
          </p:spPr>
        </p:sp>
        <p:sp>
          <p:nvSpPr>
            <p:cNvPr name="TextBox 9" id="9"/>
            <p:cNvSpPr txBox="true"/>
            <p:nvPr/>
          </p:nvSpPr>
          <p:spPr>
            <a:xfrm>
              <a:off x="0" y="-104775"/>
              <a:ext cx="19507200" cy="1860423"/>
            </a:xfrm>
            <a:prstGeom prst="rect">
              <a:avLst/>
            </a:prstGeom>
          </p:spPr>
          <p:txBody>
            <a:bodyPr anchor="ctr" rtlCol="false" tIns="0" lIns="0" bIns="0" rIns="0"/>
            <a:lstStyle/>
            <a:p>
              <a:pPr algn="l">
                <a:lnSpc>
                  <a:spcPts val="6240"/>
                </a:lnSpc>
              </a:pPr>
              <a:r>
                <a:rPr lang="en-US" sz="5200" b="true">
                  <a:solidFill>
                    <a:srgbClr val="FFFFFF"/>
                  </a:solidFill>
                  <a:latin typeface="Calibri (MS) Bold"/>
                  <a:ea typeface="Calibri (MS) Bold"/>
                  <a:cs typeface="Calibri (MS) Bold"/>
                  <a:sym typeface="Calibri (MS) Bold"/>
                </a:rPr>
                <a:t>High Level Architecture</a:t>
              </a:r>
            </a:p>
          </p:txBody>
        </p:sp>
      </p:grpSp>
      <p:grpSp>
        <p:nvGrpSpPr>
          <p:cNvPr name="Group 10" id="10"/>
          <p:cNvGrpSpPr/>
          <p:nvPr/>
        </p:nvGrpSpPr>
        <p:grpSpPr>
          <a:xfrm rot="0">
            <a:off x="16093440" y="0"/>
            <a:ext cx="2011680" cy="1316736"/>
            <a:chOff x="0" y="0"/>
            <a:chExt cx="2682240" cy="1755648"/>
          </a:xfrm>
        </p:grpSpPr>
        <p:sp>
          <p:nvSpPr>
            <p:cNvPr name="Freeform 11" id="11"/>
            <p:cNvSpPr/>
            <p:nvPr/>
          </p:nvSpPr>
          <p:spPr>
            <a:xfrm flipH="false" flipV="false" rot="0">
              <a:off x="0" y="0"/>
              <a:ext cx="2682240" cy="1755648"/>
            </a:xfrm>
            <a:custGeom>
              <a:avLst/>
              <a:gdLst/>
              <a:ahLst/>
              <a:cxnLst/>
              <a:rect r="r" b="b" t="t" l="l"/>
              <a:pathLst>
                <a:path h="1755648" w="2682240">
                  <a:moveTo>
                    <a:pt x="0" y="0"/>
                  </a:moveTo>
                  <a:lnTo>
                    <a:pt x="2682240" y="0"/>
                  </a:lnTo>
                  <a:lnTo>
                    <a:pt x="2682240" y="1755648"/>
                  </a:lnTo>
                  <a:lnTo>
                    <a:pt x="0" y="1755648"/>
                  </a:lnTo>
                  <a:close/>
                </a:path>
              </a:pathLst>
            </a:custGeom>
            <a:blipFill>
              <a:blip r:embed="rId3">
                <a:alphaModFix amt="0"/>
              </a:blip>
              <a:stretch>
                <a:fillRect l="-33980" t="0" r="-33980" b="0"/>
              </a:stretch>
            </a:blipFill>
          </p:spPr>
        </p:sp>
        <p:sp>
          <p:nvSpPr>
            <p:cNvPr name="TextBox 12" id="12"/>
            <p:cNvSpPr txBox="true"/>
            <p:nvPr/>
          </p:nvSpPr>
          <p:spPr>
            <a:xfrm>
              <a:off x="0" y="-38100"/>
              <a:ext cx="2682240" cy="1793748"/>
            </a:xfrm>
            <a:prstGeom prst="rect">
              <a:avLst/>
            </a:prstGeom>
          </p:spPr>
          <p:txBody>
            <a:bodyPr anchor="ctr" rtlCol="false" tIns="0" lIns="0" bIns="0" rIns="0"/>
            <a:lstStyle/>
            <a:p>
              <a:pPr algn="r">
                <a:lnSpc>
                  <a:spcPts val="2400"/>
                </a:lnSpc>
              </a:pPr>
              <a:r>
                <a:rPr lang="en-US" sz="2000">
                  <a:solidFill>
                    <a:srgbClr val="8A96A8"/>
                  </a:solidFill>
                  <a:latin typeface="Calibri (MS)"/>
                  <a:ea typeface="Calibri (MS)"/>
                  <a:cs typeface="Calibri (MS)"/>
                  <a:sym typeface="Calibri (MS)"/>
                </a:rPr>
                <a:t>5</a:t>
              </a:r>
              <a:r>
                <a:rPr lang="en-US" sz="2000">
                  <a:solidFill>
                    <a:srgbClr val="8A96A8"/>
                  </a:solidFill>
                  <a:latin typeface="Calibri (MS)"/>
                  <a:ea typeface="Calibri (MS)"/>
                  <a:cs typeface="Calibri (MS)"/>
                  <a:sym typeface="Calibri (MS)"/>
                </a:rPr>
                <a:t> / 8</a:t>
              </a:r>
            </a:p>
          </p:txBody>
        </p:sp>
      </p:grpSp>
      <p:sp>
        <p:nvSpPr>
          <p:cNvPr name="Freeform 13" id="13"/>
          <p:cNvSpPr/>
          <p:nvPr/>
        </p:nvSpPr>
        <p:spPr>
          <a:xfrm flipH="false" flipV="false" rot="0">
            <a:off x="1676973" y="1342139"/>
            <a:ext cx="14546931" cy="8944861"/>
          </a:xfrm>
          <a:custGeom>
            <a:avLst/>
            <a:gdLst/>
            <a:ahLst/>
            <a:cxnLst/>
            <a:rect r="r" b="b" t="t" l="l"/>
            <a:pathLst>
              <a:path h="8944861" w="14546931">
                <a:moveTo>
                  <a:pt x="0" y="0"/>
                </a:moveTo>
                <a:lnTo>
                  <a:pt x="14546930" y="0"/>
                </a:lnTo>
                <a:lnTo>
                  <a:pt x="14546930" y="8944861"/>
                </a:lnTo>
                <a:lnTo>
                  <a:pt x="0" y="8944861"/>
                </a:lnTo>
                <a:lnTo>
                  <a:pt x="0" y="0"/>
                </a:lnTo>
                <a:close/>
              </a:path>
            </a:pathLst>
          </a:custGeom>
          <a:blipFill>
            <a:blip r:embed="rId4"/>
            <a:stretch>
              <a:fillRect l="0" t="-792" r="-593" b="-84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F6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342139"/>
            <a:chOff x="0" y="0"/>
            <a:chExt cx="24417871" cy="1789519"/>
          </a:xfrm>
        </p:grpSpPr>
        <p:sp>
          <p:nvSpPr>
            <p:cNvPr name="Freeform 3" id="3"/>
            <p:cNvSpPr/>
            <p:nvPr/>
          </p:nvSpPr>
          <p:spPr>
            <a:xfrm flipH="false" flipV="false" rot="0">
              <a:off x="0" y="0"/>
              <a:ext cx="24417910" cy="1789557"/>
            </a:xfrm>
            <a:custGeom>
              <a:avLst/>
              <a:gdLst/>
              <a:ahLst/>
              <a:cxnLst/>
              <a:rect r="r" b="b" t="t" l="l"/>
              <a:pathLst>
                <a:path h="1789557" w="24417910">
                  <a:moveTo>
                    <a:pt x="0" y="0"/>
                  </a:moveTo>
                  <a:lnTo>
                    <a:pt x="24417910" y="0"/>
                  </a:lnTo>
                  <a:lnTo>
                    <a:pt x="24417910" y="1789557"/>
                  </a:lnTo>
                  <a:lnTo>
                    <a:pt x="0" y="1789557"/>
                  </a:lnTo>
                  <a:close/>
                </a:path>
              </a:pathLst>
            </a:custGeom>
            <a:solidFill>
              <a:srgbClr val="0D1B2A"/>
            </a:solidFill>
            <a:ln w="25400" cap="sq">
              <a:solidFill>
                <a:srgbClr val="0D1B2A"/>
              </a:solidFill>
              <a:prstDash val="solid"/>
              <a:miter/>
            </a:ln>
          </p:spPr>
        </p:sp>
      </p:grpSp>
      <p:grpSp>
        <p:nvGrpSpPr>
          <p:cNvPr name="Group 4" id="4"/>
          <p:cNvGrpSpPr/>
          <p:nvPr/>
        </p:nvGrpSpPr>
        <p:grpSpPr>
          <a:xfrm rot="0">
            <a:off x="499367" y="-112138"/>
            <a:ext cx="14630400" cy="1316736"/>
            <a:chOff x="0" y="0"/>
            <a:chExt cx="19507200" cy="1755648"/>
          </a:xfrm>
        </p:grpSpPr>
        <p:sp>
          <p:nvSpPr>
            <p:cNvPr name="Freeform 5" id="5"/>
            <p:cNvSpPr/>
            <p:nvPr/>
          </p:nvSpPr>
          <p:spPr>
            <a:xfrm flipH="false" flipV="false" rot="0">
              <a:off x="0" y="0"/>
              <a:ext cx="19507200" cy="1755648"/>
            </a:xfrm>
            <a:custGeom>
              <a:avLst/>
              <a:gdLst/>
              <a:ahLst/>
              <a:cxnLst/>
              <a:rect r="r" b="b" t="t" l="l"/>
              <a:pathLst>
                <a:path h="1755648" w="19507200">
                  <a:moveTo>
                    <a:pt x="0" y="0"/>
                  </a:moveTo>
                  <a:lnTo>
                    <a:pt x="19507200" y="0"/>
                  </a:lnTo>
                  <a:lnTo>
                    <a:pt x="19507200" y="1755648"/>
                  </a:lnTo>
                  <a:lnTo>
                    <a:pt x="0" y="1755648"/>
                  </a:lnTo>
                  <a:close/>
                </a:path>
              </a:pathLst>
            </a:custGeom>
            <a:blipFill>
              <a:blip r:embed="rId3">
                <a:alphaModFix amt="0"/>
              </a:blip>
              <a:stretch>
                <a:fillRect l="0" t="-166500" r="0" b="-166500"/>
              </a:stretch>
            </a:blipFill>
          </p:spPr>
        </p:sp>
        <p:sp>
          <p:nvSpPr>
            <p:cNvPr name="TextBox 6" id="6"/>
            <p:cNvSpPr txBox="true"/>
            <p:nvPr/>
          </p:nvSpPr>
          <p:spPr>
            <a:xfrm>
              <a:off x="0" y="-104775"/>
              <a:ext cx="19507200" cy="1860423"/>
            </a:xfrm>
            <a:prstGeom prst="rect">
              <a:avLst/>
            </a:prstGeom>
          </p:spPr>
          <p:txBody>
            <a:bodyPr anchor="ctr" rtlCol="false" tIns="0" lIns="0" bIns="0" rIns="0"/>
            <a:lstStyle/>
            <a:p>
              <a:pPr algn="l">
                <a:lnSpc>
                  <a:spcPts val="6240"/>
                </a:lnSpc>
              </a:pPr>
              <a:r>
                <a:rPr lang="en-US" sz="5200" b="true">
                  <a:solidFill>
                    <a:srgbClr val="FFFFFF"/>
                  </a:solidFill>
                  <a:latin typeface="Calibri (MS) Bold"/>
                  <a:ea typeface="Calibri (MS) Bold"/>
                  <a:cs typeface="Calibri (MS) Bold"/>
                  <a:sym typeface="Calibri (MS) Bold"/>
                </a:rPr>
                <a:t>Technologies &amp; Tools</a:t>
              </a:r>
            </a:p>
          </p:txBody>
        </p:sp>
      </p:grpSp>
      <p:grpSp>
        <p:nvGrpSpPr>
          <p:cNvPr name="Group 7" id="7"/>
          <p:cNvGrpSpPr/>
          <p:nvPr/>
        </p:nvGrpSpPr>
        <p:grpSpPr>
          <a:xfrm rot="0">
            <a:off x="16093440" y="0"/>
            <a:ext cx="2011680" cy="1316736"/>
            <a:chOff x="0" y="0"/>
            <a:chExt cx="2682240" cy="1755648"/>
          </a:xfrm>
        </p:grpSpPr>
        <p:sp>
          <p:nvSpPr>
            <p:cNvPr name="Freeform 8" id="8"/>
            <p:cNvSpPr/>
            <p:nvPr/>
          </p:nvSpPr>
          <p:spPr>
            <a:xfrm flipH="false" flipV="false" rot="0">
              <a:off x="0" y="0"/>
              <a:ext cx="2682240" cy="1755648"/>
            </a:xfrm>
            <a:custGeom>
              <a:avLst/>
              <a:gdLst/>
              <a:ahLst/>
              <a:cxnLst/>
              <a:rect r="r" b="b" t="t" l="l"/>
              <a:pathLst>
                <a:path h="1755648" w="2682240">
                  <a:moveTo>
                    <a:pt x="0" y="0"/>
                  </a:moveTo>
                  <a:lnTo>
                    <a:pt x="2682240" y="0"/>
                  </a:lnTo>
                  <a:lnTo>
                    <a:pt x="2682240" y="1755648"/>
                  </a:lnTo>
                  <a:lnTo>
                    <a:pt x="0" y="1755648"/>
                  </a:lnTo>
                  <a:close/>
                </a:path>
              </a:pathLst>
            </a:custGeom>
            <a:blipFill>
              <a:blip r:embed="rId3">
                <a:alphaModFix amt="0"/>
              </a:blip>
              <a:stretch>
                <a:fillRect l="-33980" t="0" r="-33980" b="0"/>
              </a:stretch>
            </a:blipFill>
          </p:spPr>
        </p:sp>
        <p:sp>
          <p:nvSpPr>
            <p:cNvPr name="TextBox 9" id="9"/>
            <p:cNvSpPr txBox="true"/>
            <p:nvPr/>
          </p:nvSpPr>
          <p:spPr>
            <a:xfrm>
              <a:off x="0" y="-38100"/>
              <a:ext cx="2682240" cy="1793748"/>
            </a:xfrm>
            <a:prstGeom prst="rect">
              <a:avLst/>
            </a:prstGeom>
          </p:spPr>
          <p:txBody>
            <a:bodyPr anchor="ctr" rtlCol="false" tIns="0" lIns="0" bIns="0" rIns="0"/>
            <a:lstStyle/>
            <a:p>
              <a:pPr algn="r">
                <a:lnSpc>
                  <a:spcPts val="2400"/>
                </a:lnSpc>
              </a:pPr>
              <a:r>
                <a:rPr lang="en-US" sz="2000">
                  <a:solidFill>
                    <a:srgbClr val="8A96A8"/>
                  </a:solidFill>
                  <a:latin typeface="Calibri (MS)"/>
                  <a:ea typeface="Calibri (MS)"/>
                  <a:cs typeface="Calibri (MS)"/>
                  <a:sym typeface="Calibri (MS)"/>
                </a:rPr>
                <a:t>6</a:t>
              </a:r>
              <a:r>
                <a:rPr lang="en-US" sz="2000">
                  <a:solidFill>
                    <a:srgbClr val="8A96A8"/>
                  </a:solidFill>
                  <a:latin typeface="Calibri (MS)"/>
                  <a:ea typeface="Calibri (MS)"/>
                  <a:cs typeface="Calibri (MS)"/>
                  <a:sym typeface="Calibri (MS)"/>
                </a:rPr>
                <a:t> / 8</a:t>
              </a:r>
            </a:p>
          </p:txBody>
        </p:sp>
      </p:grpSp>
      <p:grpSp>
        <p:nvGrpSpPr>
          <p:cNvPr name="Group 10" id="10"/>
          <p:cNvGrpSpPr/>
          <p:nvPr/>
        </p:nvGrpSpPr>
        <p:grpSpPr>
          <a:xfrm rot="0">
            <a:off x="499367" y="1633223"/>
            <a:ext cx="8291579" cy="1781051"/>
            <a:chOff x="0" y="0"/>
            <a:chExt cx="11055439" cy="2374735"/>
          </a:xfrm>
        </p:grpSpPr>
        <p:sp>
          <p:nvSpPr>
            <p:cNvPr name="Freeform 11" id="11"/>
            <p:cNvSpPr/>
            <p:nvPr/>
          </p:nvSpPr>
          <p:spPr>
            <a:xfrm flipH="false" flipV="false" rot="0">
              <a:off x="0" y="0"/>
              <a:ext cx="11055477" cy="2374773"/>
            </a:xfrm>
            <a:custGeom>
              <a:avLst/>
              <a:gdLst/>
              <a:ahLst/>
              <a:cxnLst/>
              <a:rect r="r" b="b" t="t" l="l"/>
              <a:pathLst>
                <a:path h="2374773" w="11055477">
                  <a:moveTo>
                    <a:pt x="0" y="0"/>
                  </a:moveTo>
                  <a:lnTo>
                    <a:pt x="11055477" y="0"/>
                  </a:lnTo>
                  <a:lnTo>
                    <a:pt x="11055477" y="2374773"/>
                  </a:lnTo>
                  <a:lnTo>
                    <a:pt x="0" y="2374773"/>
                  </a:lnTo>
                  <a:close/>
                </a:path>
              </a:pathLst>
            </a:custGeom>
            <a:solidFill>
              <a:srgbClr val="F5F2FF"/>
            </a:solidFill>
            <a:ln w="25400" cap="sq">
              <a:solidFill>
                <a:srgbClr val="E0E6EF"/>
              </a:solidFill>
              <a:prstDash val="solid"/>
              <a:miter/>
            </a:ln>
          </p:spPr>
        </p:sp>
      </p:grpSp>
      <p:grpSp>
        <p:nvGrpSpPr>
          <p:cNvPr name="Group 12" id="12"/>
          <p:cNvGrpSpPr/>
          <p:nvPr/>
        </p:nvGrpSpPr>
        <p:grpSpPr>
          <a:xfrm rot="0">
            <a:off x="499367" y="1633223"/>
            <a:ext cx="153419" cy="1781051"/>
            <a:chOff x="0" y="0"/>
            <a:chExt cx="204559" cy="2374735"/>
          </a:xfrm>
        </p:grpSpPr>
        <p:sp>
          <p:nvSpPr>
            <p:cNvPr name="Freeform 13" id="13"/>
            <p:cNvSpPr/>
            <p:nvPr/>
          </p:nvSpPr>
          <p:spPr>
            <a:xfrm flipH="false" flipV="false" rot="0">
              <a:off x="0" y="0"/>
              <a:ext cx="204597" cy="2374773"/>
            </a:xfrm>
            <a:custGeom>
              <a:avLst/>
              <a:gdLst/>
              <a:ahLst/>
              <a:cxnLst/>
              <a:rect r="r" b="b" t="t" l="l"/>
              <a:pathLst>
                <a:path h="2374773" w="204597">
                  <a:moveTo>
                    <a:pt x="0" y="0"/>
                  </a:moveTo>
                  <a:lnTo>
                    <a:pt x="204597" y="0"/>
                  </a:lnTo>
                  <a:lnTo>
                    <a:pt x="204597" y="2374773"/>
                  </a:lnTo>
                  <a:lnTo>
                    <a:pt x="0" y="2374773"/>
                  </a:lnTo>
                  <a:close/>
                </a:path>
              </a:pathLst>
            </a:custGeom>
            <a:solidFill>
              <a:srgbClr val="6B4EAF"/>
            </a:solidFill>
            <a:ln w="25400" cap="sq">
              <a:solidFill>
                <a:srgbClr val="6B4EAF"/>
              </a:solidFill>
              <a:prstDash val="solid"/>
              <a:miter/>
            </a:ln>
          </p:spPr>
        </p:sp>
      </p:grpSp>
      <p:grpSp>
        <p:nvGrpSpPr>
          <p:cNvPr name="Group 14" id="14"/>
          <p:cNvGrpSpPr/>
          <p:nvPr/>
        </p:nvGrpSpPr>
        <p:grpSpPr>
          <a:xfrm rot="0">
            <a:off x="877824" y="1792224"/>
            <a:ext cx="7680960" cy="402336"/>
            <a:chOff x="0" y="0"/>
            <a:chExt cx="10241280" cy="536448"/>
          </a:xfrm>
        </p:grpSpPr>
        <p:sp>
          <p:nvSpPr>
            <p:cNvPr name="Freeform 15" id="15"/>
            <p:cNvSpPr/>
            <p:nvPr/>
          </p:nvSpPr>
          <p:spPr>
            <a:xfrm flipH="false" flipV="false" rot="0">
              <a:off x="0" y="0"/>
              <a:ext cx="10241280" cy="536448"/>
            </a:xfrm>
            <a:custGeom>
              <a:avLst/>
              <a:gdLst/>
              <a:ahLst/>
              <a:cxnLst/>
              <a:rect r="r" b="b" t="t" l="l"/>
              <a:pathLst>
                <a:path h="536448" w="10241280">
                  <a:moveTo>
                    <a:pt x="0" y="0"/>
                  </a:moveTo>
                  <a:lnTo>
                    <a:pt x="10241280" y="0"/>
                  </a:lnTo>
                  <a:lnTo>
                    <a:pt x="10241280" y="536448"/>
                  </a:lnTo>
                  <a:lnTo>
                    <a:pt x="0" y="536448"/>
                  </a:lnTo>
                  <a:close/>
                </a:path>
              </a:pathLst>
            </a:custGeom>
            <a:blipFill>
              <a:blip r:embed="rId3">
                <a:alphaModFix amt="0"/>
              </a:blip>
              <a:stretch>
                <a:fillRect l="0" t="-321987" r="0" b="-321987"/>
              </a:stretch>
            </a:blipFill>
          </p:spPr>
        </p:sp>
        <p:sp>
          <p:nvSpPr>
            <p:cNvPr name="TextBox 16" id="16"/>
            <p:cNvSpPr txBox="true"/>
            <p:nvPr/>
          </p:nvSpPr>
          <p:spPr>
            <a:xfrm>
              <a:off x="0" y="-38100"/>
              <a:ext cx="10241280" cy="574548"/>
            </a:xfrm>
            <a:prstGeom prst="rect">
              <a:avLst/>
            </a:prstGeom>
          </p:spPr>
          <p:txBody>
            <a:bodyPr anchor="ctr" rtlCol="false" tIns="0" lIns="0" bIns="0" rIns="0"/>
            <a:lstStyle/>
            <a:p>
              <a:pPr algn="l">
                <a:lnSpc>
                  <a:spcPts val="2160"/>
                </a:lnSpc>
              </a:pPr>
              <a:r>
                <a:rPr lang="en-US" b="true" sz="1800" spc="299">
                  <a:solidFill>
                    <a:srgbClr val="6B4EAF"/>
                  </a:solidFill>
                  <a:latin typeface="Calibri (MS) Bold"/>
                  <a:ea typeface="Calibri (MS) Bold"/>
                  <a:cs typeface="Calibri (MS) Bold"/>
                  <a:sym typeface="Calibri (MS) Bold"/>
                </a:rPr>
                <a:t>LANGUAGES</a:t>
              </a:r>
            </a:p>
          </p:txBody>
        </p:sp>
      </p:grpSp>
      <p:grpSp>
        <p:nvGrpSpPr>
          <p:cNvPr name="Group 17" id="17"/>
          <p:cNvGrpSpPr/>
          <p:nvPr/>
        </p:nvGrpSpPr>
        <p:grpSpPr>
          <a:xfrm rot="0">
            <a:off x="877824" y="2267712"/>
            <a:ext cx="7680960" cy="914400"/>
            <a:chOff x="0" y="0"/>
            <a:chExt cx="10241280" cy="1219200"/>
          </a:xfrm>
        </p:grpSpPr>
        <p:sp>
          <p:nvSpPr>
            <p:cNvPr name="Freeform 18" id="18"/>
            <p:cNvSpPr/>
            <p:nvPr/>
          </p:nvSpPr>
          <p:spPr>
            <a:xfrm flipH="false" flipV="false" rot="0">
              <a:off x="0" y="0"/>
              <a:ext cx="10241280" cy="1219200"/>
            </a:xfrm>
            <a:custGeom>
              <a:avLst/>
              <a:gdLst/>
              <a:ahLst/>
              <a:cxnLst/>
              <a:rect r="r" b="b" t="t" l="l"/>
              <a:pathLst>
                <a:path h="1219200" w="10241280">
                  <a:moveTo>
                    <a:pt x="0" y="0"/>
                  </a:moveTo>
                  <a:lnTo>
                    <a:pt x="10241280" y="0"/>
                  </a:lnTo>
                  <a:lnTo>
                    <a:pt x="10241280" y="1219200"/>
                  </a:lnTo>
                  <a:lnTo>
                    <a:pt x="0" y="1219200"/>
                  </a:lnTo>
                  <a:close/>
                </a:path>
              </a:pathLst>
            </a:custGeom>
            <a:blipFill>
              <a:blip r:embed="rId3">
                <a:alphaModFix amt="0"/>
              </a:blip>
              <a:stretch>
                <a:fillRect l="0" t="-113674" r="0" b="-113674"/>
              </a:stretch>
            </a:blipFill>
          </p:spPr>
        </p:sp>
        <p:sp>
          <p:nvSpPr>
            <p:cNvPr name="TextBox 19" id="19"/>
            <p:cNvSpPr txBox="true"/>
            <p:nvPr/>
          </p:nvSpPr>
          <p:spPr>
            <a:xfrm>
              <a:off x="0" y="-57150"/>
              <a:ext cx="10241280" cy="1276350"/>
            </a:xfrm>
            <a:prstGeom prst="rect">
              <a:avLst/>
            </a:prstGeom>
          </p:spPr>
          <p:txBody>
            <a:bodyPr anchor="ctr" rtlCol="false" tIns="0" lIns="0" bIns="0" rIns="0"/>
            <a:lstStyle/>
            <a:p>
              <a:pPr algn="l">
                <a:lnSpc>
                  <a:spcPts val="3120"/>
                </a:lnSpc>
              </a:pPr>
              <a:r>
                <a:rPr lang="en-US" sz="2600">
                  <a:solidFill>
                    <a:srgbClr val="1A1A1A"/>
                  </a:solidFill>
                  <a:latin typeface="Calibri (MS)"/>
                  <a:ea typeface="Calibri (MS)"/>
                  <a:cs typeface="Calibri (MS)"/>
                  <a:sym typeface="Calibri (MS)"/>
                </a:rPr>
                <a:t>TypeScript  ·  Python</a:t>
              </a:r>
            </a:p>
          </p:txBody>
        </p:sp>
      </p:grpSp>
      <p:grpSp>
        <p:nvGrpSpPr>
          <p:cNvPr name="Group 20" id="20"/>
          <p:cNvGrpSpPr/>
          <p:nvPr/>
        </p:nvGrpSpPr>
        <p:grpSpPr>
          <a:xfrm rot="0">
            <a:off x="9204455" y="1633223"/>
            <a:ext cx="8291579" cy="1781051"/>
            <a:chOff x="0" y="0"/>
            <a:chExt cx="11055439" cy="2374735"/>
          </a:xfrm>
        </p:grpSpPr>
        <p:sp>
          <p:nvSpPr>
            <p:cNvPr name="Freeform 21" id="21"/>
            <p:cNvSpPr/>
            <p:nvPr/>
          </p:nvSpPr>
          <p:spPr>
            <a:xfrm flipH="false" flipV="false" rot="0">
              <a:off x="0" y="0"/>
              <a:ext cx="11055477" cy="2374773"/>
            </a:xfrm>
            <a:custGeom>
              <a:avLst/>
              <a:gdLst/>
              <a:ahLst/>
              <a:cxnLst/>
              <a:rect r="r" b="b" t="t" l="l"/>
              <a:pathLst>
                <a:path h="2374773" w="11055477">
                  <a:moveTo>
                    <a:pt x="0" y="0"/>
                  </a:moveTo>
                  <a:lnTo>
                    <a:pt x="11055477" y="0"/>
                  </a:lnTo>
                  <a:lnTo>
                    <a:pt x="11055477" y="2374773"/>
                  </a:lnTo>
                  <a:lnTo>
                    <a:pt x="0" y="2374773"/>
                  </a:lnTo>
                  <a:close/>
                </a:path>
              </a:pathLst>
            </a:custGeom>
            <a:solidFill>
              <a:srgbClr val="EEF4FF"/>
            </a:solidFill>
            <a:ln w="25400" cap="sq">
              <a:solidFill>
                <a:srgbClr val="E0E6EF"/>
              </a:solidFill>
              <a:prstDash val="solid"/>
              <a:miter/>
            </a:ln>
          </p:spPr>
        </p:sp>
      </p:grpSp>
      <p:grpSp>
        <p:nvGrpSpPr>
          <p:cNvPr name="Group 22" id="22"/>
          <p:cNvGrpSpPr/>
          <p:nvPr/>
        </p:nvGrpSpPr>
        <p:grpSpPr>
          <a:xfrm rot="0">
            <a:off x="9204455" y="1633223"/>
            <a:ext cx="153419" cy="1781051"/>
            <a:chOff x="0" y="0"/>
            <a:chExt cx="204559" cy="2374735"/>
          </a:xfrm>
        </p:grpSpPr>
        <p:sp>
          <p:nvSpPr>
            <p:cNvPr name="Freeform 23" id="23"/>
            <p:cNvSpPr/>
            <p:nvPr/>
          </p:nvSpPr>
          <p:spPr>
            <a:xfrm flipH="false" flipV="false" rot="0">
              <a:off x="0" y="0"/>
              <a:ext cx="204597" cy="2374773"/>
            </a:xfrm>
            <a:custGeom>
              <a:avLst/>
              <a:gdLst/>
              <a:ahLst/>
              <a:cxnLst/>
              <a:rect r="r" b="b" t="t" l="l"/>
              <a:pathLst>
                <a:path h="2374773" w="204597">
                  <a:moveTo>
                    <a:pt x="0" y="0"/>
                  </a:moveTo>
                  <a:lnTo>
                    <a:pt x="204597" y="0"/>
                  </a:lnTo>
                  <a:lnTo>
                    <a:pt x="204597" y="2374773"/>
                  </a:lnTo>
                  <a:lnTo>
                    <a:pt x="0" y="2374773"/>
                  </a:lnTo>
                  <a:close/>
                </a:path>
              </a:pathLst>
            </a:custGeom>
            <a:solidFill>
              <a:srgbClr val="2E75B6"/>
            </a:solidFill>
            <a:ln w="25400" cap="sq">
              <a:solidFill>
                <a:srgbClr val="2E75B6"/>
              </a:solidFill>
              <a:prstDash val="solid"/>
              <a:miter/>
            </a:ln>
          </p:spPr>
        </p:sp>
      </p:grpSp>
      <p:grpSp>
        <p:nvGrpSpPr>
          <p:cNvPr name="Group 24" id="24"/>
          <p:cNvGrpSpPr/>
          <p:nvPr/>
        </p:nvGrpSpPr>
        <p:grpSpPr>
          <a:xfrm rot="0">
            <a:off x="9582912" y="1792224"/>
            <a:ext cx="7680960" cy="402336"/>
            <a:chOff x="0" y="0"/>
            <a:chExt cx="10241280" cy="536448"/>
          </a:xfrm>
        </p:grpSpPr>
        <p:sp>
          <p:nvSpPr>
            <p:cNvPr name="Freeform 25" id="25"/>
            <p:cNvSpPr/>
            <p:nvPr/>
          </p:nvSpPr>
          <p:spPr>
            <a:xfrm flipH="false" flipV="false" rot="0">
              <a:off x="0" y="0"/>
              <a:ext cx="10241280" cy="536448"/>
            </a:xfrm>
            <a:custGeom>
              <a:avLst/>
              <a:gdLst/>
              <a:ahLst/>
              <a:cxnLst/>
              <a:rect r="r" b="b" t="t" l="l"/>
              <a:pathLst>
                <a:path h="536448" w="10241280">
                  <a:moveTo>
                    <a:pt x="0" y="0"/>
                  </a:moveTo>
                  <a:lnTo>
                    <a:pt x="10241280" y="0"/>
                  </a:lnTo>
                  <a:lnTo>
                    <a:pt x="10241280" y="536448"/>
                  </a:lnTo>
                  <a:lnTo>
                    <a:pt x="0" y="536448"/>
                  </a:lnTo>
                  <a:close/>
                </a:path>
              </a:pathLst>
            </a:custGeom>
            <a:blipFill>
              <a:blip r:embed="rId3">
                <a:alphaModFix amt="0"/>
              </a:blip>
              <a:stretch>
                <a:fillRect l="0" t="-321987" r="0" b="-321987"/>
              </a:stretch>
            </a:blipFill>
          </p:spPr>
        </p:sp>
        <p:sp>
          <p:nvSpPr>
            <p:cNvPr name="TextBox 26" id="26"/>
            <p:cNvSpPr txBox="true"/>
            <p:nvPr/>
          </p:nvSpPr>
          <p:spPr>
            <a:xfrm>
              <a:off x="0" y="-38100"/>
              <a:ext cx="10241280" cy="574548"/>
            </a:xfrm>
            <a:prstGeom prst="rect">
              <a:avLst/>
            </a:prstGeom>
          </p:spPr>
          <p:txBody>
            <a:bodyPr anchor="ctr" rtlCol="false" tIns="0" lIns="0" bIns="0" rIns="0"/>
            <a:lstStyle/>
            <a:p>
              <a:pPr algn="l">
                <a:lnSpc>
                  <a:spcPts val="2160"/>
                </a:lnSpc>
              </a:pPr>
              <a:r>
                <a:rPr lang="en-US" b="true" sz="1800" spc="299">
                  <a:solidFill>
                    <a:srgbClr val="2E75B6"/>
                  </a:solidFill>
                  <a:latin typeface="Calibri (MS) Bold"/>
                  <a:ea typeface="Calibri (MS) Bold"/>
                  <a:cs typeface="Calibri (MS) Bold"/>
                  <a:sym typeface="Calibri (MS) Bold"/>
                </a:rPr>
                <a:t>CONTAINERIZATION</a:t>
              </a:r>
            </a:p>
          </p:txBody>
        </p:sp>
      </p:grpSp>
      <p:grpSp>
        <p:nvGrpSpPr>
          <p:cNvPr name="Group 27" id="27"/>
          <p:cNvGrpSpPr/>
          <p:nvPr/>
        </p:nvGrpSpPr>
        <p:grpSpPr>
          <a:xfrm rot="0">
            <a:off x="9582912" y="2267712"/>
            <a:ext cx="7680960" cy="914400"/>
            <a:chOff x="0" y="0"/>
            <a:chExt cx="10241280" cy="1219200"/>
          </a:xfrm>
        </p:grpSpPr>
        <p:sp>
          <p:nvSpPr>
            <p:cNvPr name="Freeform 28" id="28"/>
            <p:cNvSpPr/>
            <p:nvPr/>
          </p:nvSpPr>
          <p:spPr>
            <a:xfrm flipH="false" flipV="false" rot="0">
              <a:off x="0" y="0"/>
              <a:ext cx="10241280" cy="1219200"/>
            </a:xfrm>
            <a:custGeom>
              <a:avLst/>
              <a:gdLst/>
              <a:ahLst/>
              <a:cxnLst/>
              <a:rect r="r" b="b" t="t" l="l"/>
              <a:pathLst>
                <a:path h="1219200" w="10241280">
                  <a:moveTo>
                    <a:pt x="0" y="0"/>
                  </a:moveTo>
                  <a:lnTo>
                    <a:pt x="10241280" y="0"/>
                  </a:lnTo>
                  <a:lnTo>
                    <a:pt x="10241280" y="1219200"/>
                  </a:lnTo>
                  <a:lnTo>
                    <a:pt x="0" y="1219200"/>
                  </a:lnTo>
                  <a:close/>
                </a:path>
              </a:pathLst>
            </a:custGeom>
            <a:blipFill>
              <a:blip r:embed="rId3">
                <a:alphaModFix amt="0"/>
              </a:blip>
              <a:stretch>
                <a:fillRect l="0" t="-113674" r="0" b="-113674"/>
              </a:stretch>
            </a:blipFill>
          </p:spPr>
        </p:sp>
        <p:sp>
          <p:nvSpPr>
            <p:cNvPr name="TextBox 29" id="29"/>
            <p:cNvSpPr txBox="true"/>
            <p:nvPr/>
          </p:nvSpPr>
          <p:spPr>
            <a:xfrm>
              <a:off x="0" y="-57150"/>
              <a:ext cx="10241280" cy="1276350"/>
            </a:xfrm>
            <a:prstGeom prst="rect">
              <a:avLst/>
            </a:prstGeom>
          </p:spPr>
          <p:txBody>
            <a:bodyPr anchor="ctr" rtlCol="false" tIns="0" lIns="0" bIns="0" rIns="0"/>
            <a:lstStyle/>
            <a:p>
              <a:pPr algn="l">
                <a:lnSpc>
                  <a:spcPts val="3120"/>
                </a:lnSpc>
              </a:pPr>
              <a:r>
                <a:rPr lang="en-US" sz="2600">
                  <a:solidFill>
                    <a:srgbClr val="1A1A1A"/>
                  </a:solidFill>
                  <a:latin typeface="Calibri (MS)"/>
                  <a:ea typeface="Calibri (MS)"/>
                  <a:cs typeface="Calibri (MS)"/>
                  <a:sym typeface="Calibri (MS)"/>
                </a:rPr>
                <a:t>Docker</a:t>
              </a:r>
            </a:p>
          </p:txBody>
        </p:sp>
      </p:grpSp>
      <p:grpSp>
        <p:nvGrpSpPr>
          <p:cNvPr name="Group 30" id="30"/>
          <p:cNvGrpSpPr/>
          <p:nvPr/>
        </p:nvGrpSpPr>
        <p:grpSpPr>
          <a:xfrm rot="0">
            <a:off x="499367" y="3681479"/>
            <a:ext cx="8291579" cy="1781051"/>
            <a:chOff x="0" y="0"/>
            <a:chExt cx="11055439" cy="2374735"/>
          </a:xfrm>
        </p:grpSpPr>
        <p:sp>
          <p:nvSpPr>
            <p:cNvPr name="Freeform 31" id="31"/>
            <p:cNvSpPr/>
            <p:nvPr/>
          </p:nvSpPr>
          <p:spPr>
            <a:xfrm flipH="false" flipV="false" rot="0">
              <a:off x="0" y="0"/>
              <a:ext cx="11055477" cy="2374773"/>
            </a:xfrm>
            <a:custGeom>
              <a:avLst/>
              <a:gdLst/>
              <a:ahLst/>
              <a:cxnLst/>
              <a:rect r="r" b="b" t="t" l="l"/>
              <a:pathLst>
                <a:path h="2374773" w="11055477">
                  <a:moveTo>
                    <a:pt x="0" y="0"/>
                  </a:moveTo>
                  <a:lnTo>
                    <a:pt x="11055477" y="0"/>
                  </a:lnTo>
                  <a:lnTo>
                    <a:pt x="11055477" y="2374773"/>
                  </a:lnTo>
                  <a:lnTo>
                    <a:pt x="0" y="2374773"/>
                  </a:lnTo>
                  <a:close/>
                </a:path>
              </a:pathLst>
            </a:custGeom>
            <a:solidFill>
              <a:srgbClr val="FFF0EE"/>
            </a:solidFill>
            <a:ln w="25400" cap="sq">
              <a:solidFill>
                <a:srgbClr val="E0E6EF"/>
              </a:solidFill>
              <a:prstDash val="solid"/>
              <a:miter/>
            </a:ln>
          </p:spPr>
        </p:sp>
      </p:grpSp>
      <p:grpSp>
        <p:nvGrpSpPr>
          <p:cNvPr name="Group 32" id="32"/>
          <p:cNvGrpSpPr/>
          <p:nvPr/>
        </p:nvGrpSpPr>
        <p:grpSpPr>
          <a:xfrm rot="0">
            <a:off x="499367" y="3681479"/>
            <a:ext cx="153419" cy="1781051"/>
            <a:chOff x="0" y="0"/>
            <a:chExt cx="204559" cy="2374735"/>
          </a:xfrm>
        </p:grpSpPr>
        <p:sp>
          <p:nvSpPr>
            <p:cNvPr name="Freeform 33" id="33"/>
            <p:cNvSpPr/>
            <p:nvPr/>
          </p:nvSpPr>
          <p:spPr>
            <a:xfrm flipH="false" flipV="false" rot="0">
              <a:off x="0" y="0"/>
              <a:ext cx="204597" cy="2374773"/>
            </a:xfrm>
            <a:custGeom>
              <a:avLst/>
              <a:gdLst/>
              <a:ahLst/>
              <a:cxnLst/>
              <a:rect r="r" b="b" t="t" l="l"/>
              <a:pathLst>
                <a:path h="2374773" w="204597">
                  <a:moveTo>
                    <a:pt x="0" y="0"/>
                  </a:moveTo>
                  <a:lnTo>
                    <a:pt x="204597" y="0"/>
                  </a:lnTo>
                  <a:lnTo>
                    <a:pt x="204597" y="2374773"/>
                  </a:lnTo>
                  <a:lnTo>
                    <a:pt x="0" y="2374773"/>
                  </a:lnTo>
                  <a:close/>
                </a:path>
              </a:pathLst>
            </a:custGeom>
            <a:solidFill>
              <a:srgbClr val="C0392B"/>
            </a:solidFill>
            <a:ln w="25400" cap="sq">
              <a:solidFill>
                <a:srgbClr val="C0392B"/>
              </a:solidFill>
              <a:prstDash val="solid"/>
              <a:miter/>
            </a:ln>
          </p:spPr>
        </p:sp>
      </p:grpSp>
      <p:grpSp>
        <p:nvGrpSpPr>
          <p:cNvPr name="Group 34" id="34"/>
          <p:cNvGrpSpPr/>
          <p:nvPr/>
        </p:nvGrpSpPr>
        <p:grpSpPr>
          <a:xfrm rot="0">
            <a:off x="877824" y="3840480"/>
            <a:ext cx="7680960" cy="402336"/>
            <a:chOff x="0" y="0"/>
            <a:chExt cx="10241280" cy="536448"/>
          </a:xfrm>
        </p:grpSpPr>
        <p:sp>
          <p:nvSpPr>
            <p:cNvPr name="Freeform 35" id="35"/>
            <p:cNvSpPr/>
            <p:nvPr/>
          </p:nvSpPr>
          <p:spPr>
            <a:xfrm flipH="false" flipV="false" rot="0">
              <a:off x="0" y="0"/>
              <a:ext cx="10241280" cy="536448"/>
            </a:xfrm>
            <a:custGeom>
              <a:avLst/>
              <a:gdLst/>
              <a:ahLst/>
              <a:cxnLst/>
              <a:rect r="r" b="b" t="t" l="l"/>
              <a:pathLst>
                <a:path h="536448" w="10241280">
                  <a:moveTo>
                    <a:pt x="0" y="0"/>
                  </a:moveTo>
                  <a:lnTo>
                    <a:pt x="10241280" y="0"/>
                  </a:lnTo>
                  <a:lnTo>
                    <a:pt x="10241280" y="536448"/>
                  </a:lnTo>
                  <a:lnTo>
                    <a:pt x="0" y="536448"/>
                  </a:lnTo>
                  <a:close/>
                </a:path>
              </a:pathLst>
            </a:custGeom>
            <a:blipFill>
              <a:blip r:embed="rId3">
                <a:alphaModFix amt="0"/>
              </a:blip>
              <a:stretch>
                <a:fillRect l="0" t="-321987" r="0" b="-321987"/>
              </a:stretch>
            </a:blipFill>
          </p:spPr>
        </p:sp>
        <p:sp>
          <p:nvSpPr>
            <p:cNvPr name="TextBox 36" id="36"/>
            <p:cNvSpPr txBox="true"/>
            <p:nvPr/>
          </p:nvSpPr>
          <p:spPr>
            <a:xfrm>
              <a:off x="0" y="-38100"/>
              <a:ext cx="10241280" cy="574548"/>
            </a:xfrm>
            <a:prstGeom prst="rect">
              <a:avLst/>
            </a:prstGeom>
          </p:spPr>
          <p:txBody>
            <a:bodyPr anchor="ctr" rtlCol="false" tIns="0" lIns="0" bIns="0" rIns="0"/>
            <a:lstStyle/>
            <a:p>
              <a:pPr algn="l">
                <a:lnSpc>
                  <a:spcPts val="2160"/>
                </a:lnSpc>
              </a:pPr>
              <a:r>
                <a:rPr lang="en-US" b="true" sz="1800" spc="299">
                  <a:solidFill>
                    <a:srgbClr val="C0392B"/>
                  </a:solidFill>
                  <a:latin typeface="Calibri (MS) Bold"/>
                  <a:ea typeface="Calibri (MS) Bold"/>
                  <a:cs typeface="Calibri (MS) Bold"/>
                  <a:sym typeface="Calibri (MS) Bold"/>
                </a:rPr>
                <a:t>AI / LLM</a:t>
              </a:r>
            </a:p>
          </p:txBody>
        </p:sp>
      </p:grpSp>
      <p:grpSp>
        <p:nvGrpSpPr>
          <p:cNvPr name="Group 37" id="37"/>
          <p:cNvGrpSpPr/>
          <p:nvPr/>
        </p:nvGrpSpPr>
        <p:grpSpPr>
          <a:xfrm rot="0">
            <a:off x="877824" y="4315968"/>
            <a:ext cx="7680960" cy="914400"/>
            <a:chOff x="0" y="0"/>
            <a:chExt cx="10241280" cy="1219200"/>
          </a:xfrm>
        </p:grpSpPr>
        <p:sp>
          <p:nvSpPr>
            <p:cNvPr name="Freeform 38" id="38"/>
            <p:cNvSpPr/>
            <p:nvPr/>
          </p:nvSpPr>
          <p:spPr>
            <a:xfrm flipH="false" flipV="false" rot="0">
              <a:off x="0" y="0"/>
              <a:ext cx="10241280" cy="1219200"/>
            </a:xfrm>
            <a:custGeom>
              <a:avLst/>
              <a:gdLst/>
              <a:ahLst/>
              <a:cxnLst/>
              <a:rect r="r" b="b" t="t" l="l"/>
              <a:pathLst>
                <a:path h="1219200" w="10241280">
                  <a:moveTo>
                    <a:pt x="0" y="0"/>
                  </a:moveTo>
                  <a:lnTo>
                    <a:pt x="10241280" y="0"/>
                  </a:lnTo>
                  <a:lnTo>
                    <a:pt x="10241280" y="1219200"/>
                  </a:lnTo>
                  <a:lnTo>
                    <a:pt x="0" y="1219200"/>
                  </a:lnTo>
                  <a:close/>
                </a:path>
              </a:pathLst>
            </a:custGeom>
            <a:blipFill>
              <a:blip r:embed="rId3">
                <a:alphaModFix amt="0"/>
              </a:blip>
              <a:stretch>
                <a:fillRect l="0" t="-113674" r="0" b="-113674"/>
              </a:stretch>
            </a:blipFill>
          </p:spPr>
        </p:sp>
        <p:sp>
          <p:nvSpPr>
            <p:cNvPr name="TextBox 39" id="39"/>
            <p:cNvSpPr txBox="true"/>
            <p:nvPr/>
          </p:nvSpPr>
          <p:spPr>
            <a:xfrm>
              <a:off x="0" y="-57150"/>
              <a:ext cx="10241280" cy="1276350"/>
            </a:xfrm>
            <a:prstGeom prst="rect">
              <a:avLst/>
            </a:prstGeom>
          </p:spPr>
          <p:txBody>
            <a:bodyPr anchor="ctr" rtlCol="false" tIns="0" lIns="0" bIns="0" rIns="0"/>
            <a:lstStyle/>
            <a:p>
              <a:pPr algn="l">
                <a:lnSpc>
                  <a:spcPts val="3120"/>
                </a:lnSpc>
              </a:pPr>
              <a:r>
                <a:rPr lang="en-US" sz="2600">
                  <a:solidFill>
                    <a:srgbClr val="1A1A1A"/>
                  </a:solidFill>
                  <a:latin typeface="Calibri (MS)"/>
                  <a:ea typeface="Calibri (MS)"/>
                  <a:cs typeface="Calibri (MS)"/>
                  <a:sym typeface="Calibri (MS)"/>
                </a:rPr>
                <a:t>OpenAI GPT-4  / Local model</a:t>
              </a:r>
            </a:p>
          </p:txBody>
        </p:sp>
      </p:grpSp>
      <p:grpSp>
        <p:nvGrpSpPr>
          <p:cNvPr name="Group 40" id="40"/>
          <p:cNvGrpSpPr/>
          <p:nvPr/>
        </p:nvGrpSpPr>
        <p:grpSpPr>
          <a:xfrm rot="0">
            <a:off x="9204455" y="3681479"/>
            <a:ext cx="8291579" cy="1781051"/>
            <a:chOff x="0" y="0"/>
            <a:chExt cx="11055439" cy="2374735"/>
          </a:xfrm>
        </p:grpSpPr>
        <p:sp>
          <p:nvSpPr>
            <p:cNvPr name="Freeform 41" id="41"/>
            <p:cNvSpPr/>
            <p:nvPr/>
          </p:nvSpPr>
          <p:spPr>
            <a:xfrm flipH="false" flipV="false" rot="0">
              <a:off x="0" y="0"/>
              <a:ext cx="11055477" cy="2374773"/>
            </a:xfrm>
            <a:custGeom>
              <a:avLst/>
              <a:gdLst/>
              <a:ahLst/>
              <a:cxnLst/>
              <a:rect r="r" b="b" t="t" l="l"/>
              <a:pathLst>
                <a:path h="2374773" w="11055477">
                  <a:moveTo>
                    <a:pt x="0" y="0"/>
                  </a:moveTo>
                  <a:lnTo>
                    <a:pt x="11055477" y="0"/>
                  </a:lnTo>
                  <a:lnTo>
                    <a:pt x="11055477" y="2374773"/>
                  </a:lnTo>
                  <a:lnTo>
                    <a:pt x="0" y="2374773"/>
                  </a:lnTo>
                  <a:close/>
                </a:path>
              </a:pathLst>
            </a:custGeom>
            <a:solidFill>
              <a:srgbClr val="EEF8F4"/>
            </a:solidFill>
            <a:ln w="25400" cap="sq">
              <a:solidFill>
                <a:srgbClr val="E0E6EF"/>
              </a:solidFill>
              <a:prstDash val="solid"/>
              <a:miter/>
            </a:ln>
          </p:spPr>
        </p:sp>
      </p:grpSp>
      <p:grpSp>
        <p:nvGrpSpPr>
          <p:cNvPr name="Group 42" id="42"/>
          <p:cNvGrpSpPr/>
          <p:nvPr/>
        </p:nvGrpSpPr>
        <p:grpSpPr>
          <a:xfrm rot="0">
            <a:off x="9204455" y="3681479"/>
            <a:ext cx="153419" cy="1781051"/>
            <a:chOff x="0" y="0"/>
            <a:chExt cx="204559" cy="2374735"/>
          </a:xfrm>
        </p:grpSpPr>
        <p:sp>
          <p:nvSpPr>
            <p:cNvPr name="Freeform 43" id="43"/>
            <p:cNvSpPr/>
            <p:nvPr/>
          </p:nvSpPr>
          <p:spPr>
            <a:xfrm flipH="false" flipV="false" rot="0">
              <a:off x="0" y="0"/>
              <a:ext cx="204597" cy="2374773"/>
            </a:xfrm>
            <a:custGeom>
              <a:avLst/>
              <a:gdLst/>
              <a:ahLst/>
              <a:cxnLst/>
              <a:rect r="r" b="b" t="t" l="l"/>
              <a:pathLst>
                <a:path h="2374773" w="204597">
                  <a:moveTo>
                    <a:pt x="0" y="0"/>
                  </a:moveTo>
                  <a:lnTo>
                    <a:pt x="204597" y="0"/>
                  </a:lnTo>
                  <a:lnTo>
                    <a:pt x="204597" y="2374773"/>
                  </a:lnTo>
                  <a:lnTo>
                    <a:pt x="0" y="2374773"/>
                  </a:lnTo>
                  <a:close/>
                </a:path>
              </a:pathLst>
            </a:custGeom>
            <a:solidFill>
              <a:srgbClr val="1D7A5F"/>
            </a:solidFill>
            <a:ln w="25400" cap="sq">
              <a:solidFill>
                <a:srgbClr val="1D7A5F"/>
              </a:solidFill>
              <a:prstDash val="solid"/>
              <a:miter/>
            </a:ln>
          </p:spPr>
        </p:sp>
      </p:grpSp>
      <p:grpSp>
        <p:nvGrpSpPr>
          <p:cNvPr name="Group 44" id="44"/>
          <p:cNvGrpSpPr/>
          <p:nvPr/>
        </p:nvGrpSpPr>
        <p:grpSpPr>
          <a:xfrm rot="0">
            <a:off x="9582912" y="3840480"/>
            <a:ext cx="7680960" cy="402336"/>
            <a:chOff x="0" y="0"/>
            <a:chExt cx="10241280" cy="536448"/>
          </a:xfrm>
        </p:grpSpPr>
        <p:sp>
          <p:nvSpPr>
            <p:cNvPr name="Freeform 45" id="45"/>
            <p:cNvSpPr/>
            <p:nvPr/>
          </p:nvSpPr>
          <p:spPr>
            <a:xfrm flipH="false" flipV="false" rot="0">
              <a:off x="0" y="0"/>
              <a:ext cx="10241280" cy="536448"/>
            </a:xfrm>
            <a:custGeom>
              <a:avLst/>
              <a:gdLst/>
              <a:ahLst/>
              <a:cxnLst/>
              <a:rect r="r" b="b" t="t" l="l"/>
              <a:pathLst>
                <a:path h="536448" w="10241280">
                  <a:moveTo>
                    <a:pt x="0" y="0"/>
                  </a:moveTo>
                  <a:lnTo>
                    <a:pt x="10241280" y="0"/>
                  </a:lnTo>
                  <a:lnTo>
                    <a:pt x="10241280" y="536448"/>
                  </a:lnTo>
                  <a:lnTo>
                    <a:pt x="0" y="536448"/>
                  </a:lnTo>
                  <a:close/>
                </a:path>
              </a:pathLst>
            </a:custGeom>
            <a:blipFill>
              <a:blip r:embed="rId3">
                <a:alphaModFix amt="0"/>
              </a:blip>
              <a:stretch>
                <a:fillRect l="0" t="-321987" r="0" b="-321987"/>
              </a:stretch>
            </a:blipFill>
          </p:spPr>
        </p:sp>
        <p:sp>
          <p:nvSpPr>
            <p:cNvPr name="TextBox 46" id="46"/>
            <p:cNvSpPr txBox="true"/>
            <p:nvPr/>
          </p:nvSpPr>
          <p:spPr>
            <a:xfrm>
              <a:off x="0" y="-38100"/>
              <a:ext cx="10241280" cy="574548"/>
            </a:xfrm>
            <a:prstGeom prst="rect">
              <a:avLst/>
            </a:prstGeom>
          </p:spPr>
          <p:txBody>
            <a:bodyPr anchor="ctr" rtlCol="false" tIns="0" lIns="0" bIns="0" rIns="0"/>
            <a:lstStyle/>
            <a:p>
              <a:pPr algn="l">
                <a:lnSpc>
                  <a:spcPts val="2160"/>
                </a:lnSpc>
              </a:pPr>
              <a:r>
                <a:rPr lang="en-US" b="true" sz="1800" spc="299">
                  <a:solidFill>
                    <a:srgbClr val="1D7A5F"/>
                  </a:solidFill>
                  <a:latin typeface="Calibri (MS) Bold"/>
                  <a:ea typeface="Calibri (MS) Bold"/>
                  <a:cs typeface="Calibri (MS) Bold"/>
                  <a:sym typeface="Calibri (MS) Bold"/>
                </a:rPr>
                <a:t>RAG &amp; VECTOR STORE</a:t>
              </a:r>
            </a:p>
          </p:txBody>
        </p:sp>
      </p:grpSp>
      <p:grpSp>
        <p:nvGrpSpPr>
          <p:cNvPr name="Group 47" id="47"/>
          <p:cNvGrpSpPr/>
          <p:nvPr/>
        </p:nvGrpSpPr>
        <p:grpSpPr>
          <a:xfrm rot="0">
            <a:off x="9582912" y="4315968"/>
            <a:ext cx="7680960" cy="914400"/>
            <a:chOff x="0" y="0"/>
            <a:chExt cx="10241280" cy="1219200"/>
          </a:xfrm>
        </p:grpSpPr>
        <p:sp>
          <p:nvSpPr>
            <p:cNvPr name="Freeform 48" id="48"/>
            <p:cNvSpPr/>
            <p:nvPr/>
          </p:nvSpPr>
          <p:spPr>
            <a:xfrm flipH="false" flipV="false" rot="0">
              <a:off x="0" y="0"/>
              <a:ext cx="10241280" cy="1219200"/>
            </a:xfrm>
            <a:custGeom>
              <a:avLst/>
              <a:gdLst/>
              <a:ahLst/>
              <a:cxnLst/>
              <a:rect r="r" b="b" t="t" l="l"/>
              <a:pathLst>
                <a:path h="1219200" w="10241280">
                  <a:moveTo>
                    <a:pt x="0" y="0"/>
                  </a:moveTo>
                  <a:lnTo>
                    <a:pt x="10241280" y="0"/>
                  </a:lnTo>
                  <a:lnTo>
                    <a:pt x="10241280" y="1219200"/>
                  </a:lnTo>
                  <a:lnTo>
                    <a:pt x="0" y="1219200"/>
                  </a:lnTo>
                  <a:close/>
                </a:path>
              </a:pathLst>
            </a:custGeom>
            <a:blipFill>
              <a:blip r:embed="rId3">
                <a:alphaModFix amt="0"/>
              </a:blip>
              <a:stretch>
                <a:fillRect l="0" t="-113674" r="0" b="-113674"/>
              </a:stretch>
            </a:blipFill>
          </p:spPr>
        </p:sp>
        <p:sp>
          <p:nvSpPr>
            <p:cNvPr name="TextBox 49" id="49"/>
            <p:cNvSpPr txBox="true"/>
            <p:nvPr/>
          </p:nvSpPr>
          <p:spPr>
            <a:xfrm>
              <a:off x="0" y="-57150"/>
              <a:ext cx="10241280" cy="1276350"/>
            </a:xfrm>
            <a:prstGeom prst="rect">
              <a:avLst/>
            </a:prstGeom>
          </p:spPr>
          <p:txBody>
            <a:bodyPr anchor="ctr" rtlCol="false" tIns="0" lIns="0" bIns="0" rIns="0"/>
            <a:lstStyle/>
            <a:p>
              <a:pPr algn="l">
                <a:lnSpc>
                  <a:spcPts val="3120"/>
                </a:lnSpc>
              </a:pPr>
              <a:r>
                <a:rPr lang="en-US" sz="2600">
                  <a:solidFill>
                    <a:srgbClr val="1A1A1A"/>
                  </a:solidFill>
                  <a:latin typeface="Calibri (MS)"/>
                  <a:ea typeface="Calibri (MS)"/>
                  <a:cs typeface="Calibri (MS)"/>
                  <a:sym typeface="Calibri (MS)"/>
                </a:rPr>
                <a:t>RAG &amp; </a:t>
              </a:r>
              <a:r>
                <a:rPr lang="en-US" sz="2600">
                  <a:solidFill>
                    <a:srgbClr val="1A1A1A"/>
                  </a:solidFill>
                  <a:latin typeface="Calibri (MS)"/>
                  <a:ea typeface="Calibri (MS)"/>
                  <a:cs typeface="Calibri (MS)"/>
                  <a:sym typeface="Calibri (MS)"/>
                </a:rPr>
                <a:t>ChromaDB </a:t>
              </a:r>
            </a:p>
          </p:txBody>
        </p:sp>
      </p:grpSp>
      <p:grpSp>
        <p:nvGrpSpPr>
          <p:cNvPr name="Group 50" id="50"/>
          <p:cNvGrpSpPr/>
          <p:nvPr/>
        </p:nvGrpSpPr>
        <p:grpSpPr>
          <a:xfrm rot="0">
            <a:off x="499367" y="5729735"/>
            <a:ext cx="8291579" cy="1781051"/>
            <a:chOff x="0" y="0"/>
            <a:chExt cx="11055439" cy="2374735"/>
          </a:xfrm>
        </p:grpSpPr>
        <p:sp>
          <p:nvSpPr>
            <p:cNvPr name="Freeform 51" id="51"/>
            <p:cNvSpPr/>
            <p:nvPr/>
          </p:nvSpPr>
          <p:spPr>
            <a:xfrm flipH="false" flipV="false" rot="0">
              <a:off x="0" y="0"/>
              <a:ext cx="11055477" cy="2374773"/>
            </a:xfrm>
            <a:custGeom>
              <a:avLst/>
              <a:gdLst/>
              <a:ahLst/>
              <a:cxnLst/>
              <a:rect r="r" b="b" t="t" l="l"/>
              <a:pathLst>
                <a:path h="2374773" w="11055477">
                  <a:moveTo>
                    <a:pt x="0" y="0"/>
                  </a:moveTo>
                  <a:lnTo>
                    <a:pt x="11055477" y="0"/>
                  </a:lnTo>
                  <a:lnTo>
                    <a:pt x="11055477" y="2374773"/>
                  </a:lnTo>
                  <a:lnTo>
                    <a:pt x="0" y="2374773"/>
                  </a:lnTo>
                  <a:close/>
                </a:path>
              </a:pathLst>
            </a:custGeom>
            <a:solidFill>
              <a:srgbClr val="FFF8EE"/>
            </a:solidFill>
            <a:ln w="25400" cap="sq">
              <a:solidFill>
                <a:srgbClr val="E0E6EF"/>
              </a:solidFill>
              <a:prstDash val="solid"/>
              <a:miter/>
            </a:ln>
          </p:spPr>
        </p:sp>
      </p:grpSp>
      <p:grpSp>
        <p:nvGrpSpPr>
          <p:cNvPr name="Group 52" id="52"/>
          <p:cNvGrpSpPr/>
          <p:nvPr/>
        </p:nvGrpSpPr>
        <p:grpSpPr>
          <a:xfrm rot="0">
            <a:off x="499367" y="5729735"/>
            <a:ext cx="153419" cy="1781051"/>
            <a:chOff x="0" y="0"/>
            <a:chExt cx="204559" cy="2374735"/>
          </a:xfrm>
        </p:grpSpPr>
        <p:sp>
          <p:nvSpPr>
            <p:cNvPr name="Freeform 53" id="53"/>
            <p:cNvSpPr/>
            <p:nvPr/>
          </p:nvSpPr>
          <p:spPr>
            <a:xfrm flipH="false" flipV="false" rot="0">
              <a:off x="0" y="0"/>
              <a:ext cx="204597" cy="2374773"/>
            </a:xfrm>
            <a:custGeom>
              <a:avLst/>
              <a:gdLst/>
              <a:ahLst/>
              <a:cxnLst/>
              <a:rect r="r" b="b" t="t" l="l"/>
              <a:pathLst>
                <a:path h="2374773" w="204597">
                  <a:moveTo>
                    <a:pt x="0" y="0"/>
                  </a:moveTo>
                  <a:lnTo>
                    <a:pt x="204597" y="0"/>
                  </a:lnTo>
                  <a:lnTo>
                    <a:pt x="204597" y="2374773"/>
                  </a:lnTo>
                  <a:lnTo>
                    <a:pt x="0" y="2374773"/>
                  </a:lnTo>
                  <a:close/>
                </a:path>
              </a:pathLst>
            </a:custGeom>
            <a:solidFill>
              <a:srgbClr val="BA7517"/>
            </a:solidFill>
            <a:ln w="25400" cap="sq">
              <a:solidFill>
                <a:srgbClr val="BA7517"/>
              </a:solidFill>
              <a:prstDash val="solid"/>
              <a:miter/>
            </a:ln>
          </p:spPr>
        </p:sp>
      </p:grpSp>
      <p:grpSp>
        <p:nvGrpSpPr>
          <p:cNvPr name="Group 54" id="54"/>
          <p:cNvGrpSpPr/>
          <p:nvPr/>
        </p:nvGrpSpPr>
        <p:grpSpPr>
          <a:xfrm rot="0">
            <a:off x="877824" y="5888736"/>
            <a:ext cx="7680960" cy="402336"/>
            <a:chOff x="0" y="0"/>
            <a:chExt cx="10241280" cy="536448"/>
          </a:xfrm>
        </p:grpSpPr>
        <p:sp>
          <p:nvSpPr>
            <p:cNvPr name="Freeform 55" id="55"/>
            <p:cNvSpPr/>
            <p:nvPr/>
          </p:nvSpPr>
          <p:spPr>
            <a:xfrm flipH="false" flipV="false" rot="0">
              <a:off x="0" y="0"/>
              <a:ext cx="10241280" cy="536448"/>
            </a:xfrm>
            <a:custGeom>
              <a:avLst/>
              <a:gdLst/>
              <a:ahLst/>
              <a:cxnLst/>
              <a:rect r="r" b="b" t="t" l="l"/>
              <a:pathLst>
                <a:path h="536448" w="10241280">
                  <a:moveTo>
                    <a:pt x="0" y="0"/>
                  </a:moveTo>
                  <a:lnTo>
                    <a:pt x="10241280" y="0"/>
                  </a:lnTo>
                  <a:lnTo>
                    <a:pt x="10241280" y="536448"/>
                  </a:lnTo>
                  <a:lnTo>
                    <a:pt x="0" y="536448"/>
                  </a:lnTo>
                  <a:close/>
                </a:path>
              </a:pathLst>
            </a:custGeom>
            <a:blipFill>
              <a:blip r:embed="rId3">
                <a:alphaModFix amt="0"/>
              </a:blip>
              <a:stretch>
                <a:fillRect l="0" t="-321987" r="0" b="-321987"/>
              </a:stretch>
            </a:blipFill>
          </p:spPr>
        </p:sp>
        <p:sp>
          <p:nvSpPr>
            <p:cNvPr name="TextBox 56" id="56"/>
            <p:cNvSpPr txBox="true"/>
            <p:nvPr/>
          </p:nvSpPr>
          <p:spPr>
            <a:xfrm>
              <a:off x="0" y="-38100"/>
              <a:ext cx="10241280" cy="574548"/>
            </a:xfrm>
            <a:prstGeom prst="rect">
              <a:avLst/>
            </a:prstGeom>
          </p:spPr>
          <p:txBody>
            <a:bodyPr anchor="ctr" rtlCol="false" tIns="0" lIns="0" bIns="0" rIns="0"/>
            <a:lstStyle/>
            <a:p>
              <a:pPr algn="l">
                <a:lnSpc>
                  <a:spcPts val="2160"/>
                </a:lnSpc>
              </a:pPr>
              <a:r>
                <a:rPr lang="en-US" b="true" sz="1800" spc="299">
                  <a:solidFill>
                    <a:srgbClr val="BA7517"/>
                  </a:solidFill>
                  <a:latin typeface="Calibri (MS) Bold"/>
                  <a:ea typeface="Calibri (MS) Bold"/>
                  <a:cs typeface="Calibri (MS) Bold"/>
                  <a:sym typeface="Calibri (MS) Bold"/>
                </a:rPr>
                <a:t>BACKEND</a:t>
              </a:r>
            </a:p>
          </p:txBody>
        </p:sp>
      </p:grpSp>
      <p:grpSp>
        <p:nvGrpSpPr>
          <p:cNvPr name="Group 57" id="57"/>
          <p:cNvGrpSpPr/>
          <p:nvPr/>
        </p:nvGrpSpPr>
        <p:grpSpPr>
          <a:xfrm rot="0">
            <a:off x="877824" y="6364224"/>
            <a:ext cx="7680960" cy="914400"/>
            <a:chOff x="0" y="0"/>
            <a:chExt cx="10241280" cy="1219200"/>
          </a:xfrm>
        </p:grpSpPr>
        <p:sp>
          <p:nvSpPr>
            <p:cNvPr name="Freeform 58" id="58"/>
            <p:cNvSpPr/>
            <p:nvPr/>
          </p:nvSpPr>
          <p:spPr>
            <a:xfrm flipH="false" flipV="false" rot="0">
              <a:off x="0" y="0"/>
              <a:ext cx="10241280" cy="1219200"/>
            </a:xfrm>
            <a:custGeom>
              <a:avLst/>
              <a:gdLst/>
              <a:ahLst/>
              <a:cxnLst/>
              <a:rect r="r" b="b" t="t" l="l"/>
              <a:pathLst>
                <a:path h="1219200" w="10241280">
                  <a:moveTo>
                    <a:pt x="0" y="0"/>
                  </a:moveTo>
                  <a:lnTo>
                    <a:pt x="10241280" y="0"/>
                  </a:lnTo>
                  <a:lnTo>
                    <a:pt x="10241280" y="1219200"/>
                  </a:lnTo>
                  <a:lnTo>
                    <a:pt x="0" y="1219200"/>
                  </a:lnTo>
                  <a:close/>
                </a:path>
              </a:pathLst>
            </a:custGeom>
            <a:blipFill>
              <a:blip r:embed="rId3">
                <a:alphaModFix amt="0"/>
              </a:blip>
              <a:stretch>
                <a:fillRect l="0" t="-113674" r="0" b="-113674"/>
              </a:stretch>
            </a:blipFill>
          </p:spPr>
        </p:sp>
        <p:sp>
          <p:nvSpPr>
            <p:cNvPr name="TextBox 59" id="59"/>
            <p:cNvSpPr txBox="true"/>
            <p:nvPr/>
          </p:nvSpPr>
          <p:spPr>
            <a:xfrm>
              <a:off x="0" y="-57150"/>
              <a:ext cx="10241280" cy="1276350"/>
            </a:xfrm>
            <a:prstGeom prst="rect">
              <a:avLst/>
            </a:prstGeom>
          </p:spPr>
          <p:txBody>
            <a:bodyPr anchor="ctr" rtlCol="false" tIns="0" lIns="0" bIns="0" rIns="0"/>
            <a:lstStyle/>
            <a:p>
              <a:pPr algn="l">
                <a:lnSpc>
                  <a:spcPts val="3120"/>
                </a:lnSpc>
              </a:pPr>
              <a:r>
                <a:rPr lang="en-US" sz="2600">
                  <a:solidFill>
                    <a:srgbClr val="1A1A1A"/>
                  </a:solidFill>
                  <a:latin typeface="Calibri (MS)"/>
                  <a:ea typeface="Calibri (MS)"/>
                  <a:cs typeface="Calibri (MS)"/>
                  <a:sym typeface="Calibri (MS)"/>
                </a:rPr>
                <a:t>FastAPI</a:t>
              </a:r>
            </a:p>
          </p:txBody>
        </p:sp>
      </p:grpSp>
      <p:grpSp>
        <p:nvGrpSpPr>
          <p:cNvPr name="Group 60" id="60"/>
          <p:cNvGrpSpPr/>
          <p:nvPr/>
        </p:nvGrpSpPr>
        <p:grpSpPr>
          <a:xfrm rot="0">
            <a:off x="9204455" y="5729735"/>
            <a:ext cx="8291579" cy="1781051"/>
            <a:chOff x="0" y="0"/>
            <a:chExt cx="11055439" cy="2374735"/>
          </a:xfrm>
        </p:grpSpPr>
        <p:sp>
          <p:nvSpPr>
            <p:cNvPr name="Freeform 61" id="61"/>
            <p:cNvSpPr/>
            <p:nvPr/>
          </p:nvSpPr>
          <p:spPr>
            <a:xfrm flipH="false" flipV="false" rot="0">
              <a:off x="0" y="0"/>
              <a:ext cx="11055477" cy="2374773"/>
            </a:xfrm>
            <a:custGeom>
              <a:avLst/>
              <a:gdLst/>
              <a:ahLst/>
              <a:cxnLst/>
              <a:rect r="r" b="b" t="t" l="l"/>
              <a:pathLst>
                <a:path h="2374773" w="11055477">
                  <a:moveTo>
                    <a:pt x="0" y="0"/>
                  </a:moveTo>
                  <a:lnTo>
                    <a:pt x="11055477" y="0"/>
                  </a:lnTo>
                  <a:lnTo>
                    <a:pt x="11055477" y="2374773"/>
                  </a:lnTo>
                  <a:lnTo>
                    <a:pt x="0" y="2374773"/>
                  </a:lnTo>
                  <a:close/>
                </a:path>
              </a:pathLst>
            </a:custGeom>
            <a:solidFill>
              <a:srgbClr val="F5F2FF"/>
            </a:solidFill>
            <a:ln w="25400" cap="sq">
              <a:solidFill>
                <a:srgbClr val="E0E6EF"/>
              </a:solidFill>
              <a:prstDash val="solid"/>
              <a:miter/>
            </a:ln>
          </p:spPr>
        </p:sp>
      </p:grpSp>
      <p:grpSp>
        <p:nvGrpSpPr>
          <p:cNvPr name="Group 62" id="62"/>
          <p:cNvGrpSpPr/>
          <p:nvPr/>
        </p:nvGrpSpPr>
        <p:grpSpPr>
          <a:xfrm rot="0">
            <a:off x="9204455" y="5729735"/>
            <a:ext cx="153419" cy="1781051"/>
            <a:chOff x="0" y="0"/>
            <a:chExt cx="204559" cy="2374735"/>
          </a:xfrm>
        </p:grpSpPr>
        <p:sp>
          <p:nvSpPr>
            <p:cNvPr name="Freeform 63" id="63"/>
            <p:cNvSpPr/>
            <p:nvPr/>
          </p:nvSpPr>
          <p:spPr>
            <a:xfrm flipH="false" flipV="false" rot="0">
              <a:off x="0" y="0"/>
              <a:ext cx="204597" cy="2374773"/>
            </a:xfrm>
            <a:custGeom>
              <a:avLst/>
              <a:gdLst/>
              <a:ahLst/>
              <a:cxnLst/>
              <a:rect r="r" b="b" t="t" l="l"/>
              <a:pathLst>
                <a:path h="2374773" w="204597">
                  <a:moveTo>
                    <a:pt x="0" y="0"/>
                  </a:moveTo>
                  <a:lnTo>
                    <a:pt x="204597" y="0"/>
                  </a:lnTo>
                  <a:lnTo>
                    <a:pt x="204597" y="2374773"/>
                  </a:lnTo>
                  <a:lnTo>
                    <a:pt x="0" y="2374773"/>
                  </a:lnTo>
                  <a:close/>
                </a:path>
              </a:pathLst>
            </a:custGeom>
            <a:solidFill>
              <a:srgbClr val="6B4EAF"/>
            </a:solidFill>
            <a:ln w="25400" cap="sq">
              <a:solidFill>
                <a:srgbClr val="6B4EAF"/>
              </a:solidFill>
              <a:prstDash val="solid"/>
              <a:miter/>
            </a:ln>
          </p:spPr>
        </p:sp>
      </p:grpSp>
      <p:grpSp>
        <p:nvGrpSpPr>
          <p:cNvPr name="Group 64" id="64"/>
          <p:cNvGrpSpPr/>
          <p:nvPr/>
        </p:nvGrpSpPr>
        <p:grpSpPr>
          <a:xfrm rot="0">
            <a:off x="9582912" y="5888736"/>
            <a:ext cx="7680960" cy="402336"/>
            <a:chOff x="0" y="0"/>
            <a:chExt cx="10241280" cy="536448"/>
          </a:xfrm>
        </p:grpSpPr>
        <p:sp>
          <p:nvSpPr>
            <p:cNvPr name="Freeform 65" id="65"/>
            <p:cNvSpPr/>
            <p:nvPr/>
          </p:nvSpPr>
          <p:spPr>
            <a:xfrm flipH="false" flipV="false" rot="0">
              <a:off x="0" y="0"/>
              <a:ext cx="10241280" cy="536448"/>
            </a:xfrm>
            <a:custGeom>
              <a:avLst/>
              <a:gdLst/>
              <a:ahLst/>
              <a:cxnLst/>
              <a:rect r="r" b="b" t="t" l="l"/>
              <a:pathLst>
                <a:path h="536448" w="10241280">
                  <a:moveTo>
                    <a:pt x="0" y="0"/>
                  </a:moveTo>
                  <a:lnTo>
                    <a:pt x="10241280" y="0"/>
                  </a:lnTo>
                  <a:lnTo>
                    <a:pt x="10241280" y="536448"/>
                  </a:lnTo>
                  <a:lnTo>
                    <a:pt x="0" y="536448"/>
                  </a:lnTo>
                  <a:close/>
                </a:path>
              </a:pathLst>
            </a:custGeom>
            <a:blipFill>
              <a:blip r:embed="rId3">
                <a:alphaModFix amt="0"/>
              </a:blip>
              <a:stretch>
                <a:fillRect l="0" t="-321987" r="0" b="-321987"/>
              </a:stretch>
            </a:blipFill>
          </p:spPr>
        </p:sp>
        <p:sp>
          <p:nvSpPr>
            <p:cNvPr name="TextBox 66" id="66"/>
            <p:cNvSpPr txBox="true"/>
            <p:nvPr/>
          </p:nvSpPr>
          <p:spPr>
            <a:xfrm>
              <a:off x="0" y="-38100"/>
              <a:ext cx="10241280" cy="574548"/>
            </a:xfrm>
            <a:prstGeom prst="rect">
              <a:avLst/>
            </a:prstGeom>
          </p:spPr>
          <p:txBody>
            <a:bodyPr anchor="ctr" rtlCol="false" tIns="0" lIns="0" bIns="0" rIns="0"/>
            <a:lstStyle/>
            <a:p>
              <a:pPr algn="l">
                <a:lnSpc>
                  <a:spcPts val="2160"/>
                </a:lnSpc>
              </a:pPr>
              <a:r>
                <a:rPr lang="en-US" b="true" sz="1800" spc="299">
                  <a:solidFill>
                    <a:srgbClr val="6B4EAF"/>
                  </a:solidFill>
                  <a:latin typeface="Calibri (MS) Bold"/>
                  <a:ea typeface="Calibri (MS) Bold"/>
                  <a:cs typeface="Calibri (MS) Bold"/>
                  <a:sym typeface="Calibri (MS) Bold"/>
                </a:rPr>
                <a:t>TESTING</a:t>
              </a:r>
            </a:p>
          </p:txBody>
        </p:sp>
      </p:grpSp>
      <p:grpSp>
        <p:nvGrpSpPr>
          <p:cNvPr name="Group 67" id="67"/>
          <p:cNvGrpSpPr/>
          <p:nvPr/>
        </p:nvGrpSpPr>
        <p:grpSpPr>
          <a:xfrm rot="0">
            <a:off x="9582912" y="6364224"/>
            <a:ext cx="7680960" cy="914400"/>
            <a:chOff x="0" y="0"/>
            <a:chExt cx="10241280" cy="1219200"/>
          </a:xfrm>
        </p:grpSpPr>
        <p:sp>
          <p:nvSpPr>
            <p:cNvPr name="Freeform 68" id="68"/>
            <p:cNvSpPr/>
            <p:nvPr/>
          </p:nvSpPr>
          <p:spPr>
            <a:xfrm flipH="false" flipV="false" rot="0">
              <a:off x="0" y="0"/>
              <a:ext cx="10241280" cy="1219200"/>
            </a:xfrm>
            <a:custGeom>
              <a:avLst/>
              <a:gdLst/>
              <a:ahLst/>
              <a:cxnLst/>
              <a:rect r="r" b="b" t="t" l="l"/>
              <a:pathLst>
                <a:path h="1219200" w="10241280">
                  <a:moveTo>
                    <a:pt x="0" y="0"/>
                  </a:moveTo>
                  <a:lnTo>
                    <a:pt x="10241280" y="0"/>
                  </a:lnTo>
                  <a:lnTo>
                    <a:pt x="10241280" y="1219200"/>
                  </a:lnTo>
                  <a:lnTo>
                    <a:pt x="0" y="1219200"/>
                  </a:lnTo>
                  <a:close/>
                </a:path>
              </a:pathLst>
            </a:custGeom>
            <a:blipFill>
              <a:blip r:embed="rId3">
                <a:alphaModFix amt="0"/>
              </a:blip>
              <a:stretch>
                <a:fillRect l="0" t="-113674" r="0" b="-113674"/>
              </a:stretch>
            </a:blipFill>
          </p:spPr>
        </p:sp>
        <p:sp>
          <p:nvSpPr>
            <p:cNvPr name="TextBox 69" id="69"/>
            <p:cNvSpPr txBox="true"/>
            <p:nvPr/>
          </p:nvSpPr>
          <p:spPr>
            <a:xfrm>
              <a:off x="0" y="-57150"/>
              <a:ext cx="10241280" cy="1276350"/>
            </a:xfrm>
            <a:prstGeom prst="rect">
              <a:avLst/>
            </a:prstGeom>
          </p:spPr>
          <p:txBody>
            <a:bodyPr anchor="ctr" rtlCol="false" tIns="0" lIns="0" bIns="0" rIns="0"/>
            <a:lstStyle/>
            <a:p>
              <a:pPr algn="l">
                <a:lnSpc>
                  <a:spcPts val="3120"/>
                </a:lnSpc>
              </a:pPr>
              <a:r>
                <a:rPr lang="en-US" sz="2600">
                  <a:solidFill>
                    <a:srgbClr val="1A1A1A"/>
                  </a:solidFill>
                  <a:latin typeface="Calibri (MS)"/>
                  <a:ea typeface="Calibri (MS)"/>
                  <a:cs typeface="Calibri (MS)"/>
                  <a:sym typeface="Calibri (MS)"/>
                </a:rPr>
                <a:t>Container Structure Tests (CST)</a:t>
              </a:r>
            </a:p>
          </p:txBody>
        </p:sp>
      </p:grpSp>
      <p:grpSp>
        <p:nvGrpSpPr>
          <p:cNvPr name="Group 70" id="70"/>
          <p:cNvGrpSpPr/>
          <p:nvPr/>
        </p:nvGrpSpPr>
        <p:grpSpPr>
          <a:xfrm rot="0">
            <a:off x="499367" y="7777991"/>
            <a:ext cx="8291579" cy="1781051"/>
            <a:chOff x="0" y="0"/>
            <a:chExt cx="11055439" cy="2374735"/>
          </a:xfrm>
        </p:grpSpPr>
        <p:sp>
          <p:nvSpPr>
            <p:cNvPr name="Freeform 71" id="71"/>
            <p:cNvSpPr/>
            <p:nvPr/>
          </p:nvSpPr>
          <p:spPr>
            <a:xfrm flipH="false" flipV="false" rot="0">
              <a:off x="0" y="0"/>
              <a:ext cx="11055477" cy="2374773"/>
            </a:xfrm>
            <a:custGeom>
              <a:avLst/>
              <a:gdLst/>
              <a:ahLst/>
              <a:cxnLst/>
              <a:rect r="r" b="b" t="t" l="l"/>
              <a:pathLst>
                <a:path h="2374773" w="11055477">
                  <a:moveTo>
                    <a:pt x="0" y="0"/>
                  </a:moveTo>
                  <a:lnTo>
                    <a:pt x="11055477" y="0"/>
                  </a:lnTo>
                  <a:lnTo>
                    <a:pt x="11055477" y="2374773"/>
                  </a:lnTo>
                  <a:lnTo>
                    <a:pt x="0" y="2374773"/>
                  </a:lnTo>
                  <a:close/>
                </a:path>
              </a:pathLst>
            </a:custGeom>
            <a:solidFill>
              <a:srgbClr val="EEF4FF"/>
            </a:solidFill>
            <a:ln w="25400" cap="sq">
              <a:solidFill>
                <a:srgbClr val="E0E6EF"/>
              </a:solidFill>
              <a:prstDash val="solid"/>
              <a:miter/>
            </a:ln>
          </p:spPr>
        </p:sp>
      </p:grpSp>
      <p:grpSp>
        <p:nvGrpSpPr>
          <p:cNvPr name="Group 72" id="72"/>
          <p:cNvGrpSpPr/>
          <p:nvPr/>
        </p:nvGrpSpPr>
        <p:grpSpPr>
          <a:xfrm rot="0">
            <a:off x="499367" y="7777991"/>
            <a:ext cx="153419" cy="1781051"/>
            <a:chOff x="0" y="0"/>
            <a:chExt cx="204559" cy="2374735"/>
          </a:xfrm>
        </p:grpSpPr>
        <p:sp>
          <p:nvSpPr>
            <p:cNvPr name="Freeform 73" id="73"/>
            <p:cNvSpPr/>
            <p:nvPr/>
          </p:nvSpPr>
          <p:spPr>
            <a:xfrm flipH="false" flipV="false" rot="0">
              <a:off x="0" y="0"/>
              <a:ext cx="204597" cy="2374773"/>
            </a:xfrm>
            <a:custGeom>
              <a:avLst/>
              <a:gdLst/>
              <a:ahLst/>
              <a:cxnLst/>
              <a:rect r="r" b="b" t="t" l="l"/>
              <a:pathLst>
                <a:path h="2374773" w="204597">
                  <a:moveTo>
                    <a:pt x="0" y="0"/>
                  </a:moveTo>
                  <a:lnTo>
                    <a:pt x="204597" y="0"/>
                  </a:lnTo>
                  <a:lnTo>
                    <a:pt x="204597" y="2374773"/>
                  </a:lnTo>
                  <a:lnTo>
                    <a:pt x="0" y="2374773"/>
                  </a:lnTo>
                  <a:close/>
                </a:path>
              </a:pathLst>
            </a:custGeom>
            <a:solidFill>
              <a:srgbClr val="2E75B6"/>
            </a:solidFill>
            <a:ln w="25400" cap="sq">
              <a:solidFill>
                <a:srgbClr val="2E75B6"/>
              </a:solidFill>
              <a:prstDash val="solid"/>
              <a:miter/>
            </a:ln>
          </p:spPr>
        </p:sp>
      </p:grpSp>
      <p:grpSp>
        <p:nvGrpSpPr>
          <p:cNvPr name="Group 74" id="74"/>
          <p:cNvGrpSpPr/>
          <p:nvPr/>
        </p:nvGrpSpPr>
        <p:grpSpPr>
          <a:xfrm rot="0">
            <a:off x="877824" y="7936992"/>
            <a:ext cx="7680960" cy="402336"/>
            <a:chOff x="0" y="0"/>
            <a:chExt cx="10241280" cy="536448"/>
          </a:xfrm>
        </p:grpSpPr>
        <p:sp>
          <p:nvSpPr>
            <p:cNvPr name="Freeform 75" id="75"/>
            <p:cNvSpPr/>
            <p:nvPr/>
          </p:nvSpPr>
          <p:spPr>
            <a:xfrm flipH="false" flipV="false" rot="0">
              <a:off x="0" y="0"/>
              <a:ext cx="10241280" cy="536448"/>
            </a:xfrm>
            <a:custGeom>
              <a:avLst/>
              <a:gdLst/>
              <a:ahLst/>
              <a:cxnLst/>
              <a:rect r="r" b="b" t="t" l="l"/>
              <a:pathLst>
                <a:path h="536448" w="10241280">
                  <a:moveTo>
                    <a:pt x="0" y="0"/>
                  </a:moveTo>
                  <a:lnTo>
                    <a:pt x="10241280" y="0"/>
                  </a:lnTo>
                  <a:lnTo>
                    <a:pt x="10241280" y="536448"/>
                  </a:lnTo>
                  <a:lnTo>
                    <a:pt x="0" y="536448"/>
                  </a:lnTo>
                  <a:close/>
                </a:path>
              </a:pathLst>
            </a:custGeom>
            <a:blipFill>
              <a:blip r:embed="rId3">
                <a:alphaModFix amt="0"/>
              </a:blip>
              <a:stretch>
                <a:fillRect l="0" t="-321987" r="0" b="-321987"/>
              </a:stretch>
            </a:blipFill>
          </p:spPr>
        </p:sp>
        <p:sp>
          <p:nvSpPr>
            <p:cNvPr name="TextBox 76" id="76"/>
            <p:cNvSpPr txBox="true"/>
            <p:nvPr/>
          </p:nvSpPr>
          <p:spPr>
            <a:xfrm>
              <a:off x="0" y="-38100"/>
              <a:ext cx="10241280" cy="574548"/>
            </a:xfrm>
            <a:prstGeom prst="rect">
              <a:avLst/>
            </a:prstGeom>
          </p:spPr>
          <p:txBody>
            <a:bodyPr anchor="ctr" rtlCol="false" tIns="0" lIns="0" bIns="0" rIns="0"/>
            <a:lstStyle/>
            <a:p>
              <a:pPr algn="l">
                <a:lnSpc>
                  <a:spcPts val="2160"/>
                </a:lnSpc>
              </a:pPr>
              <a:r>
                <a:rPr lang="en-US" b="true" sz="1800" spc="299">
                  <a:solidFill>
                    <a:srgbClr val="2E75B6"/>
                  </a:solidFill>
                  <a:latin typeface="Calibri (MS) Bold"/>
                  <a:ea typeface="Calibri (MS) Bold"/>
                  <a:cs typeface="Calibri (MS) Bold"/>
                  <a:sym typeface="Calibri (MS) Bold"/>
                </a:rPr>
                <a:t>IDE INTEGRATION</a:t>
              </a:r>
            </a:p>
          </p:txBody>
        </p:sp>
      </p:grpSp>
      <p:grpSp>
        <p:nvGrpSpPr>
          <p:cNvPr name="Group 77" id="77"/>
          <p:cNvGrpSpPr/>
          <p:nvPr/>
        </p:nvGrpSpPr>
        <p:grpSpPr>
          <a:xfrm rot="0">
            <a:off x="877824" y="8412480"/>
            <a:ext cx="7680960" cy="914400"/>
            <a:chOff x="0" y="0"/>
            <a:chExt cx="10241280" cy="1219200"/>
          </a:xfrm>
        </p:grpSpPr>
        <p:sp>
          <p:nvSpPr>
            <p:cNvPr name="Freeform 78" id="78"/>
            <p:cNvSpPr/>
            <p:nvPr/>
          </p:nvSpPr>
          <p:spPr>
            <a:xfrm flipH="false" flipV="false" rot="0">
              <a:off x="0" y="0"/>
              <a:ext cx="10241280" cy="1219200"/>
            </a:xfrm>
            <a:custGeom>
              <a:avLst/>
              <a:gdLst/>
              <a:ahLst/>
              <a:cxnLst/>
              <a:rect r="r" b="b" t="t" l="l"/>
              <a:pathLst>
                <a:path h="1219200" w="10241280">
                  <a:moveTo>
                    <a:pt x="0" y="0"/>
                  </a:moveTo>
                  <a:lnTo>
                    <a:pt x="10241280" y="0"/>
                  </a:lnTo>
                  <a:lnTo>
                    <a:pt x="10241280" y="1219200"/>
                  </a:lnTo>
                  <a:lnTo>
                    <a:pt x="0" y="1219200"/>
                  </a:lnTo>
                  <a:close/>
                </a:path>
              </a:pathLst>
            </a:custGeom>
            <a:blipFill>
              <a:blip r:embed="rId3">
                <a:alphaModFix amt="0"/>
              </a:blip>
              <a:stretch>
                <a:fillRect l="0" t="-113674" r="0" b="-113674"/>
              </a:stretch>
            </a:blipFill>
          </p:spPr>
        </p:sp>
        <p:sp>
          <p:nvSpPr>
            <p:cNvPr name="TextBox 79" id="79"/>
            <p:cNvSpPr txBox="true"/>
            <p:nvPr/>
          </p:nvSpPr>
          <p:spPr>
            <a:xfrm>
              <a:off x="0" y="-57150"/>
              <a:ext cx="10241280" cy="1276350"/>
            </a:xfrm>
            <a:prstGeom prst="rect">
              <a:avLst/>
            </a:prstGeom>
          </p:spPr>
          <p:txBody>
            <a:bodyPr anchor="ctr" rtlCol="false" tIns="0" lIns="0" bIns="0" rIns="0"/>
            <a:lstStyle/>
            <a:p>
              <a:pPr algn="l">
                <a:lnSpc>
                  <a:spcPts val="3120"/>
                </a:lnSpc>
              </a:pPr>
              <a:r>
                <a:rPr lang="en-US" sz="2600">
                  <a:solidFill>
                    <a:srgbClr val="1A1A1A"/>
                  </a:solidFill>
                  <a:latin typeface="Calibri (MS)"/>
                  <a:ea typeface="Calibri (MS)"/>
                  <a:cs typeface="Calibri (MS)"/>
                  <a:sym typeface="Calibri (MS)"/>
                </a:rPr>
                <a:t>VS Code Extension API  ·  Webview API</a:t>
              </a:r>
            </a:p>
          </p:txBody>
        </p:sp>
      </p:grpSp>
      <p:grpSp>
        <p:nvGrpSpPr>
          <p:cNvPr name="Group 80" id="80"/>
          <p:cNvGrpSpPr/>
          <p:nvPr/>
        </p:nvGrpSpPr>
        <p:grpSpPr>
          <a:xfrm rot="0">
            <a:off x="9204455" y="7777991"/>
            <a:ext cx="8291579" cy="1781051"/>
            <a:chOff x="0" y="0"/>
            <a:chExt cx="11055439" cy="2374735"/>
          </a:xfrm>
        </p:grpSpPr>
        <p:sp>
          <p:nvSpPr>
            <p:cNvPr name="Freeform 81" id="81"/>
            <p:cNvSpPr/>
            <p:nvPr/>
          </p:nvSpPr>
          <p:spPr>
            <a:xfrm flipH="false" flipV="false" rot="0">
              <a:off x="0" y="0"/>
              <a:ext cx="11055477" cy="2374773"/>
            </a:xfrm>
            <a:custGeom>
              <a:avLst/>
              <a:gdLst/>
              <a:ahLst/>
              <a:cxnLst/>
              <a:rect r="r" b="b" t="t" l="l"/>
              <a:pathLst>
                <a:path h="2374773" w="11055477">
                  <a:moveTo>
                    <a:pt x="0" y="0"/>
                  </a:moveTo>
                  <a:lnTo>
                    <a:pt x="11055477" y="0"/>
                  </a:lnTo>
                  <a:lnTo>
                    <a:pt x="11055477" y="2374773"/>
                  </a:lnTo>
                  <a:lnTo>
                    <a:pt x="0" y="2374773"/>
                  </a:lnTo>
                  <a:close/>
                </a:path>
              </a:pathLst>
            </a:custGeom>
            <a:solidFill>
              <a:srgbClr val="F5F5F5"/>
            </a:solidFill>
            <a:ln w="25400" cap="sq">
              <a:solidFill>
                <a:srgbClr val="E0E6EF"/>
              </a:solidFill>
              <a:prstDash val="solid"/>
              <a:miter/>
            </a:ln>
          </p:spPr>
        </p:sp>
      </p:grpSp>
      <p:grpSp>
        <p:nvGrpSpPr>
          <p:cNvPr name="Group 82" id="82"/>
          <p:cNvGrpSpPr/>
          <p:nvPr/>
        </p:nvGrpSpPr>
        <p:grpSpPr>
          <a:xfrm rot="0">
            <a:off x="9204455" y="7777991"/>
            <a:ext cx="153419" cy="1781051"/>
            <a:chOff x="0" y="0"/>
            <a:chExt cx="204559" cy="2374735"/>
          </a:xfrm>
        </p:grpSpPr>
        <p:sp>
          <p:nvSpPr>
            <p:cNvPr name="Freeform 83" id="83"/>
            <p:cNvSpPr/>
            <p:nvPr/>
          </p:nvSpPr>
          <p:spPr>
            <a:xfrm flipH="false" flipV="false" rot="0">
              <a:off x="0" y="0"/>
              <a:ext cx="204597" cy="2374773"/>
            </a:xfrm>
            <a:custGeom>
              <a:avLst/>
              <a:gdLst/>
              <a:ahLst/>
              <a:cxnLst/>
              <a:rect r="r" b="b" t="t" l="l"/>
              <a:pathLst>
                <a:path h="2374773" w="204597">
                  <a:moveTo>
                    <a:pt x="0" y="0"/>
                  </a:moveTo>
                  <a:lnTo>
                    <a:pt x="204597" y="0"/>
                  </a:lnTo>
                  <a:lnTo>
                    <a:pt x="204597" y="2374773"/>
                  </a:lnTo>
                  <a:lnTo>
                    <a:pt x="0" y="2374773"/>
                  </a:lnTo>
                  <a:close/>
                </a:path>
              </a:pathLst>
            </a:custGeom>
            <a:solidFill>
              <a:srgbClr val="555555"/>
            </a:solidFill>
            <a:ln w="25400" cap="sq">
              <a:solidFill>
                <a:srgbClr val="555555"/>
              </a:solidFill>
              <a:prstDash val="solid"/>
              <a:miter/>
            </a:ln>
          </p:spPr>
        </p:sp>
      </p:grpSp>
      <p:grpSp>
        <p:nvGrpSpPr>
          <p:cNvPr name="Group 84" id="84"/>
          <p:cNvGrpSpPr/>
          <p:nvPr/>
        </p:nvGrpSpPr>
        <p:grpSpPr>
          <a:xfrm rot="0">
            <a:off x="9582912" y="7936992"/>
            <a:ext cx="7680960" cy="402336"/>
            <a:chOff x="0" y="0"/>
            <a:chExt cx="10241280" cy="536448"/>
          </a:xfrm>
        </p:grpSpPr>
        <p:sp>
          <p:nvSpPr>
            <p:cNvPr name="Freeform 85" id="85"/>
            <p:cNvSpPr/>
            <p:nvPr/>
          </p:nvSpPr>
          <p:spPr>
            <a:xfrm flipH="false" flipV="false" rot="0">
              <a:off x="0" y="0"/>
              <a:ext cx="10241280" cy="536448"/>
            </a:xfrm>
            <a:custGeom>
              <a:avLst/>
              <a:gdLst/>
              <a:ahLst/>
              <a:cxnLst/>
              <a:rect r="r" b="b" t="t" l="l"/>
              <a:pathLst>
                <a:path h="536448" w="10241280">
                  <a:moveTo>
                    <a:pt x="0" y="0"/>
                  </a:moveTo>
                  <a:lnTo>
                    <a:pt x="10241280" y="0"/>
                  </a:lnTo>
                  <a:lnTo>
                    <a:pt x="10241280" y="536448"/>
                  </a:lnTo>
                  <a:lnTo>
                    <a:pt x="0" y="536448"/>
                  </a:lnTo>
                  <a:close/>
                </a:path>
              </a:pathLst>
            </a:custGeom>
            <a:blipFill>
              <a:blip r:embed="rId3">
                <a:alphaModFix amt="0"/>
              </a:blip>
              <a:stretch>
                <a:fillRect l="0" t="-321987" r="0" b="-321987"/>
              </a:stretch>
            </a:blipFill>
          </p:spPr>
        </p:sp>
        <p:sp>
          <p:nvSpPr>
            <p:cNvPr name="TextBox 86" id="86"/>
            <p:cNvSpPr txBox="true"/>
            <p:nvPr/>
          </p:nvSpPr>
          <p:spPr>
            <a:xfrm>
              <a:off x="0" y="-38100"/>
              <a:ext cx="10241280" cy="574548"/>
            </a:xfrm>
            <a:prstGeom prst="rect">
              <a:avLst/>
            </a:prstGeom>
          </p:spPr>
          <p:txBody>
            <a:bodyPr anchor="ctr" rtlCol="false" tIns="0" lIns="0" bIns="0" rIns="0"/>
            <a:lstStyle/>
            <a:p>
              <a:pPr algn="l">
                <a:lnSpc>
                  <a:spcPts val="2160"/>
                </a:lnSpc>
              </a:pPr>
              <a:r>
                <a:rPr lang="en-US" b="true" sz="1800" spc="299">
                  <a:solidFill>
                    <a:srgbClr val="555555"/>
                  </a:solidFill>
                  <a:latin typeface="Calibri (MS) Bold"/>
                  <a:ea typeface="Calibri (MS) Bold"/>
                  <a:cs typeface="Calibri (MS) Bold"/>
                  <a:sym typeface="Calibri (MS) Bold"/>
                </a:rPr>
                <a:t>VERSION CONTROL</a:t>
              </a:r>
            </a:p>
          </p:txBody>
        </p:sp>
      </p:grpSp>
      <p:grpSp>
        <p:nvGrpSpPr>
          <p:cNvPr name="Group 87" id="87"/>
          <p:cNvGrpSpPr/>
          <p:nvPr/>
        </p:nvGrpSpPr>
        <p:grpSpPr>
          <a:xfrm rot="0">
            <a:off x="9582912" y="8412480"/>
            <a:ext cx="7680960" cy="914400"/>
            <a:chOff x="0" y="0"/>
            <a:chExt cx="10241280" cy="1219200"/>
          </a:xfrm>
        </p:grpSpPr>
        <p:sp>
          <p:nvSpPr>
            <p:cNvPr name="Freeform 88" id="88"/>
            <p:cNvSpPr/>
            <p:nvPr/>
          </p:nvSpPr>
          <p:spPr>
            <a:xfrm flipH="false" flipV="false" rot="0">
              <a:off x="0" y="0"/>
              <a:ext cx="10241280" cy="1219200"/>
            </a:xfrm>
            <a:custGeom>
              <a:avLst/>
              <a:gdLst/>
              <a:ahLst/>
              <a:cxnLst/>
              <a:rect r="r" b="b" t="t" l="l"/>
              <a:pathLst>
                <a:path h="1219200" w="10241280">
                  <a:moveTo>
                    <a:pt x="0" y="0"/>
                  </a:moveTo>
                  <a:lnTo>
                    <a:pt x="10241280" y="0"/>
                  </a:lnTo>
                  <a:lnTo>
                    <a:pt x="10241280" y="1219200"/>
                  </a:lnTo>
                  <a:lnTo>
                    <a:pt x="0" y="1219200"/>
                  </a:lnTo>
                  <a:close/>
                </a:path>
              </a:pathLst>
            </a:custGeom>
            <a:blipFill>
              <a:blip r:embed="rId3">
                <a:alphaModFix amt="0"/>
              </a:blip>
              <a:stretch>
                <a:fillRect l="0" t="-113674" r="0" b="-113674"/>
              </a:stretch>
            </a:blipFill>
          </p:spPr>
        </p:sp>
        <p:sp>
          <p:nvSpPr>
            <p:cNvPr name="TextBox 89" id="89"/>
            <p:cNvSpPr txBox="true"/>
            <p:nvPr/>
          </p:nvSpPr>
          <p:spPr>
            <a:xfrm>
              <a:off x="0" y="-57150"/>
              <a:ext cx="10241280" cy="1276350"/>
            </a:xfrm>
            <a:prstGeom prst="rect">
              <a:avLst/>
            </a:prstGeom>
          </p:spPr>
          <p:txBody>
            <a:bodyPr anchor="ctr" rtlCol="false" tIns="0" lIns="0" bIns="0" rIns="0"/>
            <a:lstStyle/>
            <a:p>
              <a:pPr algn="l">
                <a:lnSpc>
                  <a:spcPts val="3120"/>
                </a:lnSpc>
              </a:pPr>
              <a:r>
                <a:rPr lang="en-US" sz="2600">
                  <a:solidFill>
                    <a:srgbClr val="1A1A1A"/>
                  </a:solidFill>
                  <a:latin typeface="Calibri (MS)"/>
                  <a:ea typeface="Calibri (MS)"/>
                  <a:cs typeface="Calibri (MS)"/>
                  <a:sym typeface="Calibri (MS)"/>
                </a:rPr>
                <a:t>Git  ·  GitHub</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F6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342139"/>
            <a:chOff x="0" y="0"/>
            <a:chExt cx="24417871" cy="1789519"/>
          </a:xfrm>
        </p:grpSpPr>
        <p:sp>
          <p:nvSpPr>
            <p:cNvPr name="Freeform 3" id="3"/>
            <p:cNvSpPr/>
            <p:nvPr/>
          </p:nvSpPr>
          <p:spPr>
            <a:xfrm flipH="false" flipV="false" rot="0">
              <a:off x="0" y="0"/>
              <a:ext cx="24417910" cy="1789557"/>
            </a:xfrm>
            <a:custGeom>
              <a:avLst/>
              <a:gdLst/>
              <a:ahLst/>
              <a:cxnLst/>
              <a:rect r="r" b="b" t="t" l="l"/>
              <a:pathLst>
                <a:path h="1789557" w="24417910">
                  <a:moveTo>
                    <a:pt x="0" y="0"/>
                  </a:moveTo>
                  <a:lnTo>
                    <a:pt x="24417910" y="0"/>
                  </a:lnTo>
                  <a:lnTo>
                    <a:pt x="24417910" y="1789557"/>
                  </a:lnTo>
                  <a:lnTo>
                    <a:pt x="0" y="1789557"/>
                  </a:lnTo>
                  <a:close/>
                </a:path>
              </a:pathLst>
            </a:custGeom>
            <a:solidFill>
              <a:srgbClr val="0D1B2A"/>
            </a:solidFill>
            <a:ln w="25400" cap="sq">
              <a:solidFill>
                <a:srgbClr val="0D1B2A"/>
              </a:solidFill>
              <a:prstDash val="solid"/>
              <a:miter/>
            </a:ln>
          </p:spPr>
        </p:sp>
      </p:grpSp>
      <p:grpSp>
        <p:nvGrpSpPr>
          <p:cNvPr name="Group 4" id="4"/>
          <p:cNvGrpSpPr/>
          <p:nvPr/>
        </p:nvGrpSpPr>
        <p:grpSpPr>
          <a:xfrm rot="0">
            <a:off x="499367" y="-15364"/>
            <a:ext cx="14630400" cy="1316736"/>
            <a:chOff x="0" y="0"/>
            <a:chExt cx="19507200" cy="1755648"/>
          </a:xfrm>
        </p:grpSpPr>
        <p:sp>
          <p:nvSpPr>
            <p:cNvPr name="Freeform 5" id="5"/>
            <p:cNvSpPr/>
            <p:nvPr/>
          </p:nvSpPr>
          <p:spPr>
            <a:xfrm flipH="false" flipV="false" rot="0">
              <a:off x="0" y="0"/>
              <a:ext cx="19507200" cy="1755648"/>
            </a:xfrm>
            <a:custGeom>
              <a:avLst/>
              <a:gdLst/>
              <a:ahLst/>
              <a:cxnLst/>
              <a:rect r="r" b="b" t="t" l="l"/>
              <a:pathLst>
                <a:path h="1755648" w="19507200">
                  <a:moveTo>
                    <a:pt x="0" y="0"/>
                  </a:moveTo>
                  <a:lnTo>
                    <a:pt x="19507200" y="0"/>
                  </a:lnTo>
                  <a:lnTo>
                    <a:pt x="19507200" y="1755648"/>
                  </a:lnTo>
                  <a:lnTo>
                    <a:pt x="0" y="1755648"/>
                  </a:lnTo>
                  <a:close/>
                </a:path>
              </a:pathLst>
            </a:custGeom>
            <a:blipFill>
              <a:blip r:embed="rId3">
                <a:alphaModFix amt="0"/>
              </a:blip>
              <a:stretch>
                <a:fillRect l="0" t="-166500" r="0" b="-166500"/>
              </a:stretch>
            </a:blipFill>
          </p:spPr>
        </p:sp>
        <p:sp>
          <p:nvSpPr>
            <p:cNvPr name="TextBox 6" id="6"/>
            <p:cNvSpPr txBox="true"/>
            <p:nvPr/>
          </p:nvSpPr>
          <p:spPr>
            <a:xfrm>
              <a:off x="0" y="-104775"/>
              <a:ext cx="19507200" cy="1860423"/>
            </a:xfrm>
            <a:prstGeom prst="rect">
              <a:avLst/>
            </a:prstGeom>
          </p:spPr>
          <p:txBody>
            <a:bodyPr anchor="ctr" rtlCol="false" tIns="0" lIns="0" bIns="0" rIns="0"/>
            <a:lstStyle/>
            <a:p>
              <a:pPr algn="l">
                <a:lnSpc>
                  <a:spcPts val="6240"/>
                </a:lnSpc>
              </a:pPr>
              <a:r>
                <a:rPr lang="en-US" sz="5200" b="true">
                  <a:solidFill>
                    <a:srgbClr val="FFFFFF"/>
                  </a:solidFill>
                  <a:latin typeface="Calibri (MS) Bold"/>
                  <a:ea typeface="Calibri (MS) Bold"/>
                  <a:cs typeface="Calibri (MS) Bold"/>
                  <a:sym typeface="Calibri (MS) Bold"/>
                </a:rPr>
                <a:t>References</a:t>
              </a:r>
            </a:p>
          </p:txBody>
        </p:sp>
      </p:grpSp>
      <p:grpSp>
        <p:nvGrpSpPr>
          <p:cNvPr name="Group 7" id="7"/>
          <p:cNvGrpSpPr/>
          <p:nvPr/>
        </p:nvGrpSpPr>
        <p:grpSpPr>
          <a:xfrm rot="0">
            <a:off x="16093440" y="0"/>
            <a:ext cx="2011680" cy="1316736"/>
            <a:chOff x="0" y="0"/>
            <a:chExt cx="2682240" cy="1755648"/>
          </a:xfrm>
        </p:grpSpPr>
        <p:sp>
          <p:nvSpPr>
            <p:cNvPr name="Freeform 8" id="8"/>
            <p:cNvSpPr/>
            <p:nvPr/>
          </p:nvSpPr>
          <p:spPr>
            <a:xfrm flipH="false" flipV="false" rot="0">
              <a:off x="0" y="0"/>
              <a:ext cx="2682240" cy="1755648"/>
            </a:xfrm>
            <a:custGeom>
              <a:avLst/>
              <a:gdLst/>
              <a:ahLst/>
              <a:cxnLst/>
              <a:rect r="r" b="b" t="t" l="l"/>
              <a:pathLst>
                <a:path h="1755648" w="2682240">
                  <a:moveTo>
                    <a:pt x="0" y="0"/>
                  </a:moveTo>
                  <a:lnTo>
                    <a:pt x="2682240" y="0"/>
                  </a:lnTo>
                  <a:lnTo>
                    <a:pt x="2682240" y="1755648"/>
                  </a:lnTo>
                  <a:lnTo>
                    <a:pt x="0" y="1755648"/>
                  </a:lnTo>
                  <a:close/>
                </a:path>
              </a:pathLst>
            </a:custGeom>
            <a:blipFill>
              <a:blip r:embed="rId3">
                <a:alphaModFix amt="0"/>
              </a:blip>
              <a:stretch>
                <a:fillRect l="-33980" t="0" r="-33980" b="0"/>
              </a:stretch>
            </a:blipFill>
          </p:spPr>
        </p:sp>
        <p:sp>
          <p:nvSpPr>
            <p:cNvPr name="TextBox 9" id="9"/>
            <p:cNvSpPr txBox="true"/>
            <p:nvPr/>
          </p:nvSpPr>
          <p:spPr>
            <a:xfrm>
              <a:off x="0" y="-38100"/>
              <a:ext cx="2682240" cy="1793748"/>
            </a:xfrm>
            <a:prstGeom prst="rect">
              <a:avLst/>
            </a:prstGeom>
          </p:spPr>
          <p:txBody>
            <a:bodyPr anchor="ctr" rtlCol="false" tIns="0" lIns="0" bIns="0" rIns="0"/>
            <a:lstStyle/>
            <a:p>
              <a:pPr algn="r">
                <a:lnSpc>
                  <a:spcPts val="2400"/>
                </a:lnSpc>
              </a:pPr>
              <a:r>
                <a:rPr lang="en-US" sz="2000">
                  <a:solidFill>
                    <a:srgbClr val="8A96A8"/>
                  </a:solidFill>
                  <a:latin typeface="Calibri (MS)"/>
                  <a:ea typeface="Calibri (MS)"/>
                  <a:cs typeface="Calibri (MS)"/>
                  <a:sym typeface="Calibri (MS)"/>
                </a:rPr>
                <a:t>7</a:t>
              </a:r>
              <a:r>
                <a:rPr lang="en-US" sz="2000">
                  <a:solidFill>
                    <a:srgbClr val="8A96A8"/>
                  </a:solidFill>
                  <a:latin typeface="Calibri (MS)"/>
                  <a:ea typeface="Calibri (MS)"/>
                  <a:cs typeface="Calibri (MS)"/>
                  <a:sym typeface="Calibri (MS)"/>
                </a:rPr>
                <a:t> / 8</a:t>
              </a:r>
            </a:p>
          </p:txBody>
        </p:sp>
      </p:grpSp>
      <p:grpSp>
        <p:nvGrpSpPr>
          <p:cNvPr name="Group 10" id="10"/>
          <p:cNvGrpSpPr/>
          <p:nvPr/>
        </p:nvGrpSpPr>
        <p:grpSpPr>
          <a:xfrm rot="0">
            <a:off x="499367" y="1596647"/>
            <a:ext cx="17289275" cy="2512571"/>
            <a:chOff x="0" y="0"/>
            <a:chExt cx="23052367" cy="3350095"/>
          </a:xfrm>
        </p:grpSpPr>
        <p:sp>
          <p:nvSpPr>
            <p:cNvPr name="Freeform 11" id="11"/>
            <p:cNvSpPr/>
            <p:nvPr/>
          </p:nvSpPr>
          <p:spPr>
            <a:xfrm flipH="false" flipV="false" rot="0">
              <a:off x="0" y="0"/>
              <a:ext cx="23052405" cy="3350133"/>
            </a:xfrm>
            <a:custGeom>
              <a:avLst/>
              <a:gdLst/>
              <a:ahLst/>
              <a:cxnLst/>
              <a:rect r="r" b="b" t="t" l="l"/>
              <a:pathLst>
                <a:path h="3350133" w="23052405">
                  <a:moveTo>
                    <a:pt x="0" y="0"/>
                  </a:moveTo>
                  <a:lnTo>
                    <a:pt x="23052405" y="0"/>
                  </a:lnTo>
                  <a:lnTo>
                    <a:pt x="23052405" y="3350133"/>
                  </a:lnTo>
                  <a:lnTo>
                    <a:pt x="0" y="3350133"/>
                  </a:lnTo>
                  <a:close/>
                </a:path>
              </a:pathLst>
            </a:custGeom>
            <a:solidFill>
              <a:srgbClr val="EEF4FF"/>
            </a:solidFill>
            <a:ln w="25400" cap="sq">
              <a:solidFill>
                <a:srgbClr val="E0E6EF"/>
              </a:solidFill>
              <a:prstDash val="solid"/>
              <a:miter/>
            </a:ln>
          </p:spPr>
        </p:sp>
      </p:grpSp>
      <p:grpSp>
        <p:nvGrpSpPr>
          <p:cNvPr name="Group 12" id="12"/>
          <p:cNvGrpSpPr/>
          <p:nvPr/>
        </p:nvGrpSpPr>
        <p:grpSpPr>
          <a:xfrm rot="0">
            <a:off x="499367" y="1596647"/>
            <a:ext cx="153419" cy="2512571"/>
            <a:chOff x="0" y="0"/>
            <a:chExt cx="204559" cy="3350095"/>
          </a:xfrm>
        </p:grpSpPr>
        <p:sp>
          <p:nvSpPr>
            <p:cNvPr name="Freeform 13" id="13"/>
            <p:cNvSpPr/>
            <p:nvPr/>
          </p:nvSpPr>
          <p:spPr>
            <a:xfrm flipH="false" flipV="false" rot="0">
              <a:off x="0" y="0"/>
              <a:ext cx="204597" cy="3350133"/>
            </a:xfrm>
            <a:custGeom>
              <a:avLst/>
              <a:gdLst/>
              <a:ahLst/>
              <a:cxnLst/>
              <a:rect r="r" b="b" t="t" l="l"/>
              <a:pathLst>
                <a:path h="3350133" w="204597">
                  <a:moveTo>
                    <a:pt x="0" y="0"/>
                  </a:moveTo>
                  <a:lnTo>
                    <a:pt x="204597" y="0"/>
                  </a:lnTo>
                  <a:lnTo>
                    <a:pt x="204597" y="3350133"/>
                  </a:lnTo>
                  <a:lnTo>
                    <a:pt x="0" y="3350133"/>
                  </a:lnTo>
                  <a:close/>
                </a:path>
              </a:pathLst>
            </a:custGeom>
            <a:solidFill>
              <a:srgbClr val="2E75B6"/>
            </a:solidFill>
            <a:ln w="25400" cap="sq">
              <a:solidFill>
                <a:srgbClr val="2E75B6"/>
              </a:solidFill>
              <a:prstDash val="solid"/>
              <a:miter/>
            </a:ln>
          </p:spPr>
        </p:sp>
      </p:grpSp>
      <p:grpSp>
        <p:nvGrpSpPr>
          <p:cNvPr name="Group 14" id="14"/>
          <p:cNvGrpSpPr/>
          <p:nvPr/>
        </p:nvGrpSpPr>
        <p:grpSpPr>
          <a:xfrm rot="0">
            <a:off x="627383" y="1596647"/>
            <a:ext cx="1086107" cy="2512571"/>
            <a:chOff x="0" y="0"/>
            <a:chExt cx="1448143" cy="3350095"/>
          </a:xfrm>
        </p:grpSpPr>
        <p:sp>
          <p:nvSpPr>
            <p:cNvPr name="Freeform 15" id="15"/>
            <p:cNvSpPr/>
            <p:nvPr/>
          </p:nvSpPr>
          <p:spPr>
            <a:xfrm flipH="false" flipV="false" rot="0">
              <a:off x="0" y="0"/>
              <a:ext cx="1448181" cy="3350133"/>
            </a:xfrm>
            <a:custGeom>
              <a:avLst/>
              <a:gdLst/>
              <a:ahLst/>
              <a:cxnLst/>
              <a:rect r="r" b="b" t="t" l="l"/>
              <a:pathLst>
                <a:path h="3350133" w="1448181">
                  <a:moveTo>
                    <a:pt x="0" y="0"/>
                  </a:moveTo>
                  <a:lnTo>
                    <a:pt x="1448181" y="0"/>
                  </a:lnTo>
                  <a:lnTo>
                    <a:pt x="1448181" y="3350133"/>
                  </a:lnTo>
                  <a:lnTo>
                    <a:pt x="0" y="3350133"/>
                  </a:lnTo>
                  <a:close/>
                </a:path>
              </a:pathLst>
            </a:custGeom>
            <a:solidFill>
              <a:srgbClr val="2E75B6"/>
            </a:solidFill>
            <a:ln w="25400" cap="sq">
              <a:solidFill>
                <a:srgbClr val="2E75B6"/>
              </a:solidFill>
              <a:prstDash val="solid"/>
              <a:miter/>
            </a:ln>
          </p:spPr>
        </p:sp>
      </p:grpSp>
      <p:grpSp>
        <p:nvGrpSpPr>
          <p:cNvPr name="Group 16" id="16"/>
          <p:cNvGrpSpPr/>
          <p:nvPr/>
        </p:nvGrpSpPr>
        <p:grpSpPr>
          <a:xfrm rot="0">
            <a:off x="640080" y="1609344"/>
            <a:ext cx="1060704" cy="2487168"/>
            <a:chOff x="0" y="0"/>
            <a:chExt cx="1414272" cy="3316224"/>
          </a:xfrm>
        </p:grpSpPr>
        <p:sp>
          <p:nvSpPr>
            <p:cNvPr name="Freeform 17" id="17"/>
            <p:cNvSpPr/>
            <p:nvPr/>
          </p:nvSpPr>
          <p:spPr>
            <a:xfrm flipH="false" flipV="false" rot="0">
              <a:off x="0" y="0"/>
              <a:ext cx="1414272" cy="3316224"/>
            </a:xfrm>
            <a:custGeom>
              <a:avLst/>
              <a:gdLst/>
              <a:ahLst/>
              <a:cxnLst/>
              <a:rect r="r" b="b" t="t" l="l"/>
              <a:pathLst>
                <a:path h="3316224" w="1414272">
                  <a:moveTo>
                    <a:pt x="0" y="0"/>
                  </a:moveTo>
                  <a:lnTo>
                    <a:pt x="1414272" y="0"/>
                  </a:lnTo>
                  <a:lnTo>
                    <a:pt x="1414272" y="3316224"/>
                  </a:lnTo>
                  <a:lnTo>
                    <a:pt x="0" y="3316224"/>
                  </a:lnTo>
                  <a:close/>
                </a:path>
              </a:pathLst>
            </a:custGeom>
            <a:blipFill>
              <a:blip r:embed="rId3">
                <a:alphaModFix amt="0"/>
              </a:blip>
              <a:stretch>
                <a:fillRect l="-250849" t="0" r="-250849" b="0"/>
              </a:stretch>
            </a:blipFill>
          </p:spPr>
        </p:sp>
        <p:sp>
          <p:nvSpPr>
            <p:cNvPr name="TextBox 18" id="18"/>
            <p:cNvSpPr txBox="true"/>
            <p:nvPr/>
          </p:nvSpPr>
          <p:spPr>
            <a:xfrm>
              <a:off x="0" y="-57150"/>
              <a:ext cx="1414272" cy="3373374"/>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[1]</a:t>
              </a:r>
            </a:p>
          </p:txBody>
        </p:sp>
      </p:grpSp>
      <p:grpSp>
        <p:nvGrpSpPr>
          <p:cNvPr name="Group 19" id="19"/>
          <p:cNvGrpSpPr/>
          <p:nvPr/>
        </p:nvGrpSpPr>
        <p:grpSpPr>
          <a:xfrm rot="0">
            <a:off x="16263623" y="1779527"/>
            <a:ext cx="1378715" cy="537467"/>
            <a:chOff x="0" y="0"/>
            <a:chExt cx="1838287" cy="716623"/>
          </a:xfrm>
        </p:grpSpPr>
        <p:sp>
          <p:nvSpPr>
            <p:cNvPr name="Freeform 20" id="20"/>
            <p:cNvSpPr/>
            <p:nvPr/>
          </p:nvSpPr>
          <p:spPr>
            <a:xfrm flipH="false" flipV="false" rot="0">
              <a:off x="0" y="0"/>
              <a:ext cx="1838325" cy="716661"/>
            </a:xfrm>
            <a:custGeom>
              <a:avLst/>
              <a:gdLst/>
              <a:ahLst/>
              <a:cxnLst/>
              <a:rect r="r" b="b" t="t" l="l"/>
              <a:pathLst>
                <a:path h="716661" w="1838325">
                  <a:moveTo>
                    <a:pt x="0" y="0"/>
                  </a:moveTo>
                  <a:lnTo>
                    <a:pt x="1838325" y="0"/>
                  </a:lnTo>
                  <a:lnTo>
                    <a:pt x="1838325" y="716661"/>
                  </a:lnTo>
                  <a:lnTo>
                    <a:pt x="0" y="716661"/>
                  </a:lnTo>
                  <a:close/>
                </a:path>
              </a:pathLst>
            </a:custGeom>
            <a:solidFill>
              <a:srgbClr val="2E75B6"/>
            </a:solidFill>
            <a:ln w="25400" cap="sq">
              <a:solidFill>
                <a:srgbClr val="2E75B6"/>
              </a:solidFill>
              <a:prstDash val="solid"/>
              <a:miter/>
            </a:ln>
          </p:spPr>
        </p:sp>
      </p:grpSp>
      <p:grpSp>
        <p:nvGrpSpPr>
          <p:cNvPr name="Group 21" id="21"/>
          <p:cNvGrpSpPr/>
          <p:nvPr/>
        </p:nvGrpSpPr>
        <p:grpSpPr>
          <a:xfrm rot="0">
            <a:off x="16276320" y="1792224"/>
            <a:ext cx="1353312" cy="512064"/>
            <a:chOff x="0" y="0"/>
            <a:chExt cx="1804416" cy="682752"/>
          </a:xfrm>
        </p:grpSpPr>
        <p:sp>
          <p:nvSpPr>
            <p:cNvPr name="Freeform 22" id="22"/>
            <p:cNvSpPr/>
            <p:nvPr/>
          </p:nvSpPr>
          <p:spPr>
            <a:xfrm flipH="false" flipV="false" rot="0">
              <a:off x="0" y="0"/>
              <a:ext cx="1804416" cy="682752"/>
            </a:xfrm>
            <a:custGeom>
              <a:avLst/>
              <a:gdLst/>
              <a:ahLst/>
              <a:cxnLst/>
              <a:rect r="r" b="b" t="t" l="l"/>
              <a:pathLst>
                <a:path h="682752" w="1804416">
                  <a:moveTo>
                    <a:pt x="0" y="0"/>
                  </a:moveTo>
                  <a:lnTo>
                    <a:pt x="1804416" y="0"/>
                  </a:lnTo>
                  <a:lnTo>
                    <a:pt x="1804416" y="682752"/>
                  </a:lnTo>
                  <a:lnTo>
                    <a:pt x="0" y="682752"/>
                  </a:lnTo>
                  <a:close/>
                </a:path>
              </a:pathLst>
            </a:custGeom>
            <a:blipFill>
              <a:blip r:embed="rId3">
                <a:alphaModFix amt="0"/>
              </a:blip>
              <a:stretch>
                <a:fillRect l="0" t="-1496" r="0" b="-1496"/>
              </a:stretch>
            </a:blipFill>
          </p:spPr>
        </p:sp>
        <p:sp>
          <p:nvSpPr>
            <p:cNvPr name="TextBox 23" id="23"/>
            <p:cNvSpPr txBox="true"/>
            <p:nvPr/>
          </p:nvSpPr>
          <p:spPr>
            <a:xfrm>
              <a:off x="0" y="-38100"/>
              <a:ext cx="1804416"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EASE 2025</a:t>
              </a:r>
            </a:p>
          </p:txBody>
        </p:sp>
      </p:grpSp>
      <p:grpSp>
        <p:nvGrpSpPr>
          <p:cNvPr name="Group 24" id="24"/>
          <p:cNvGrpSpPr/>
          <p:nvPr/>
        </p:nvGrpSpPr>
        <p:grpSpPr>
          <a:xfrm rot="0">
            <a:off x="1938528" y="1737360"/>
            <a:ext cx="14081760" cy="585216"/>
            <a:chOff x="0" y="0"/>
            <a:chExt cx="18775680" cy="780288"/>
          </a:xfrm>
        </p:grpSpPr>
        <p:sp>
          <p:nvSpPr>
            <p:cNvPr name="Freeform 25" id="25"/>
            <p:cNvSpPr/>
            <p:nvPr/>
          </p:nvSpPr>
          <p:spPr>
            <a:xfrm flipH="false" flipV="false" rot="0">
              <a:off x="0" y="0"/>
              <a:ext cx="18775680" cy="780288"/>
            </a:xfrm>
            <a:custGeom>
              <a:avLst/>
              <a:gdLst/>
              <a:ahLst/>
              <a:cxnLst/>
              <a:rect r="r" b="b" t="t" l="l"/>
              <a:pathLst>
                <a:path h="780288" w="18775680">
                  <a:moveTo>
                    <a:pt x="0" y="0"/>
                  </a:moveTo>
                  <a:lnTo>
                    <a:pt x="18775680" y="0"/>
                  </a:lnTo>
                  <a:lnTo>
                    <a:pt x="18775680" y="780288"/>
                  </a:lnTo>
                  <a:lnTo>
                    <a:pt x="0" y="780288"/>
                  </a:lnTo>
                  <a:close/>
                </a:path>
              </a:pathLst>
            </a:custGeom>
            <a:blipFill>
              <a:blip r:embed="rId3">
                <a:alphaModFix amt="0"/>
              </a:blip>
              <a:stretch>
                <a:fillRect l="0" t="-418858" r="0" b="-418858"/>
              </a:stretch>
            </a:blipFill>
          </p:spPr>
        </p:sp>
        <p:sp>
          <p:nvSpPr>
            <p:cNvPr name="TextBox 26" id="26"/>
            <p:cNvSpPr txBox="true"/>
            <p:nvPr/>
          </p:nvSpPr>
          <p:spPr>
            <a:xfrm>
              <a:off x="0" y="-38100"/>
              <a:ext cx="18775680" cy="818388"/>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Toward Automated Test Generation for Dockerfiles Based on Analysis of Docker Image Layers</a:t>
              </a:r>
            </a:p>
          </p:txBody>
        </p:sp>
      </p:grpSp>
      <p:grpSp>
        <p:nvGrpSpPr>
          <p:cNvPr name="Group 27" id="27"/>
          <p:cNvGrpSpPr/>
          <p:nvPr/>
        </p:nvGrpSpPr>
        <p:grpSpPr>
          <a:xfrm rot="0">
            <a:off x="1938528" y="2359152"/>
            <a:ext cx="14081760" cy="402336"/>
            <a:chOff x="0" y="0"/>
            <a:chExt cx="18775680" cy="536448"/>
          </a:xfrm>
        </p:grpSpPr>
        <p:sp>
          <p:nvSpPr>
            <p:cNvPr name="Freeform 28" id="28"/>
            <p:cNvSpPr/>
            <p:nvPr/>
          </p:nvSpPr>
          <p:spPr>
            <a:xfrm flipH="false" flipV="false" rot="0">
              <a:off x="0" y="0"/>
              <a:ext cx="18775680" cy="536448"/>
            </a:xfrm>
            <a:custGeom>
              <a:avLst/>
              <a:gdLst/>
              <a:ahLst/>
              <a:cxnLst/>
              <a:rect r="r" b="b" t="t" l="l"/>
              <a:pathLst>
                <a:path h="536448" w="18775680">
                  <a:moveTo>
                    <a:pt x="0" y="0"/>
                  </a:moveTo>
                  <a:lnTo>
                    <a:pt x="18775680" y="0"/>
                  </a:lnTo>
                  <a:lnTo>
                    <a:pt x="18775680" y="536448"/>
                  </a:lnTo>
                  <a:lnTo>
                    <a:pt x="0" y="536448"/>
                  </a:lnTo>
                  <a:close/>
                </a:path>
              </a:pathLst>
            </a:custGeom>
            <a:blipFill>
              <a:blip r:embed="rId3">
                <a:alphaModFix amt="0"/>
              </a:blip>
              <a:stretch>
                <a:fillRect l="0" t="-631976" r="0" b="-631976"/>
              </a:stretch>
            </a:blipFill>
          </p:spPr>
        </p:sp>
        <p:sp>
          <p:nvSpPr>
            <p:cNvPr name="TextBox 29" id="29"/>
            <p:cNvSpPr txBox="true"/>
            <p:nvPr/>
          </p:nvSpPr>
          <p:spPr>
            <a:xfrm>
              <a:off x="0" y="-38100"/>
              <a:ext cx="18775680" cy="574548"/>
            </a:xfrm>
            <a:prstGeom prst="rect">
              <a:avLst/>
            </a:prstGeom>
          </p:spPr>
          <p:txBody>
            <a:bodyPr anchor="ctr" rtlCol="false" tIns="0" lIns="0" bIns="0" rIns="0"/>
            <a:lstStyle/>
            <a:p>
              <a:pPr algn="l">
                <a:lnSpc>
                  <a:spcPts val="2400"/>
                </a:lnSpc>
              </a:pPr>
              <a:r>
                <a:rPr lang="en-US" sz="2000" i="true">
                  <a:solidFill>
                    <a:srgbClr val="2E75B6"/>
                  </a:solidFill>
                  <a:latin typeface="Calibri (MS) Italics"/>
                  <a:ea typeface="Calibri (MS) Italics"/>
                  <a:cs typeface="Calibri (MS) Italics"/>
                  <a:sym typeface="Calibri (MS) Italics"/>
                </a:rPr>
                <a:t>Yuki Goto, Shinsuke Matsumoto, Shinji Kusumoto</a:t>
              </a:r>
            </a:p>
          </p:txBody>
        </p:sp>
      </p:grpSp>
      <p:grpSp>
        <p:nvGrpSpPr>
          <p:cNvPr name="Group 30" id="30"/>
          <p:cNvGrpSpPr/>
          <p:nvPr/>
        </p:nvGrpSpPr>
        <p:grpSpPr>
          <a:xfrm rot="0">
            <a:off x="1938528" y="3171063"/>
            <a:ext cx="14081760" cy="402336"/>
            <a:chOff x="0" y="0"/>
            <a:chExt cx="18775680" cy="536448"/>
          </a:xfrm>
        </p:grpSpPr>
        <p:sp>
          <p:nvSpPr>
            <p:cNvPr name="Freeform 31" id="31"/>
            <p:cNvSpPr/>
            <p:nvPr/>
          </p:nvSpPr>
          <p:spPr>
            <a:xfrm flipH="false" flipV="false" rot="0">
              <a:off x="0" y="0"/>
              <a:ext cx="18775680" cy="536448"/>
            </a:xfrm>
            <a:custGeom>
              <a:avLst/>
              <a:gdLst/>
              <a:ahLst/>
              <a:cxnLst/>
              <a:rect r="r" b="b" t="t" l="l"/>
              <a:pathLst>
                <a:path h="536448" w="18775680">
                  <a:moveTo>
                    <a:pt x="0" y="0"/>
                  </a:moveTo>
                  <a:lnTo>
                    <a:pt x="18775680" y="0"/>
                  </a:lnTo>
                  <a:lnTo>
                    <a:pt x="18775680" y="536448"/>
                  </a:lnTo>
                  <a:lnTo>
                    <a:pt x="0" y="536448"/>
                  </a:lnTo>
                  <a:close/>
                </a:path>
              </a:pathLst>
            </a:custGeom>
            <a:blipFill>
              <a:blip r:embed="rId3">
                <a:alphaModFix amt="0"/>
              </a:blip>
              <a:stretch>
                <a:fillRect l="0" t="-631976" r="0" b="-631976"/>
              </a:stretch>
            </a:blipFill>
          </p:spPr>
        </p:sp>
        <p:sp>
          <p:nvSpPr>
            <p:cNvPr name="TextBox 32" id="32"/>
            <p:cNvSpPr txBox="true"/>
            <p:nvPr/>
          </p:nvSpPr>
          <p:spPr>
            <a:xfrm>
              <a:off x="0" y="-38100"/>
              <a:ext cx="18775680" cy="574548"/>
            </a:xfrm>
            <a:prstGeom prst="rect">
              <a:avLst/>
            </a:prstGeom>
          </p:spPr>
          <p:txBody>
            <a:bodyPr anchor="ctr" rtlCol="false" tIns="0" lIns="0" bIns="0" rIns="0"/>
            <a:lstStyle/>
            <a:p>
              <a:pPr algn="l">
                <a:lnSpc>
                  <a:spcPts val="2280"/>
                </a:lnSpc>
              </a:pPr>
              <a:r>
                <a:rPr lang="en-US" sz="1900">
                  <a:solidFill>
                    <a:srgbClr val="555555"/>
                  </a:solidFill>
                  <a:latin typeface="Calibri (MS)"/>
                  <a:ea typeface="Calibri (MS)"/>
                  <a:cs typeface="Calibri (MS)"/>
                  <a:sym typeface="Calibri (MS)"/>
                </a:rPr>
                <a:t>Evaluation and Assessment in Software Engineering (EASE '25), June 17–20, 2025, Istanbul, Turkey. ACM.</a:t>
              </a:r>
            </a:p>
          </p:txBody>
        </p:sp>
      </p:grpSp>
      <p:grpSp>
        <p:nvGrpSpPr>
          <p:cNvPr name="Group 33" id="33"/>
          <p:cNvGrpSpPr/>
          <p:nvPr/>
        </p:nvGrpSpPr>
        <p:grpSpPr>
          <a:xfrm rot="0">
            <a:off x="499367" y="4376423"/>
            <a:ext cx="17289275" cy="2512571"/>
            <a:chOff x="0" y="0"/>
            <a:chExt cx="23052367" cy="3350095"/>
          </a:xfrm>
        </p:grpSpPr>
        <p:sp>
          <p:nvSpPr>
            <p:cNvPr name="Freeform 34" id="34"/>
            <p:cNvSpPr/>
            <p:nvPr/>
          </p:nvSpPr>
          <p:spPr>
            <a:xfrm flipH="false" flipV="false" rot="0">
              <a:off x="0" y="0"/>
              <a:ext cx="23052405" cy="3350133"/>
            </a:xfrm>
            <a:custGeom>
              <a:avLst/>
              <a:gdLst/>
              <a:ahLst/>
              <a:cxnLst/>
              <a:rect r="r" b="b" t="t" l="l"/>
              <a:pathLst>
                <a:path h="3350133" w="23052405">
                  <a:moveTo>
                    <a:pt x="0" y="0"/>
                  </a:moveTo>
                  <a:lnTo>
                    <a:pt x="23052405" y="0"/>
                  </a:lnTo>
                  <a:lnTo>
                    <a:pt x="23052405" y="3350133"/>
                  </a:lnTo>
                  <a:lnTo>
                    <a:pt x="0" y="3350133"/>
                  </a:lnTo>
                  <a:close/>
                </a:path>
              </a:pathLst>
            </a:custGeom>
            <a:solidFill>
              <a:srgbClr val="FFF0EE"/>
            </a:solidFill>
            <a:ln w="25400" cap="sq">
              <a:solidFill>
                <a:srgbClr val="E0E6EF"/>
              </a:solidFill>
              <a:prstDash val="solid"/>
              <a:miter/>
            </a:ln>
          </p:spPr>
        </p:sp>
      </p:grpSp>
      <p:grpSp>
        <p:nvGrpSpPr>
          <p:cNvPr name="Group 35" id="35"/>
          <p:cNvGrpSpPr/>
          <p:nvPr/>
        </p:nvGrpSpPr>
        <p:grpSpPr>
          <a:xfrm rot="0">
            <a:off x="499367" y="4376423"/>
            <a:ext cx="153419" cy="2512571"/>
            <a:chOff x="0" y="0"/>
            <a:chExt cx="204559" cy="3350095"/>
          </a:xfrm>
        </p:grpSpPr>
        <p:sp>
          <p:nvSpPr>
            <p:cNvPr name="Freeform 36" id="36"/>
            <p:cNvSpPr/>
            <p:nvPr/>
          </p:nvSpPr>
          <p:spPr>
            <a:xfrm flipH="false" flipV="false" rot="0">
              <a:off x="0" y="0"/>
              <a:ext cx="204597" cy="3350133"/>
            </a:xfrm>
            <a:custGeom>
              <a:avLst/>
              <a:gdLst/>
              <a:ahLst/>
              <a:cxnLst/>
              <a:rect r="r" b="b" t="t" l="l"/>
              <a:pathLst>
                <a:path h="3350133" w="204597">
                  <a:moveTo>
                    <a:pt x="0" y="0"/>
                  </a:moveTo>
                  <a:lnTo>
                    <a:pt x="204597" y="0"/>
                  </a:lnTo>
                  <a:lnTo>
                    <a:pt x="204597" y="3350133"/>
                  </a:lnTo>
                  <a:lnTo>
                    <a:pt x="0" y="3350133"/>
                  </a:lnTo>
                  <a:close/>
                </a:path>
              </a:pathLst>
            </a:custGeom>
            <a:solidFill>
              <a:srgbClr val="C0392B"/>
            </a:solidFill>
            <a:ln w="25400" cap="sq">
              <a:solidFill>
                <a:srgbClr val="C0392B"/>
              </a:solidFill>
              <a:prstDash val="solid"/>
              <a:miter/>
            </a:ln>
          </p:spPr>
        </p:sp>
      </p:grpSp>
      <p:grpSp>
        <p:nvGrpSpPr>
          <p:cNvPr name="Group 37" id="37"/>
          <p:cNvGrpSpPr/>
          <p:nvPr/>
        </p:nvGrpSpPr>
        <p:grpSpPr>
          <a:xfrm rot="0">
            <a:off x="627383" y="4376423"/>
            <a:ext cx="1086107" cy="2512571"/>
            <a:chOff x="0" y="0"/>
            <a:chExt cx="1448143" cy="3350095"/>
          </a:xfrm>
        </p:grpSpPr>
        <p:sp>
          <p:nvSpPr>
            <p:cNvPr name="Freeform 38" id="38"/>
            <p:cNvSpPr/>
            <p:nvPr/>
          </p:nvSpPr>
          <p:spPr>
            <a:xfrm flipH="false" flipV="false" rot="0">
              <a:off x="0" y="0"/>
              <a:ext cx="1448181" cy="3350133"/>
            </a:xfrm>
            <a:custGeom>
              <a:avLst/>
              <a:gdLst/>
              <a:ahLst/>
              <a:cxnLst/>
              <a:rect r="r" b="b" t="t" l="l"/>
              <a:pathLst>
                <a:path h="3350133" w="1448181">
                  <a:moveTo>
                    <a:pt x="0" y="0"/>
                  </a:moveTo>
                  <a:lnTo>
                    <a:pt x="1448181" y="0"/>
                  </a:lnTo>
                  <a:lnTo>
                    <a:pt x="1448181" y="3350133"/>
                  </a:lnTo>
                  <a:lnTo>
                    <a:pt x="0" y="3350133"/>
                  </a:lnTo>
                  <a:close/>
                </a:path>
              </a:pathLst>
            </a:custGeom>
            <a:solidFill>
              <a:srgbClr val="C0392B"/>
            </a:solidFill>
            <a:ln w="25400" cap="sq">
              <a:solidFill>
                <a:srgbClr val="C0392B"/>
              </a:solidFill>
              <a:prstDash val="solid"/>
              <a:miter/>
            </a:ln>
          </p:spPr>
        </p:sp>
      </p:grpSp>
      <p:grpSp>
        <p:nvGrpSpPr>
          <p:cNvPr name="Group 39" id="39"/>
          <p:cNvGrpSpPr/>
          <p:nvPr/>
        </p:nvGrpSpPr>
        <p:grpSpPr>
          <a:xfrm rot="0">
            <a:off x="640080" y="4389120"/>
            <a:ext cx="1060704" cy="2487168"/>
            <a:chOff x="0" y="0"/>
            <a:chExt cx="1414272" cy="3316224"/>
          </a:xfrm>
        </p:grpSpPr>
        <p:sp>
          <p:nvSpPr>
            <p:cNvPr name="Freeform 40" id="40"/>
            <p:cNvSpPr/>
            <p:nvPr/>
          </p:nvSpPr>
          <p:spPr>
            <a:xfrm flipH="false" flipV="false" rot="0">
              <a:off x="0" y="0"/>
              <a:ext cx="1414272" cy="3316224"/>
            </a:xfrm>
            <a:custGeom>
              <a:avLst/>
              <a:gdLst/>
              <a:ahLst/>
              <a:cxnLst/>
              <a:rect r="r" b="b" t="t" l="l"/>
              <a:pathLst>
                <a:path h="3316224" w="1414272">
                  <a:moveTo>
                    <a:pt x="0" y="0"/>
                  </a:moveTo>
                  <a:lnTo>
                    <a:pt x="1414272" y="0"/>
                  </a:lnTo>
                  <a:lnTo>
                    <a:pt x="1414272" y="3316224"/>
                  </a:lnTo>
                  <a:lnTo>
                    <a:pt x="0" y="3316224"/>
                  </a:lnTo>
                  <a:close/>
                </a:path>
              </a:pathLst>
            </a:custGeom>
            <a:blipFill>
              <a:blip r:embed="rId3">
                <a:alphaModFix amt="0"/>
              </a:blip>
              <a:stretch>
                <a:fillRect l="-250849" t="0" r="-250849" b="0"/>
              </a:stretch>
            </a:blipFill>
          </p:spPr>
        </p:sp>
        <p:sp>
          <p:nvSpPr>
            <p:cNvPr name="TextBox 41" id="41"/>
            <p:cNvSpPr txBox="true"/>
            <p:nvPr/>
          </p:nvSpPr>
          <p:spPr>
            <a:xfrm>
              <a:off x="0" y="-57150"/>
              <a:ext cx="1414272" cy="3373374"/>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[2]</a:t>
              </a:r>
            </a:p>
          </p:txBody>
        </p:sp>
      </p:grpSp>
      <p:grpSp>
        <p:nvGrpSpPr>
          <p:cNvPr name="Group 42" id="42"/>
          <p:cNvGrpSpPr/>
          <p:nvPr/>
        </p:nvGrpSpPr>
        <p:grpSpPr>
          <a:xfrm rot="0">
            <a:off x="16263623" y="4559303"/>
            <a:ext cx="1378715" cy="537467"/>
            <a:chOff x="0" y="0"/>
            <a:chExt cx="1838287" cy="716623"/>
          </a:xfrm>
        </p:grpSpPr>
        <p:sp>
          <p:nvSpPr>
            <p:cNvPr name="Freeform 43" id="43"/>
            <p:cNvSpPr/>
            <p:nvPr/>
          </p:nvSpPr>
          <p:spPr>
            <a:xfrm flipH="false" flipV="false" rot="0">
              <a:off x="0" y="0"/>
              <a:ext cx="1838325" cy="716661"/>
            </a:xfrm>
            <a:custGeom>
              <a:avLst/>
              <a:gdLst/>
              <a:ahLst/>
              <a:cxnLst/>
              <a:rect r="r" b="b" t="t" l="l"/>
              <a:pathLst>
                <a:path h="716661" w="1838325">
                  <a:moveTo>
                    <a:pt x="0" y="0"/>
                  </a:moveTo>
                  <a:lnTo>
                    <a:pt x="1838325" y="0"/>
                  </a:lnTo>
                  <a:lnTo>
                    <a:pt x="1838325" y="716661"/>
                  </a:lnTo>
                  <a:lnTo>
                    <a:pt x="0" y="716661"/>
                  </a:lnTo>
                  <a:close/>
                </a:path>
              </a:pathLst>
            </a:custGeom>
            <a:solidFill>
              <a:srgbClr val="C0392B"/>
            </a:solidFill>
            <a:ln w="25400" cap="sq">
              <a:solidFill>
                <a:srgbClr val="C0392B"/>
              </a:solidFill>
              <a:prstDash val="solid"/>
              <a:miter/>
            </a:ln>
          </p:spPr>
        </p:sp>
      </p:grpSp>
      <p:grpSp>
        <p:nvGrpSpPr>
          <p:cNvPr name="Group 44" id="44"/>
          <p:cNvGrpSpPr/>
          <p:nvPr/>
        </p:nvGrpSpPr>
        <p:grpSpPr>
          <a:xfrm rot="0">
            <a:off x="16276320" y="4572000"/>
            <a:ext cx="1353312" cy="512064"/>
            <a:chOff x="0" y="0"/>
            <a:chExt cx="1804416" cy="682752"/>
          </a:xfrm>
        </p:grpSpPr>
        <p:sp>
          <p:nvSpPr>
            <p:cNvPr name="Freeform 45" id="45"/>
            <p:cNvSpPr/>
            <p:nvPr/>
          </p:nvSpPr>
          <p:spPr>
            <a:xfrm flipH="false" flipV="false" rot="0">
              <a:off x="0" y="0"/>
              <a:ext cx="1804416" cy="682752"/>
            </a:xfrm>
            <a:custGeom>
              <a:avLst/>
              <a:gdLst/>
              <a:ahLst/>
              <a:cxnLst/>
              <a:rect r="r" b="b" t="t" l="l"/>
              <a:pathLst>
                <a:path h="682752" w="1804416">
                  <a:moveTo>
                    <a:pt x="0" y="0"/>
                  </a:moveTo>
                  <a:lnTo>
                    <a:pt x="1804416" y="0"/>
                  </a:lnTo>
                  <a:lnTo>
                    <a:pt x="1804416" y="682752"/>
                  </a:lnTo>
                  <a:lnTo>
                    <a:pt x="0" y="682752"/>
                  </a:lnTo>
                  <a:close/>
                </a:path>
              </a:pathLst>
            </a:custGeom>
            <a:blipFill>
              <a:blip r:embed="rId3">
                <a:alphaModFix amt="0"/>
              </a:blip>
              <a:stretch>
                <a:fillRect l="0" t="-1496" r="0" b="-1496"/>
              </a:stretch>
            </a:blipFill>
          </p:spPr>
        </p:sp>
        <p:sp>
          <p:nvSpPr>
            <p:cNvPr name="TextBox 46" id="46"/>
            <p:cNvSpPr txBox="true"/>
            <p:nvPr/>
          </p:nvSpPr>
          <p:spPr>
            <a:xfrm>
              <a:off x="0" y="-38100"/>
              <a:ext cx="1804416"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ICSE 2025</a:t>
              </a:r>
            </a:p>
          </p:txBody>
        </p:sp>
      </p:grpSp>
      <p:grpSp>
        <p:nvGrpSpPr>
          <p:cNvPr name="Group 47" id="47"/>
          <p:cNvGrpSpPr/>
          <p:nvPr/>
        </p:nvGrpSpPr>
        <p:grpSpPr>
          <a:xfrm rot="0">
            <a:off x="1938528" y="4517136"/>
            <a:ext cx="14081760" cy="585216"/>
            <a:chOff x="0" y="0"/>
            <a:chExt cx="18775680" cy="780288"/>
          </a:xfrm>
        </p:grpSpPr>
        <p:sp>
          <p:nvSpPr>
            <p:cNvPr name="Freeform 48" id="48"/>
            <p:cNvSpPr/>
            <p:nvPr/>
          </p:nvSpPr>
          <p:spPr>
            <a:xfrm flipH="false" flipV="false" rot="0">
              <a:off x="0" y="0"/>
              <a:ext cx="18775680" cy="780288"/>
            </a:xfrm>
            <a:custGeom>
              <a:avLst/>
              <a:gdLst/>
              <a:ahLst/>
              <a:cxnLst/>
              <a:rect r="r" b="b" t="t" l="l"/>
              <a:pathLst>
                <a:path h="780288" w="18775680">
                  <a:moveTo>
                    <a:pt x="0" y="0"/>
                  </a:moveTo>
                  <a:lnTo>
                    <a:pt x="18775680" y="0"/>
                  </a:lnTo>
                  <a:lnTo>
                    <a:pt x="18775680" y="780288"/>
                  </a:lnTo>
                  <a:lnTo>
                    <a:pt x="0" y="780288"/>
                  </a:lnTo>
                  <a:close/>
                </a:path>
              </a:pathLst>
            </a:custGeom>
            <a:blipFill>
              <a:blip r:embed="rId3">
                <a:alphaModFix amt="0"/>
              </a:blip>
              <a:stretch>
                <a:fillRect l="0" t="-418858" r="0" b="-418858"/>
              </a:stretch>
            </a:blipFill>
          </p:spPr>
        </p:sp>
        <p:sp>
          <p:nvSpPr>
            <p:cNvPr name="TextBox 49" id="49"/>
            <p:cNvSpPr txBox="true"/>
            <p:nvPr/>
          </p:nvSpPr>
          <p:spPr>
            <a:xfrm>
              <a:off x="0" y="-38100"/>
              <a:ext cx="18775680" cy="818388"/>
            </a:xfrm>
            <a:prstGeom prst="rect">
              <a:avLst/>
            </a:prstGeom>
          </p:spPr>
          <p:txBody>
            <a:bodyPr anchor="ctr" rtlCol="false" tIns="0" lIns="0" bIns="0" rIns="0"/>
            <a:lstStyle/>
            <a:p>
              <a:pPr algn="l">
                <a:lnSpc>
                  <a:spcPts val="2879"/>
                </a:lnSpc>
              </a:pPr>
              <a:r>
                <a:rPr lang="en-US" sz="2400" b="true">
                  <a:solidFill>
                    <a:srgbClr val="1A1A1A"/>
                  </a:solidFill>
                  <a:latin typeface="Calibri (MS) Bold"/>
                  <a:ea typeface="Calibri (MS) Bold"/>
                  <a:cs typeface="Calibri (MS) Bold"/>
                  <a:sym typeface="Calibri (MS) Bold"/>
                </a:rPr>
                <a:t>Dockerfile Flakiness: Characterization and Repair</a:t>
              </a:r>
            </a:p>
          </p:txBody>
        </p:sp>
      </p:grpSp>
      <p:grpSp>
        <p:nvGrpSpPr>
          <p:cNvPr name="Group 50" id="50"/>
          <p:cNvGrpSpPr/>
          <p:nvPr/>
        </p:nvGrpSpPr>
        <p:grpSpPr>
          <a:xfrm rot="0">
            <a:off x="1938528" y="5138928"/>
            <a:ext cx="14081760" cy="402336"/>
            <a:chOff x="0" y="0"/>
            <a:chExt cx="18775680" cy="536448"/>
          </a:xfrm>
        </p:grpSpPr>
        <p:sp>
          <p:nvSpPr>
            <p:cNvPr name="Freeform 51" id="51"/>
            <p:cNvSpPr/>
            <p:nvPr/>
          </p:nvSpPr>
          <p:spPr>
            <a:xfrm flipH="false" flipV="false" rot="0">
              <a:off x="0" y="0"/>
              <a:ext cx="18775680" cy="536448"/>
            </a:xfrm>
            <a:custGeom>
              <a:avLst/>
              <a:gdLst/>
              <a:ahLst/>
              <a:cxnLst/>
              <a:rect r="r" b="b" t="t" l="l"/>
              <a:pathLst>
                <a:path h="536448" w="18775680">
                  <a:moveTo>
                    <a:pt x="0" y="0"/>
                  </a:moveTo>
                  <a:lnTo>
                    <a:pt x="18775680" y="0"/>
                  </a:lnTo>
                  <a:lnTo>
                    <a:pt x="18775680" y="536448"/>
                  </a:lnTo>
                  <a:lnTo>
                    <a:pt x="0" y="536448"/>
                  </a:lnTo>
                  <a:close/>
                </a:path>
              </a:pathLst>
            </a:custGeom>
            <a:blipFill>
              <a:blip r:embed="rId3">
                <a:alphaModFix amt="0"/>
              </a:blip>
              <a:stretch>
                <a:fillRect l="0" t="-631976" r="0" b="-631976"/>
              </a:stretch>
            </a:blipFill>
          </p:spPr>
        </p:sp>
        <p:sp>
          <p:nvSpPr>
            <p:cNvPr name="TextBox 52" id="52"/>
            <p:cNvSpPr txBox="true"/>
            <p:nvPr/>
          </p:nvSpPr>
          <p:spPr>
            <a:xfrm>
              <a:off x="0" y="-38100"/>
              <a:ext cx="18775680" cy="574548"/>
            </a:xfrm>
            <a:prstGeom prst="rect">
              <a:avLst/>
            </a:prstGeom>
          </p:spPr>
          <p:txBody>
            <a:bodyPr anchor="ctr" rtlCol="false" tIns="0" lIns="0" bIns="0" rIns="0"/>
            <a:lstStyle/>
            <a:p>
              <a:pPr algn="l">
                <a:lnSpc>
                  <a:spcPts val="2400"/>
                </a:lnSpc>
              </a:pPr>
              <a:r>
                <a:rPr lang="en-US" sz="2000" i="true">
                  <a:solidFill>
                    <a:srgbClr val="C0392B"/>
                  </a:solidFill>
                  <a:latin typeface="Calibri (MS) Italics"/>
                  <a:ea typeface="Calibri (MS) Italics"/>
                  <a:cs typeface="Calibri (MS) Italics"/>
                  <a:sym typeface="Calibri (MS) Italics"/>
                </a:rPr>
                <a:t>Taha Shabani, Noor Nashid, Parsa Alian, Ali Mesbah</a:t>
              </a:r>
            </a:p>
          </p:txBody>
        </p:sp>
      </p:grpSp>
      <p:grpSp>
        <p:nvGrpSpPr>
          <p:cNvPr name="Group 53" id="53"/>
          <p:cNvGrpSpPr/>
          <p:nvPr/>
        </p:nvGrpSpPr>
        <p:grpSpPr>
          <a:xfrm rot="0">
            <a:off x="1938528" y="5817489"/>
            <a:ext cx="14081760" cy="402336"/>
            <a:chOff x="0" y="0"/>
            <a:chExt cx="18775680" cy="536448"/>
          </a:xfrm>
        </p:grpSpPr>
        <p:sp>
          <p:nvSpPr>
            <p:cNvPr name="Freeform 54" id="54"/>
            <p:cNvSpPr/>
            <p:nvPr/>
          </p:nvSpPr>
          <p:spPr>
            <a:xfrm flipH="false" flipV="false" rot="0">
              <a:off x="0" y="0"/>
              <a:ext cx="18775680" cy="536448"/>
            </a:xfrm>
            <a:custGeom>
              <a:avLst/>
              <a:gdLst/>
              <a:ahLst/>
              <a:cxnLst/>
              <a:rect r="r" b="b" t="t" l="l"/>
              <a:pathLst>
                <a:path h="536448" w="18775680">
                  <a:moveTo>
                    <a:pt x="0" y="0"/>
                  </a:moveTo>
                  <a:lnTo>
                    <a:pt x="18775680" y="0"/>
                  </a:lnTo>
                  <a:lnTo>
                    <a:pt x="18775680" y="536448"/>
                  </a:lnTo>
                  <a:lnTo>
                    <a:pt x="0" y="536448"/>
                  </a:lnTo>
                  <a:close/>
                </a:path>
              </a:pathLst>
            </a:custGeom>
            <a:blipFill>
              <a:blip r:embed="rId3">
                <a:alphaModFix amt="0"/>
              </a:blip>
              <a:stretch>
                <a:fillRect l="0" t="-631976" r="0" b="-631976"/>
              </a:stretch>
            </a:blipFill>
          </p:spPr>
        </p:sp>
        <p:sp>
          <p:nvSpPr>
            <p:cNvPr name="TextBox 55" id="55"/>
            <p:cNvSpPr txBox="true"/>
            <p:nvPr/>
          </p:nvSpPr>
          <p:spPr>
            <a:xfrm>
              <a:off x="0" y="-38100"/>
              <a:ext cx="18775680" cy="574548"/>
            </a:xfrm>
            <a:prstGeom prst="rect">
              <a:avLst/>
            </a:prstGeom>
          </p:spPr>
          <p:txBody>
            <a:bodyPr anchor="ctr" rtlCol="false" tIns="0" lIns="0" bIns="0" rIns="0"/>
            <a:lstStyle/>
            <a:p>
              <a:pPr algn="l">
                <a:lnSpc>
                  <a:spcPts val="2280"/>
                </a:lnSpc>
              </a:pPr>
              <a:r>
                <a:rPr lang="en-US" sz="1900">
                  <a:solidFill>
                    <a:srgbClr val="555555"/>
                  </a:solidFill>
                  <a:latin typeface="Calibri (MS)"/>
                  <a:ea typeface="Calibri (MS)"/>
                  <a:cs typeface="Calibri (MS)"/>
                  <a:sym typeface="Calibri (MS)"/>
                </a:rPr>
                <a:t>IEEE/ACM International Conference on Software Engineering (ICSE), 2025. FLAKIDOCK.</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53419" cy="10312403"/>
            <a:chOff x="0" y="0"/>
            <a:chExt cx="204559" cy="13749871"/>
          </a:xfrm>
        </p:grpSpPr>
        <p:sp>
          <p:nvSpPr>
            <p:cNvPr name="Freeform 3" id="3"/>
            <p:cNvSpPr/>
            <p:nvPr/>
          </p:nvSpPr>
          <p:spPr>
            <a:xfrm flipH="false" flipV="false" rot="0">
              <a:off x="0" y="0"/>
              <a:ext cx="204597" cy="13749910"/>
            </a:xfrm>
            <a:custGeom>
              <a:avLst/>
              <a:gdLst/>
              <a:ahLst/>
              <a:cxnLst/>
              <a:rect r="r" b="b" t="t" l="l"/>
              <a:pathLst>
                <a:path h="13749910" w="204597">
                  <a:moveTo>
                    <a:pt x="0" y="0"/>
                  </a:moveTo>
                  <a:lnTo>
                    <a:pt x="204597" y="0"/>
                  </a:lnTo>
                  <a:lnTo>
                    <a:pt x="204597" y="13749910"/>
                  </a:lnTo>
                  <a:lnTo>
                    <a:pt x="0" y="13749910"/>
                  </a:lnTo>
                  <a:close/>
                </a:path>
              </a:pathLst>
            </a:custGeom>
            <a:solidFill>
              <a:srgbClr val="1F48FF"/>
            </a:solidFill>
            <a:ln w="25400" cap="sq">
              <a:solidFill>
                <a:srgbClr val="0464E0"/>
              </a:solidFill>
              <a:prstDash val="solid"/>
              <a:miter/>
            </a:ln>
          </p:spPr>
        </p:sp>
      </p:grpSp>
      <p:grpSp>
        <p:nvGrpSpPr>
          <p:cNvPr name="Group 4" id="4"/>
          <p:cNvGrpSpPr/>
          <p:nvPr/>
        </p:nvGrpSpPr>
        <p:grpSpPr>
          <a:xfrm rot="0">
            <a:off x="11874503" y="-12697"/>
            <a:ext cx="6426203" cy="10312403"/>
            <a:chOff x="0" y="0"/>
            <a:chExt cx="8568271" cy="13749871"/>
          </a:xfrm>
        </p:grpSpPr>
        <p:sp>
          <p:nvSpPr>
            <p:cNvPr name="Freeform 5" id="5"/>
            <p:cNvSpPr/>
            <p:nvPr/>
          </p:nvSpPr>
          <p:spPr>
            <a:xfrm flipH="false" flipV="false" rot="0">
              <a:off x="0" y="0"/>
              <a:ext cx="8568309" cy="13749910"/>
            </a:xfrm>
            <a:custGeom>
              <a:avLst/>
              <a:gdLst/>
              <a:ahLst/>
              <a:cxnLst/>
              <a:rect r="r" b="b" t="t" l="l"/>
              <a:pathLst>
                <a:path h="13749910" w="8568309">
                  <a:moveTo>
                    <a:pt x="0" y="0"/>
                  </a:moveTo>
                  <a:lnTo>
                    <a:pt x="8568309" y="0"/>
                  </a:lnTo>
                  <a:lnTo>
                    <a:pt x="8568309" y="13749910"/>
                  </a:lnTo>
                  <a:lnTo>
                    <a:pt x="0" y="13749910"/>
                  </a:lnTo>
                  <a:close/>
                </a:path>
              </a:pathLst>
            </a:custGeom>
            <a:solidFill>
              <a:srgbClr val="0A1520"/>
            </a:solidFill>
            <a:ln w="25400" cap="sq">
              <a:solidFill>
                <a:srgbClr val="0A1520"/>
              </a:solidFill>
              <a:prstDash val="solid"/>
              <a:miter/>
            </a:ln>
          </p:spPr>
        </p:sp>
      </p:grpSp>
      <p:grpSp>
        <p:nvGrpSpPr>
          <p:cNvPr name="Group 6" id="6"/>
          <p:cNvGrpSpPr/>
          <p:nvPr/>
        </p:nvGrpSpPr>
        <p:grpSpPr>
          <a:xfrm rot="0">
            <a:off x="11932286" y="2011680"/>
            <a:ext cx="6310639" cy="6310639"/>
            <a:chOff x="0" y="0"/>
            <a:chExt cx="4389120" cy="4389120"/>
          </a:xfrm>
        </p:grpSpPr>
        <p:sp>
          <p:nvSpPr>
            <p:cNvPr name="Freeform 7" id="7"/>
            <p:cNvSpPr/>
            <p:nvPr/>
          </p:nvSpPr>
          <p:spPr>
            <a:xfrm flipH="false" flipV="false" rot="0">
              <a:off x="0" y="0"/>
              <a:ext cx="4389120" cy="4389120"/>
            </a:xfrm>
            <a:custGeom>
              <a:avLst/>
              <a:gdLst/>
              <a:ahLst/>
              <a:cxnLst/>
              <a:rect r="r" b="b" t="t" l="l"/>
              <a:pathLst>
                <a:path h="4389120" w="4389120">
                  <a:moveTo>
                    <a:pt x="0" y="0"/>
                  </a:moveTo>
                  <a:lnTo>
                    <a:pt x="4389120" y="0"/>
                  </a:lnTo>
                  <a:lnTo>
                    <a:pt x="4389120" y="4389120"/>
                  </a:lnTo>
                  <a:lnTo>
                    <a:pt x="0" y="4389120"/>
                  </a:lnTo>
                  <a:lnTo>
                    <a:pt x="0" y="0"/>
                  </a:lnTo>
                  <a:close/>
                </a:path>
              </a:pathLst>
            </a:custGeom>
            <a:blipFill>
              <a:blip r:embed="rId3"/>
              <a:stretch>
                <a:fillRect l="0" t="0" r="0" b="0"/>
              </a:stretch>
            </a:blipFill>
          </p:spPr>
        </p:sp>
      </p:grpSp>
      <p:grpSp>
        <p:nvGrpSpPr>
          <p:cNvPr name="Group 8" id="8"/>
          <p:cNvGrpSpPr/>
          <p:nvPr/>
        </p:nvGrpSpPr>
        <p:grpSpPr>
          <a:xfrm rot="0">
            <a:off x="901703" y="3908050"/>
            <a:ext cx="10424160" cy="1645920"/>
            <a:chOff x="0" y="0"/>
            <a:chExt cx="13898880" cy="2194560"/>
          </a:xfrm>
        </p:grpSpPr>
        <p:sp>
          <p:nvSpPr>
            <p:cNvPr name="Freeform 9" id="9"/>
            <p:cNvSpPr/>
            <p:nvPr/>
          </p:nvSpPr>
          <p:spPr>
            <a:xfrm flipH="false" flipV="false" rot="0">
              <a:off x="0" y="0"/>
              <a:ext cx="13898880" cy="2194560"/>
            </a:xfrm>
            <a:custGeom>
              <a:avLst/>
              <a:gdLst/>
              <a:ahLst/>
              <a:cxnLst/>
              <a:rect r="r" b="b" t="t" l="l"/>
              <a:pathLst>
                <a:path h="2194560" w="13898880">
                  <a:moveTo>
                    <a:pt x="0" y="0"/>
                  </a:moveTo>
                  <a:lnTo>
                    <a:pt x="13898880" y="0"/>
                  </a:lnTo>
                  <a:lnTo>
                    <a:pt x="13898880" y="2194560"/>
                  </a:lnTo>
                  <a:lnTo>
                    <a:pt x="0" y="2194560"/>
                  </a:lnTo>
                  <a:close/>
                </a:path>
              </a:pathLst>
            </a:custGeom>
            <a:blipFill>
              <a:blip r:embed="rId4">
                <a:alphaModFix amt="0"/>
              </a:blip>
              <a:stretch>
                <a:fillRect l="0" t="-73405" r="0" b="-73405"/>
              </a:stretch>
            </a:blipFill>
          </p:spPr>
        </p:sp>
        <p:sp>
          <p:nvSpPr>
            <p:cNvPr name="TextBox 10" id="10"/>
            <p:cNvSpPr txBox="true"/>
            <p:nvPr/>
          </p:nvSpPr>
          <p:spPr>
            <a:xfrm>
              <a:off x="0" y="-209550"/>
              <a:ext cx="13898880" cy="2404110"/>
            </a:xfrm>
            <a:prstGeom prst="rect">
              <a:avLst/>
            </a:prstGeom>
          </p:spPr>
          <p:txBody>
            <a:bodyPr anchor="ctr" rtlCol="false" tIns="0" lIns="0" bIns="0" rIns="0"/>
            <a:lstStyle/>
            <a:p>
              <a:pPr algn="l">
                <a:lnSpc>
                  <a:spcPts val="12480"/>
                </a:lnSpc>
              </a:pPr>
              <a:r>
                <a:rPr lang="en-US" sz="10400" b="true">
                  <a:solidFill>
                    <a:srgbClr val="FFFFFF"/>
                  </a:solidFill>
                  <a:latin typeface="Calibri (MS) Bold"/>
                  <a:ea typeface="Calibri (MS) Bold"/>
                  <a:cs typeface="Calibri (MS) Bold"/>
                  <a:sym typeface="Calibri (MS) Bold"/>
                </a:rPr>
                <a:t>Thank You</a:t>
              </a:r>
            </a:p>
          </p:txBody>
        </p:sp>
      </p:grpSp>
      <p:grpSp>
        <p:nvGrpSpPr>
          <p:cNvPr name="Group 11" id="11"/>
          <p:cNvGrpSpPr/>
          <p:nvPr/>
        </p:nvGrpSpPr>
        <p:grpSpPr>
          <a:xfrm rot="0">
            <a:off x="901703" y="5437127"/>
            <a:ext cx="7340603" cy="116843"/>
            <a:chOff x="0" y="0"/>
            <a:chExt cx="9787471" cy="155791"/>
          </a:xfrm>
        </p:grpSpPr>
        <p:sp>
          <p:nvSpPr>
            <p:cNvPr name="Freeform 12" id="12"/>
            <p:cNvSpPr/>
            <p:nvPr/>
          </p:nvSpPr>
          <p:spPr>
            <a:xfrm flipH="false" flipV="false" rot="0">
              <a:off x="0" y="0"/>
              <a:ext cx="9787509" cy="155829"/>
            </a:xfrm>
            <a:custGeom>
              <a:avLst/>
              <a:gdLst/>
              <a:ahLst/>
              <a:cxnLst/>
              <a:rect r="r" b="b" t="t" l="l"/>
              <a:pathLst>
                <a:path h="155829" w="9787509">
                  <a:moveTo>
                    <a:pt x="0" y="0"/>
                  </a:moveTo>
                  <a:lnTo>
                    <a:pt x="9787509" y="0"/>
                  </a:lnTo>
                  <a:lnTo>
                    <a:pt x="9787509" y="155829"/>
                  </a:lnTo>
                  <a:lnTo>
                    <a:pt x="0" y="155829"/>
                  </a:lnTo>
                  <a:close/>
                </a:path>
              </a:pathLst>
            </a:custGeom>
            <a:solidFill>
              <a:srgbClr val="1F48FF"/>
            </a:solidFill>
            <a:ln w="25400" cap="sq">
              <a:solidFill>
                <a:srgbClr val="0464E0"/>
              </a:solidFill>
              <a:prstDash val="solid"/>
              <a:miter/>
            </a:ln>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DAHKBnBZIiQ</dc:identifier>
  <dcterms:modified xsi:type="dcterms:W3CDTF">2011-08-01T06:04:30Z</dcterms:modified>
  <cp:revision>1</cp:revision>
  <dc:title>1412_Proposal_Presentation.pptx</dc:title>
</cp:coreProperties>
</file>